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8875058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4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6.jpg"/><Relationship Id="rId4" Type="http://schemas.openxmlformats.org/officeDocument/2006/relationships/image" Target="../media/image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7.jpg"/><Relationship Id="rId4" Type="http://schemas.openxmlformats.org/officeDocument/2006/relationships/image" Target="../media/image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8.jpg"/><Relationship Id="rId4" Type="http://schemas.openxmlformats.org/officeDocument/2006/relationships/image" Target="../media/image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jpg"/><Relationship Id="rId4" Type="http://schemas.openxmlformats.org/officeDocument/2006/relationships/image" Target="../media/image4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Relationship Id="rId7" Type="http://schemas.openxmlformats.org/officeDocument/2006/relationships/image" Target="../media/image31.jpg"/><Relationship Id="rId8" Type="http://schemas.openxmlformats.org/officeDocument/2006/relationships/image" Target="../media/image32.jpg"/><Relationship Id="rId9" Type="http://schemas.openxmlformats.org/officeDocument/2006/relationships/image" Target="../media/image3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0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91" y="2892462"/>
            <a:ext cx="2163631" cy="974911"/>
          </a:xfrm>
          <a:prstGeom prst="rect">
            <a:avLst/>
          </a:prstGeom>
        </p:spPr>
      </p:pic>
      <p:pic>
        <p:nvPicPr>
          <p:cNvPr id="3" name="Picture 2" descr="img_0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462" y="2760681"/>
            <a:ext cx="1097279" cy="1106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39135" y="2376095"/>
            <a:ext cx="3777279" cy="1874519"/>
          </a:xfrm>
          <a:prstGeom prst="rect">
            <a:avLst/>
          </a:prstGeom>
          <a:solidFill>
            <a:srgbClr val="001D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39135" y="4390464"/>
            <a:ext cx="3777279" cy="1535654"/>
          </a:xfrm>
          <a:prstGeom prst="rect">
            <a:avLst/>
          </a:prstGeom>
          <a:solidFill>
            <a:srgbClr val="97D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39135" y="933225"/>
            <a:ext cx="3777279" cy="1303019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4125" y="933225"/>
            <a:ext cx="767827" cy="4992892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97" y="5316967"/>
            <a:ext cx="847164" cy="480059"/>
          </a:xfrm>
          <a:prstGeom prst="rect">
            <a:avLst/>
          </a:prstGeom>
        </p:spPr>
      </p:pic>
      <p:pic>
        <p:nvPicPr>
          <p:cNvPr id="3" name="Picture 2" descr="img_1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4" name="Picture 3" descr="img_1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282" y="1440180"/>
            <a:ext cx="1535654" cy="1990164"/>
          </a:xfrm>
          <a:prstGeom prst="rect">
            <a:avLst/>
          </a:prstGeom>
        </p:spPr>
      </p:pic>
      <p:pic>
        <p:nvPicPr>
          <p:cNvPr id="5" name="Picture 4" descr="img_1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508" y="3232672"/>
            <a:ext cx="1437490" cy="18462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5380" y="2608601"/>
            <a:ext cx="5534592" cy="160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4267" b="0">
                <a:solidFill>
                  <a:srgbClr val="001E60"/>
                </a:solidFill>
              </a:defRPr>
            </a:pPr>
            <a:r>
              <a:t>Gestión de Uniformes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57508" y="3239396"/>
            <a:ext cx="1437490" cy="1832834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4165" y="2845603"/>
            <a:ext cx="5803925" cy="67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67" b="1">
                <a:solidFill>
                  <a:srgbClr val="FFFFFF"/>
                </a:solidFill>
              </a:defRPr>
            </a:pPr>
            <a:r>
              <a:t>Gestión de Uniformes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930" y="3576721"/>
            <a:ext cx="5456886" cy="49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Levantamiento del proceso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9000" y="4050308"/>
            <a:ext cx="4859187" cy="49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principales oportunidades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3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" y="5385546"/>
            <a:ext cx="847164" cy="481404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245" y="1063527"/>
            <a:ext cx="2661925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Etapas del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8308" y="1893345"/>
            <a:ext cx="4020993" cy="18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64" b="1">
                <a:solidFill>
                  <a:srgbClr val="FFFFFF"/>
                </a:solidFill>
              </a:defRPr>
            </a:pPr>
            <a:r>
              <a:t>Objetivo</a:t>
            </a:r>
          </a:p>
          <a:p>
            <a:pPr>
              <a:defRPr sz="1164" b="1">
                <a:solidFill>
                  <a:srgbClr val="FFFFFF"/>
                </a:solidFill>
              </a:defRPr>
            </a:pPr>
            <a:r>
              <a:t>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142" y="2275204"/>
            <a:ext cx="6348826" cy="45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Definir y validar el monto económico requerido para cubrir la adquisición de los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uniformes, asegurando que el gasto esté alineado con la planificación financiera de la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compañía.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Presupuesto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7174" y="2807789"/>
            <a:ext cx="6094475" cy="45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Formalizar la necesidad de adquisición de uniformes, detallando cantidades, tallas,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características técnicas y plazos, con el fin de establecer el proceso de compra de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manera ordenada, trazable y alienada a las políticas Walmart.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Solicitud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422" y="3398023"/>
            <a:ext cx="6064036" cy="302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Asegurar el suministro de uniformes de calidad para todo el personal, optimizando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recursos.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Compra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5068" y="3896957"/>
            <a:ext cx="6444205" cy="302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Resguardar, organizar y controlar los uniformes adquiridos, asegurando condiciones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adecuadas de conservación, orden, distribución eficiente y planificada.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Almacenamiento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422" y="4395891"/>
            <a:ext cx="6223625" cy="30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Entregar a cada colaborador su uniforme en forma oportuna y adecuada, cumpliendo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políticas internas y los acuerdos sindicales.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Entrega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5916" y="4896063"/>
            <a:ext cx="6216452" cy="302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0000"/>
                </a:solidFill>
              </a:defRPr>
            </a:pPr>
            <a:r>
              <a:t>Conciliar lo solicitado, lo comprado y lo entregado para cerrar el proceso de manera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controlada y transparente.</a:t>
            </a:r>
          </a:p>
          <a:p>
            <a:pPr>
              <a:defRPr sz="974" b="0">
                <a:solidFill>
                  <a:srgbClr val="000000"/>
                </a:solidFill>
              </a:defRPr>
            </a:pPr>
            <a:r>
              <a:t>Cuadratura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3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" y="5385546"/>
            <a:ext cx="847164" cy="481404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5" name="Picture 4" descr="img_4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354" y="1550445"/>
            <a:ext cx="357691" cy="262217"/>
          </a:xfrm>
          <a:prstGeom prst="rect">
            <a:avLst/>
          </a:prstGeom>
        </p:spPr>
      </p:pic>
      <p:pic>
        <p:nvPicPr>
          <p:cNvPr id="6" name="Picture 5" descr="img_4_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050" y="1550445"/>
            <a:ext cx="509643" cy="262217"/>
          </a:xfrm>
          <a:prstGeom prst="rect">
            <a:avLst/>
          </a:prstGeom>
        </p:spPr>
      </p:pic>
      <p:pic>
        <p:nvPicPr>
          <p:cNvPr id="7" name="Picture 6" descr="img_4_5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4196" y="1546411"/>
            <a:ext cx="299869" cy="271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9875" y="3022993"/>
            <a:ext cx="457200" cy="568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64" b="0">
                <a:solidFill>
                  <a:srgbClr val="7F7F7F"/>
                </a:solidFill>
              </a:defRPr>
            </a:pPr>
            <a:r>
              <a:t>Dolores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40" y="2409726"/>
            <a:ext cx="86775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registro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36" y="2532053"/>
            <a:ext cx="7561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inventario en tiendas.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40" y="2655787"/>
            <a:ext cx="56748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tenemos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36" y="2779520"/>
            <a:ext cx="9438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registrado el detalle de 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36" y="29018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tallas de 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36" y="3025581"/>
            <a:ext cx="53575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40" y="3149314"/>
            <a:ext cx="8633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se incluye el dato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36" y="3271642"/>
            <a:ext cx="6177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Rotación en 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36" y="339537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proyección.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40" y="3519108"/>
            <a:ext cx="6495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se incluyen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36" y="3641436"/>
            <a:ext cx="55853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campañas en 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36" y="376516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proyección.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40" y="3888902"/>
            <a:ext cx="8892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se incluyen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36" y="4011230"/>
            <a:ext cx="5918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negocio en 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36" y="413496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proyección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40" y="4258696"/>
            <a:ext cx="8529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historia 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36" y="4381024"/>
            <a:ext cx="94016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control de Presupuesto 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36" y="4504757"/>
            <a:ext cx="6561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gasto real de años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36" y="4628481"/>
            <a:ext cx="8247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anteriores (tendencias,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36" y="4750837"/>
            <a:ext cx="6503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desviaciones, etc.)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737" y="1925591"/>
            <a:ext cx="5223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1.Presupuesto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7369" y="2409726"/>
            <a:ext cx="8762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Ficha de Service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7351" y="2532053"/>
            <a:ext cx="547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desactualizada.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7369" y="2655787"/>
            <a:ext cx="8943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Formulario de solitud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27351" y="2779520"/>
            <a:ext cx="8632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sin reglas o validaciones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7351" y="29018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negocio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7369" y="3025581"/>
            <a:ext cx="8904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Formulario sin Picklist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7351" y="3149314"/>
            <a:ext cx="706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(Texto Abierto) 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27351" y="3271642"/>
            <a:ext cx="74491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impide categorizar 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7351" y="3395375"/>
            <a:ext cx="78056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tabular las solicitudes.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7369" y="3519108"/>
            <a:ext cx="5985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Ficha técnica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7351" y="3641436"/>
            <a:ext cx="5299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desactualizada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27369" y="3765169"/>
            <a:ext cx="94687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Formato de solicitudes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7351" y="3888902"/>
            <a:ext cx="85807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consolidado  engorroso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27351" y="4011230"/>
            <a:ext cx="49138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(Service Now)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27369" y="4134963"/>
            <a:ext cx="6658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Correcciones 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27351" y="4258696"/>
            <a:ext cx="9268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controles manuales en las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27351" y="4381024"/>
            <a:ext cx="898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solicitudes de las tiendas.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4327" y="1920266"/>
            <a:ext cx="30084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FFFFFF"/>
                </a:solidFill>
              </a:defRPr>
            </a:pPr>
            <a:r>
              <a:t>2. Solicitud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4.Almacenamiento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93582" y="2409726"/>
            <a:ext cx="8301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Tiendas sin espacio.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3582" y="2532053"/>
            <a:ext cx="8691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cuadratura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93508" y="2655787"/>
            <a:ext cx="8351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prendas compras vs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3508" y="2779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recibidas.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93582" y="2901848"/>
            <a:ext cx="8610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Entrega parcializada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93508" y="3025581"/>
            <a:ext cx="4862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uniformes.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93582" y="3149314"/>
            <a:ext cx="6214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Recepción 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3508" y="3271642"/>
            <a:ext cx="5193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uniformes por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3508" y="3395375"/>
            <a:ext cx="8891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proveedores o camiones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3508" y="35191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Walmart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93582" y="3641436"/>
            <a:ext cx="9372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Pérdida de prendas 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3508" y="376516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la tienda.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0489" y="2409726"/>
            <a:ext cx="62433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Problemas 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0392" y="2532053"/>
            <a:ext cx="8543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homologación de tallas,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60392" y="2655787"/>
            <a:ext cx="685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en China tallas mas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60392" y="2779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pequeñas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60489" y="2901848"/>
            <a:ext cx="918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Tiempo de compra de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60392" y="3025581"/>
            <a:ext cx="8795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10 meses con proveedor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60392" y="314931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actual.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60489" y="3271642"/>
            <a:ext cx="84843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Se realizan compras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60392" y="3395375"/>
            <a:ext cx="8395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directas en la tienda sin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60392" y="35191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OC.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8166" y="1929659"/>
            <a:ext cx="28484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3. Compra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5. Entrega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28051" y="2409726"/>
            <a:ext cx="8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control de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7954" y="2532053"/>
            <a:ext cx="7136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prendas entregadas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28051" y="2655787"/>
            <a:ext cx="8447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control de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27954" y="2779520"/>
            <a:ext cx="68722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que colaboradores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27954" y="2901848"/>
            <a:ext cx="6888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recibieron prendas.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90998" y="1935058"/>
            <a:ext cx="4816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FFFFFF"/>
                </a:solidFill>
              </a:defRPr>
            </a:pPr>
            <a:r>
              <a:t>6. Cuadratura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61189" y="2409726"/>
            <a:ext cx="8646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No existe control del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61079" y="2532053"/>
            <a:ext cx="8469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gasto en compras fuera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61079" y="2655787"/>
            <a:ext cx="91664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 campaña  o reposición.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61189" y="2779520"/>
            <a:ext cx="90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Desvió en el plan de 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61079" y="2901848"/>
            <a:ext cx="80718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800 Millones en el año.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61189" y="3025581"/>
            <a:ext cx="70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Presupuesto no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61079" y="3149314"/>
            <a:ext cx="694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ajustado a la tienda.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8245" y="1063527"/>
            <a:ext cx="2651571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Principales Dolores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80227" y="5146202"/>
            <a:ext cx="6347439" cy="18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64" b="0">
                <a:solidFill>
                  <a:srgbClr val="001E60"/>
                </a:solidFill>
              </a:defRPr>
            </a:pPr>
            <a:r>
              <a:t>En todas las entrevistas realizadas a los equipos que participan en la gestión de uniformes,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6097" y="5412454"/>
            <a:ext cx="5864786" cy="18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64" b="0">
                <a:solidFill>
                  <a:srgbClr val="001E60"/>
                </a:solidFill>
              </a:defRPr>
            </a:pPr>
            <a:r>
              <a:t>identificamos un total de 25 dolores que se distribuyen en las 6 etapas del proceso.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62448" y="2310204"/>
            <a:ext cx="1167204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929" y="1842246"/>
            <a:ext cx="1167204" cy="259528"/>
          </a:xfrm>
          <a:prstGeom prst="rect">
            <a:avLst/>
          </a:prstGeom>
          <a:solidFill>
            <a:srgbClr val="00AF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66712" y="2151529"/>
            <a:ext cx="192293" cy="150607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06201" y="1549101"/>
            <a:ext cx="352312" cy="262217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013024" y="2310204"/>
            <a:ext cx="1167204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501153" y="2143461"/>
            <a:ext cx="192292" cy="151951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013024" y="1836868"/>
            <a:ext cx="1167204" cy="259528"/>
          </a:xfrm>
          <a:prstGeom prst="rect">
            <a:avLst/>
          </a:prstGeom>
          <a:solidFill>
            <a:srgbClr val="A8DD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440641" y="1701052"/>
            <a:ext cx="314661" cy="110265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493084" y="1549101"/>
            <a:ext cx="209774" cy="158675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80559" y="1847625"/>
            <a:ext cx="1167204" cy="259528"/>
          </a:xfrm>
          <a:prstGeom prst="rect">
            <a:avLst/>
          </a:prstGeom>
          <a:solidFill>
            <a:srgbClr val="4DB8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480559" y="2310204"/>
            <a:ext cx="1167204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967343" y="2130014"/>
            <a:ext cx="192293" cy="15060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46119" y="2310204"/>
            <a:ext cx="1168549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734248" y="2139427"/>
            <a:ext cx="192293" cy="151951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247464" y="1847625"/>
            <a:ext cx="1165860" cy="258183"/>
          </a:xfrm>
          <a:prstGeom prst="rect">
            <a:avLst/>
          </a:prstGeom>
          <a:solidFill>
            <a:srgbClr val="B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713655" y="1847625"/>
            <a:ext cx="1167204" cy="259528"/>
          </a:xfrm>
          <a:prstGeom prst="rect">
            <a:avLst/>
          </a:prstGeom>
          <a:solidFill>
            <a:srgbClr val="005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00438" y="2132703"/>
            <a:ext cx="192292" cy="151951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713655" y="2310204"/>
            <a:ext cx="1167204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68035" y="1629783"/>
            <a:ext cx="94129" cy="57822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35401" y="1733325"/>
            <a:ext cx="94129" cy="80682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308015" y="1550445"/>
            <a:ext cx="142538" cy="219187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82827" y="1733325"/>
            <a:ext cx="94129" cy="80682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50554" y="1602889"/>
            <a:ext cx="158674" cy="166743"/>
          </a:xfrm>
          <a:prstGeom prst="rect">
            <a:avLst/>
          </a:prstGeom>
          <a:solidFill>
            <a:srgbClr val="031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434878" y="2130014"/>
            <a:ext cx="192293" cy="15060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946750" y="2310204"/>
            <a:ext cx="1167205" cy="2550907"/>
          </a:xfrm>
          <a:prstGeom prst="rect">
            <a:avLst/>
          </a:prstGeom>
          <a:solidFill>
            <a:srgbClr val="F9E8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46750" y="1851660"/>
            <a:ext cx="1167205" cy="259528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4165" y="2845603"/>
            <a:ext cx="5803925" cy="67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67" b="1">
                <a:solidFill>
                  <a:srgbClr val="FFFFFF"/>
                </a:solidFill>
              </a:defRPr>
            </a:pPr>
            <a:r>
              <a:t>Gestión de Uniformes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7354" y="3576721"/>
            <a:ext cx="3383662" cy="49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Flujos del proceso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5" name="Picture 4" descr="img_6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207" y="4329952"/>
            <a:ext cx="744967" cy="333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061" y="1079798"/>
            <a:ext cx="2718430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Presupuesto (As-Is)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474" y="469172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58" y="5143474"/>
            <a:ext cx="378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Nota : Etapa en constante cambio no contamos con un flujo definido o definitivo.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588" y="1563859"/>
            <a:ext cx="3433317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El proceso de presupuesto para la compra de uniformes tiene como finalidad planificar, estimar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588" y="1796533"/>
            <a:ext cx="33120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controlar los recursos financieros destinados a la adquisición de indumentaria laboral para 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588" y="1920266"/>
            <a:ext cx="36093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 de la empresa, asegurando que dicha compra sea oportuna, eficiente y alineada con 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588" y="2043925"/>
            <a:ext cx="61925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políticas internas,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8481" y="1563859"/>
            <a:ext cx="2805553" cy="62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registro de inventario.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tenemos registrado el detalle de las tallas de colaboradores.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 el dato de rotación en la proyección.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incluyen campañas en la proyección.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incluyen inputs de negocio en la proyección (Aperturas de Tiendas)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presupuesto vs gasto real de años anteriores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19" y="2632934"/>
            <a:ext cx="349623" cy="962809"/>
          </a:xfrm>
          <a:prstGeom prst="rect">
            <a:avLst/>
          </a:prstGeom>
          <a:solidFill>
            <a:srgbClr val="0052EB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238" y="2896609"/>
            <a:ext cx="75978" cy="4350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596" y="3610534"/>
            <a:ext cx="349623" cy="1078454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795" y="3945879"/>
            <a:ext cx="89132" cy="40904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3571" y="2762026"/>
            <a:ext cx="769171" cy="395343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17787" y="2769018"/>
            <a:ext cx="304140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31123" y="2874959"/>
            <a:ext cx="478672" cy="7934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83104" y="2976081"/>
            <a:ext cx="37118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57286" y="3081248"/>
            <a:ext cx="421871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2051" y="2946250"/>
            <a:ext cx="337521" cy="342899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2992" y="3081334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0124" y="3285116"/>
            <a:ext cx="769171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34394" y="3323080"/>
            <a:ext cx="440891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32070" y="3426611"/>
            <a:ext cx="438739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47725" y="3285116"/>
            <a:ext cx="699246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98451" y="3323080"/>
            <a:ext cx="397946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91741" y="3426611"/>
            <a:ext cx="207665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1904" y="3029622"/>
            <a:ext cx="699246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87321" y="3068597"/>
            <a:ext cx="292263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0933" y="3174538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3443" y="2986591"/>
            <a:ext cx="329453" cy="342899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60664" y="3122987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57046" y="3035001"/>
            <a:ext cx="769171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8963" y="3071609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3755" y="3174624"/>
            <a:ext cx="494851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39534" y="3035001"/>
            <a:ext cx="769171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60709" y="3125569"/>
            <a:ext cx="527813" cy="8072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26218" y="3121062"/>
            <a:ext cx="313316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08706" y="3121062"/>
            <a:ext cx="17481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39296" y="3372522"/>
            <a:ext cx="208429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7504" y="3285116"/>
            <a:ext cx="734209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1059" y="3323080"/>
            <a:ext cx="527813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73865" y="3431431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27224" y="2901875"/>
            <a:ext cx="356347" cy="23397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27224" y="3129130"/>
            <a:ext cx="342900" cy="23801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52743" y="2955663"/>
            <a:ext cx="1519517" cy="32945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85216" y="3954779"/>
            <a:ext cx="734209" cy="248770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9565" y="3992722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13985" y="4098663"/>
            <a:ext cx="478672" cy="7934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90595" y="4372983"/>
            <a:ext cx="734209" cy="247426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51081" y="4463648"/>
            <a:ext cx="230299" cy="6618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585" y="4332642"/>
            <a:ext cx="734209" cy="328107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57046" y="4368949"/>
            <a:ext cx="769171" cy="262217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69661" y="4413131"/>
            <a:ext cx="342265" cy="6859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01059" y="4521998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90795" y="4461733"/>
            <a:ext cx="26625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18703" y="4203550"/>
            <a:ext cx="73958" cy="16943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5" name="Picture 4" descr="img_6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207" y="4329952"/>
            <a:ext cx="744967" cy="333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061" y="1079798"/>
            <a:ext cx="3398851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Presupuesto (Hallazgos)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474" y="469172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58" y="5143474"/>
            <a:ext cx="37865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Nota : Etapa en constante cambio no contamos con un flujo definido o definitivo.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588" y="1563859"/>
            <a:ext cx="3433317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El proceso de presupuesto para la compra de uniformes tiene como finalidad planificar, estimar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9588" y="1796533"/>
            <a:ext cx="33120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controlar los recursos financieros destinados a la adquisición de indumentaria laboral para 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588" y="1920266"/>
            <a:ext cx="36093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 de la empresa, asegurando que dicha compra sea oportuna, eficiente y alineada con 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588" y="2043925"/>
            <a:ext cx="61925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políticas internas,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8481" y="1563859"/>
            <a:ext cx="2805553" cy="62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registro de inventario.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tenemos registrado el detalle de las tallas de colaboradores.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 el dato de rotación en la proyección.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incluyen campañas en la proyección.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se incluyen inputs de negocio en la proyección (Aperturas de Tiendas)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presupuesto vs gasto real de años anteriores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19" y="2632934"/>
            <a:ext cx="349623" cy="962809"/>
          </a:xfrm>
          <a:prstGeom prst="rect">
            <a:avLst/>
          </a:prstGeom>
          <a:solidFill>
            <a:srgbClr val="0052EB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238" y="2896609"/>
            <a:ext cx="75978" cy="4350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596" y="3610534"/>
            <a:ext cx="349623" cy="1078454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795" y="3945879"/>
            <a:ext cx="89132" cy="40904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3571" y="2762026"/>
            <a:ext cx="769171" cy="395343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17787" y="2769018"/>
            <a:ext cx="304140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31123" y="2874959"/>
            <a:ext cx="478672" cy="7934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83104" y="2976081"/>
            <a:ext cx="37118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57286" y="3081248"/>
            <a:ext cx="421871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2051" y="2946250"/>
            <a:ext cx="337521" cy="342899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2992" y="3081334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0124" y="3285116"/>
            <a:ext cx="769171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5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34394" y="3323080"/>
            <a:ext cx="440891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32070" y="3426611"/>
            <a:ext cx="438739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47725" y="3285116"/>
            <a:ext cx="699246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98451" y="3323080"/>
            <a:ext cx="397946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91741" y="3426611"/>
            <a:ext cx="207665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1904" y="3029622"/>
            <a:ext cx="699246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87321" y="3068597"/>
            <a:ext cx="292263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0933" y="3174538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53443" y="2986591"/>
            <a:ext cx="329453" cy="342899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60664" y="3122987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57046" y="3035001"/>
            <a:ext cx="769171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8963" y="3071609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3755" y="3174624"/>
            <a:ext cx="494851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39534" y="3035001"/>
            <a:ext cx="769171" cy="247425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60709" y="3125569"/>
            <a:ext cx="527813" cy="8072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26218" y="3121062"/>
            <a:ext cx="313316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08706" y="3121062"/>
            <a:ext cx="17481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39296" y="3372522"/>
            <a:ext cx="208429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7504" y="3285116"/>
            <a:ext cx="734209" cy="248770"/>
          </a:xfrm>
          <a:prstGeom prst="rect">
            <a:avLst/>
          </a:prstGeom>
          <a:solidFill>
            <a:srgbClr val="0052EB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1059" y="3323080"/>
            <a:ext cx="527813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73865" y="3431431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327224" y="2901875"/>
            <a:ext cx="356347" cy="23397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27224" y="3129130"/>
            <a:ext cx="342900" cy="23801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52743" y="2955663"/>
            <a:ext cx="1519517" cy="32945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85216" y="3954779"/>
            <a:ext cx="734209" cy="248770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9565" y="3992722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13985" y="4098663"/>
            <a:ext cx="478672" cy="7934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90595" y="4372983"/>
            <a:ext cx="734209" cy="247426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51081" y="4463648"/>
            <a:ext cx="230299" cy="6618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585" y="4332642"/>
            <a:ext cx="734209" cy="328107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57046" y="4368949"/>
            <a:ext cx="769171" cy="262217"/>
          </a:xfrm>
          <a:prstGeom prst="rect">
            <a:avLst/>
          </a:prstGeom>
          <a:solidFill>
            <a:srgbClr val="7E7E7E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69661" y="4413131"/>
            <a:ext cx="342265" cy="6859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01059" y="4521998"/>
            <a:ext cx="485557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90795" y="4461733"/>
            <a:ext cx="26625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18703" y="4203550"/>
            <a:ext cx="73958" cy="169432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9588" y="1563859"/>
            <a:ext cx="3317942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Proceso debe asegurar la disponibilidad y entrega oportuna de uniformes adecuados para 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796533"/>
            <a:ext cx="3576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colaboradores, de acuerdo con los estándares establecidos por la empresa y las necesidades de 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92026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481" y="1563859"/>
            <a:ext cx="3101389" cy="62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Ficha de Service Now desactualizada (Tiendas/Productos).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Formulario de solicitud sin reglas o validaciones de negocio.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Formulario sin picklist (texto abierto) que impide categorizar o tabular solicitudes.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Ficha técnica desactualizada (Prendas/Tallas)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Formato de solicitudes consolidado engorroso (ServiceNow)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Correcciones y controles manuales en las solicitudes de tiendas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749" y="1102578"/>
            <a:ext cx="2162260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Solicitud (As-Is)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7257" y="326364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9463" y="342492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183" y="3451860"/>
            <a:ext cx="383241" cy="804134"/>
          </a:xfrm>
          <a:prstGeom prst="rect">
            <a:avLst/>
          </a:prstGeom>
          <a:solidFill>
            <a:srgbClr val="001D6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845" y="3636664"/>
            <a:ext cx="89132" cy="4305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4907" y="4290956"/>
            <a:ext cx="384585" cy="802789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269" y="4612703"/>
            <a:ext cx="73622" cy="15647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843" y="5056403"/>
            <a:ext cx="1809939" cy="93255"/>
          </a:xfrm>
          <a:prstGeom prst="rect">
            <a:avLst/>
          </a:prstGeom>
          <a:solidFill>
            <a:srgbClr val="00267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283" y="4651337"/>
            <a:ext cx="734209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8816" y="4691710"/>
            <a:ext cx="338220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92807" y="4794382"/>
            <a:ext cx="469377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59236" y="4651337"/>
            <a:ext cx="872714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85262" y="4688784"/>
            <a:ext cx="625836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39398" y="4792832"/>
            <a:ext cx="311799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98693" y="4651337"/>
            <a:ext cx="899608" cy="24608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91661" y="4687924"/>
            <a:ext cx="408188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89940" y="4790939"/>
            <a:ext cx="716114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1950" y="4737398"/>
            <a:ext cx="16674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46019" y="3424965"/>
            <a:ext cx="804134" cy="345589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7118" y="3458884"/>
            <a:ext cx="562495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97759" y="3564051"/>
            <a:ext cx="302505" cy="8063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1219" y="3665947"/>
            <a:ext cx="311799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92492" y="4738743"/>
            <a:ext cx="16674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41955" y="3480098"/>
            <a:ext cx="804133" cy="247425"/>
          </a:xfrm>
          <a:prstGeom prst="rect">
            <a:avLst/>
          </a:prstGeom>
          <a:solidFill>
            <a:srgbClr val="001D60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70167" y="3519127"/>
            <a:ext cx="349924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39702" y="3620249"/>
            <a:ext cx="410511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55932" y="4106731"/>
            <a:ext cx="874058" cy="24742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09433" y="4197289"/>
            <a:ext cx="567918" cy="8072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9991" y="3567504"/>
            <a:ext cx="118334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54257" y="3567504"/>
            <a:ext cx="20305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79" y="3426310"/>
            <a:ext cx="627978" cy="348278"/>
          </a:xfrm>
          <a:prstGeom prst="rect">
            <a:avLst/>
          </a:prstGeom>
          <a:solidFill>
            <a:srgbClr val="001D64"/>
          </a:solidFill>
          <a:ln>
            <a:solidFill>
              <a:srgbClr val="000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6089" y="3564815"/>
            <a:ext cx="18019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57308" y="3424965"/>
            <a:ext cx="762447" cy="3630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55932" y="3482788"/>
            <a:ext cx="874058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81954" y="3571797"/>
            <a:ext cx="219714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48325" y="3476064"/>
            <a:ext cx="872714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78353" y="3565084"/>
            <a:ext cx="575405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14577" y="3968227"/>
            <a:ext cx="338865" cy="342899"/>
          </a:xfrm>
          <a:prstGeom prst="rect">
            <a:avLst/>
          </a:prstGeom>
          <a:solidFill>
            <a:srgbClr val="001D60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79249" y="3519385"/>
            <a:ext cx="320319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78733" y="3622917"/>
            <a:ext cx="280473" cy="7814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45205" y="3536549"/>
            <a:ext cx="423017" cy="6406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07169" y="3633852"/>
            <a:ext cx="260846" cy="6357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47703" y="3724835"/>
            <a:ext cx="73958" cy="24339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40624" y="4099265"/>
            <a:ext cx="102585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8850" y="2841363"/>
            <a:ext cx="338865" cy="341555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4304" y="2911288"/>
            <a:ext cx="467957" cy="194982"/>
          </a:xfrm>
          <a:prstGeom prst="rect">
            <a:avLst/>
          </a:prstGeom>
          <a:noFill/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9588" y="1563859"/>
            <a:ext cx="3317942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Proceso debe asegurar la disponibilidad y entrega oportuna de uniformes adecuados para 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796533"/>
            <a:ext cx="3576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colaboradores, de acuerdo con los estándares establecidos por la empresa y las necesidades de 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92026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481" y="1563859"/>
            <a:ext cx="3101389" cy="62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Ficha de Service Now desactualizada (Tiendas/Productos).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Formulario de solicitud sin reglas o validaciones de negocio.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Formulario sin picklist (texto abierto) que impide categorizar o tabular solicitudes.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Ficha técnica desactualizada (Prendas/Tallas)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Formato de solicitudes consolidado engorroso (ServiceNow)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Correcciones y controles manuales en las solicitudes de tiendas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749" y="1102578"/>
            <a:ext cx="2839723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Solicitud (Hallazgos)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7257" y="326364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9463" y="342492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0000"/>
                </a:solidFill>
              </a:defRPr>
            </a:pPr>
            <a: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7079" y="4499358"/>
            <a:ext cx="15401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1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2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3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183" y="3451860"/>
            <a:ext cx="383241" cy="804134"/>
          </a:xfrm>
          <a:prstGeom prst="rect">
            <a:avLst/>
          </a:prstGeom>
          <a:solidFill>
            <a:srgbClr val="001D6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845" y="3636664"/>
            <a:ext cx="89132" cy="4305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4907" y="4290956"/>
            <a:ext cx="384585" cy="802789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269" y="4612703"/>
            <a:ext cx="73622" cy="15647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843" y="5056403"/>
            <a:ext cx="1809939" cy="93255"/>
          </a:xfrm>
          <a:prstGeom prst="rect">
            <a:avLst/>
          </a:prstGeom>
          <a:solidFill>
            <a:srgbClr val="00267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8283" y="4651337"/>
            <a:ext cx="734209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58816" y="4691710"/>
            <a:ext cx="338220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92807" y="4794382"/>
            <a:ext cx="469377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59236" y="4651337"/>
            <a:ext cx="872714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85262" y="4688784"/>
            <a:ext cx="625836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39398" y="4792832"/>
            <a:ext cx="311799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8693" y="4651337"/>
            <a:ext cx="899608" cy="24608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91661" y="4687924"/>
            <a:ext cx="408188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89940" y="4790939"/>
            <a:ext cx="716114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1950" y="4737398"/>
            <a:ext cx="16674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46019" y="3424965"/>
            <a:ext cx="804134" cy="345589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7118" y="3458884"/>
            <a:ext cx="562495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759" y="3564051"/>
            <a:ext cx="302505" cy="8063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91219" y="3665947"/>
            <a:ext cx="311799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92492" y="4738743"/>
            <a:ext cx="16674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41955" y="3480098"/>
            <a:ext cx="804133" cy="247425"/>
          </a:xfrm>
          <a:prstGeom prst="rect">
            <a:avLst/>
          </a:prstGeom>
          <a:solidFill>
            <a:srgbClr val="001D60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70167" y="3519127"/>
            <a:ext cx="349924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39702" y="3620249"/>
            <a:ext cx="410511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55932" y="4106731"/>
            <a:ext cx="874058" cy="24742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09433" y="4197289"/>
            <a:ext cx="567918" cy="8072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29991" y="3567504"/>
            <a:ext cx="118334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54257" y="3567504"/>
            <a:ext cx="20305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26279" y="3426310"/>
            <a:ext cx="627978" cy="348278"/>
          </a:xfrm>
          <a:prstGeom prst="rect">
            <a:avLst/>
          </a:prstGeom>
          <a:solidFill>
            <a:srgbClr val="001D64"/>
          </a:solidFill>
          <a:ln>
            <a:solidFill>
              <a:srgbClr val="000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6089" y="3564815"/>
            <a:ext cx="18019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7308" y="3424965"/>
            <a:ext cx="762447" cy="3630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55932" y="3482788"/>
            <a:ext cx="874058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81954" y="3571797"/>
            <a:ext cx="219714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48325" y="3476064"/>
            <a:ext cx="872714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78353" y="3565084"/>
            <a:ext cx="575405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14577" y="3968227"/>
            <a:ext cx="338865" cy="342899"/>
          </a:xfrm>
          <a:prstGeom prst="rect">
            <a:avLst/>
          </a:prstGeom>
          <a:solidFill>
            <a:srgbClr val="001D60"/>
          </a:solidFill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79249" y="3519385"/>
            <a:ext cx="320319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78733" y="3622917"/>
            <a:ext cx="280473" cy="7814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45205" y="3536549"/>
            <a:ext cx="423017" cy="6406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07169" y="3633852"/>
            <a:ext cx="260846" cy="6357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47703" y="3724835"/>
            <a:ext cx="73958" cy="24339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840624" y="4099265"/>
            <a:ext cx="102585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8850" y="2841363"/>
            <a:ext cx="338865" cy="341555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247" y="2971213"/>
            <a:ext cx="210658" cy="7538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061" y="1079798"/>
            <a:ext cx="2067592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Compra (As-Is)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563859"/>
            <a:ext cx="3694390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Gestionar la adquisición eficiente y oportuna de uniformes, asegurando calidad, cumplimiento de plazos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796533"/>
            <a:ext cx="3330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y optimización de recursos, conforme a las necesidades levantadas y al presupuesto aprobado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481" y="1563859"/>
            <a:ext cx="3112482" cy="35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Problemas en homologación de tallas, en china las tallas suelen ser mas pequeñas.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Tiempo de compra de 10 meses con proveedor actual.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Se realizan compras directas en la tienda sin OC.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285" y="2440641"/>
            <a:ext cx="383241" cy="907676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686" y="2677017"/>
            <a:ext cx="75978" cy="43810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285" y="3462617"/>
            <a:ext cx="393998" cy="907676"/>
          </a:xfrm>
          <a:prstGeom prst="rect">
            <a:avLst/>
          </a:prstGeom>
          <a:solidFill>
            <a:srgbClr val="001D6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318" y="3695464"/>
            <a:ext cx="89132" cy="44438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23" y="2787575"/>
            <a:ext cx="268941" cy="293145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821" y="2883651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5764" y="2896496"/>
            <a:ext cx="30255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8880" y="2814469"/>
            <a:ext cx="804134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13764" y="2905167"/>
            <a:ext cx="519121" cy="8012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82457" y="2900530"/>
            <a:ext cx="286422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814469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52697" y="2852411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1731" y="2960762"/>
            <a:ext cx="431854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9045" y="3898302"/>
            <a:ext cx="874058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80616" y="3924087"/>
            <a:ext cx="665843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04499" y="4042472"/>
            <a:ext cx="423673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0990" y="2787575"/>
            <a:ext cx="338865" cy="311971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88265" y="2895700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0017" y="2809090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26485" y="2899659"/>
            <a:ext cx="587453" cy="8020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78323" y="2810435"/>
            <a:ext cx="804134" cy="247426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90923" y="2846989"/>
            <a:ext cx="58005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74231" y="2950607"/>
            <a:ext cx="409995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7301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444" y="5157315"/>
            <a:ext cx="352014" cy="7460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89643" y="5154567"/>
            <a:ext cx="495431" cy="77352"/>
          </a:xfrm>
          <a:prstGeom prst="rect">
            <a:avLst/>
          </a:prstGeom>
          <a:solidFill>
            <a:srgbClr val="00267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5702" y="5154567"/>
            <a:ext cx="1931269" cy="9384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04764" y="2809090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90853" y="2846473"/>
            <a:ext cx="237872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7976" y="2950607"/>
            <a:ext cx="40199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885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0755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53104" y="3057861"/>
            <a:ext cx="2256416" cy="100180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24996" y="3057861"/>
            <a:ext cx="3633394" cy="107576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22806" y="2904564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061" y="1079798"/>
            <a:ext cx="2748013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Compra (Hallazgos)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563859"/>
            <a:ext cx="3694390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Gestionar la adquisición eficiente y oportuna de uniformes, asegurando calidad, cumplimiento de plazos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796533"/>
            <a:ext cx="3330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y optimización de recursos, conforme a las necesidades levantadas y al presupuesto aprobado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8481" y="1563859"/>
            <a:ext cx="3112482" cy="26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Problemas en homologación de tallas, en china las tallas suelen ser mas pequeñas.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Tiempo de compra de 10 meses con proveedor actual.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2637" y="2665179"/>
            <a:ext cx="4244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1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285" y="2440641"/>
            <a:ext cx="383241" cy="907676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686" y="2677017"/>
            <a:ext cx="75978" cy="43810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0285" y="3462617"/>
            <a:ext cx="393998" cy="907676"/>
          </a:xfrm>
          <a:prstGeom prst="rect">
            <a:avLst/>
          </a:prstGeom>
          <a:solidFill>
            <a:srgbClr val="001D6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318" y="3695464"/>
            <a:ext cx="89132" cy="44438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823" y="2787575"/>
            <a:ext cx="268941" cy="293145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8821" y="2883651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5764" y="2896496"/>
            <a:ext cx="30255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2814469"/>
            <a:ext cx="804134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3764" y="2905167"/>
            <a:ext cx="519121" cy="8012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82457" y="2900530"/>
            <a:ext cx="286422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2814469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52697" y="2852411"/>
            <a:ext cx="2507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61731" y="2960762"/>
            <a:ext cx="431854" cy="7693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79045" y="3898302"/>
            <a:ext cx="874058" cy="248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0616" y="3924087"/>
            <a:ext cx="665843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04499" y="4042472"/>
            <a:ext cx="423673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0990" y="2787575"/>
            <a:ext cx="338865" cy="311971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12416" y="2907834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0017" y="2809090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26485" y="2899659"/>
            <a:ext cx="587453" cy="8020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8323" y="2810435"/>
            <a:ext cx="804134" cy="247426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0923" y="2846989"/>
            <a:ext cx="58005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74231" y="2950607"/>
            <a:ext cx="409995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7301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444" y="5157315"/>
            <a:ext cx="352014" cy="7460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9643" y="5154567"/>
            <a:ext cx="495431" cy="77352"/>
          </a:xfrm>
          <a:prstGeom prst="rect">
            <a:avLst/>
          </a:prstGeom>
          <a:solidFill>
            <a:srgbClr val="00267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5702" y="5154567"/>
            <a:ext cx="1931269" cy="9384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04764" y="2809090"/>
            <a:ext cx="802789" cy="248770"/>
          </a:xfrm>
          <a:prstGeom prst="rect">
            <a:avLst/>
          </a:prstGeom>
          <a:solidFill>
            <a:srgbClr val="FF93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90853" y="2846473"/>
            <a:ext cx="237872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7976" y="2950607"/>
            <a:ext cx="40199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885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07554" y="2901875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3104" y="3057861"/>
            <a:ext cx="2256416" cy="100180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24996" y="3057861"/>
            <a:ext cx="3633394" cy="107576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22806" y="2904564"/>
            <a:ext cx="20170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20009" y="2624865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27593" y="2624865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4749" y="1102578"/>
            <a:ext cx="3307143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Almacenamiento (As-Is)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563859"/>
            <a:ext cx="3618955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Una vez que el proveedor entrega los uniformes , se inicia la etapa de almacenamiento, cuyo propósito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796533"/>
            <a:ext cx="34429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principal es resguardar adecuadamente las prendas recibidas hasta su distribución, garantizando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588" y="1920266"/>
            <a:ext cx="192914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condiciones optimas de conservación, orden y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8481" y="1563859"/>
            <a:ext cx="2427994" cy="53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Recepción parcializada de uniformes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Recepción de uniformes por proveedores o camiones Walmart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cuadratura de prendas. Compras vs recibidas.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Tiendas sin espacio.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Perdida de prendas en la tienda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5248" y="3769210"/>
            <a:ext cx="349623" cy="104752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3828" y="4177137"/>
            <a:ext cx="101342" cy="22790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027" y="3937535"/>
            <a:ext cx="75978" cy="70520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2031" y="3087444"/>
            <a:ext cx="338865" cy="342899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256" y="3220058"/>
            <a:ext cx="210658" cy="7538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98471" y="4086561"/>
            <a:ext cx="338865" cy="34155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1296" y="4228357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7169" y="4133625"/>
            <a:ext cx="732864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7592" y="4226722"/>
            <a:ext cx="394332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90034" y="4222376"/>
            <a:ext cx="28911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9145" y="4133625"/>
            <a:ext cx="943983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2599" y="4170180"/>
            <a:ext cx="524457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66952" y="4273798"/>
            <a:ext cx="568089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3129" y="4218342"/>
            <a:ext cx="32541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8548" y="4113455"/>
            <a:ext cx="1118794" cy="28776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45044" y="4119146"/>
            <a:ext cx="464041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0913" y="4222161"/>
            <a:ext cx="889012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40568" y="4327758"/>
            <a:ext cx="221865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67343" y="4230444"/>
            <a:ext cx="26894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36284" y="4133625"/>
            <a:ext cx="1117450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25637" y="4170180"/>
            <a:ext cx="865603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27272" y="4273798"/>
            <a:ext cx="88488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9113" y="4221031"/>
            <a:ext cx="20977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248" y="2689411"/>
            <a:ext cx="349623" cy="1047526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1159" y="2936267"/>
            <a:ext cx="75978" cy="54863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61695" y="3154679"/>
            <a:ext cx="923812" cy="271630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5015" y="3191296"/>
            <a:ext cx="421710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557069" y="3309583"/>
            <a:ext cx="734852" cy="773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7545" y="3238052"/>
            <a:ext cx="208429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86622" y="3426310"/>
            <a:ext cx="73958" cy="70731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4749" y="1102578"/>
            <a:ext cx="3984606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Almacenamiento (Hallazgos)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9588" y="1563859"/>
            <a:ext cx="3618955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Una vez que el proveedor entrega los uniformes , se inicia la etapa de almacenamiento, cuyo propósito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796533"/>
            <a:ext cx="344293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principal es resguardar adecuadamente las prendas recibidas hasta su distribución, garantizando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588" y="1920266"/>
            <a:ext cx="192914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condiciones optimas de conservación, orden y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8481" y="1563859"/>
            <a:ext cx="2427994" cy="53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Recepción parcializada de uniformes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Recepción de uniformes por proveedores o camiones Walmart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cuadratura de prendas. Compras vs recibidas.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Tiendas sin espacio.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Perdida de prendas en la tienda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7309" y="3952063"/>
            <a:ext cx="2692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4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6179" y="44253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1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5248" y="3769210"/>
            <a:ext cx="349623" cy="104752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3828" y="4177137"/>
            <a:ext cx="101342" cy="22790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7027" y="3937535"/>
            <a:ext cx="75978" cy="70520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31" y="3087444"/>
            <a:ext cx="338865" cy="342899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256" y="3220058"/>
            <a:ext cx="210658" cy="7538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98471" y="4086561"/>
            <a:ext cx="338865" cy="34155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31296" y="4228357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57169" y="4133625"/>
            <a:ext cx="732864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27592" y="4226722"/>
            <a:ext cx="394332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90034" y="4222376"/>
            <a:ext cx="28911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9145" y="4133625"/>
            <a:ext cx="943983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2599" y="4170180"/>
            <a:ext cx="524457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66952" y="4273798"/>
            <a:ext cx="568089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23129" y="4218342"/>
            <a:ext cx="32541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8548" y="4113455"/>
            <a:ext cx="1118794" cy="28776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45044" y="4119146"/>
            <a:ext cx="464041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40913" y="4222161"/>
            <a:ext cx="889012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0568" y="4327758"/>
            <a:ext cx="221865" cy="6661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67343" y="4230444"/>
            <a:ext cx="26894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36284" y="4133625"/>
            <a:ext cx="1117450" cy="247426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25637" y="4170180"/>
            <a:ext cx="865603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27272" y="4273798"/>
            <a:ext cx="88488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9113" y="4221031"/>
            <a:ext cx="20977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5248" y="2689411"/>
            <a:ext cx="349623" cy="1047526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1159" y="2936267"/>
            <a:ext cx="75978" cy="54863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61695" y="3154679"/>
            <a:ext cx="923812" cy="271630"/>
          </a:xfrm>
          <a:prstGeom prst="rect">
            <a:avLst/>
          </a:prstGeom>
          <a:solidFill>
            <a:srgbClr val="93D49A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15015" y="3191296"/>
            <a:ext cx="421710" cy="9325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57069" y="3309583"/>
            <a:ext cx="734852" cy="773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545" y="3238052"/>
            <a:ext cx="208429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86622" y="3426310"/>
            <a:ext cx="73958" cy="70731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492" y="1522207"/>
            <a:ext cx="3879476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39727" y="1522207"/>
            <a:ext cx="3878131" cy="874058"/>
          </a:xfrm>
          <a:prstGeom prst="rect">
            <a:avLst/>
          </a:prstGeom>
          <a:solidFill>
            <a:srgbClr val="DBE9F6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7561" y="2421815"/>
            <a:ext cx="7776434" cy="2969110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799" y="3911749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10074" y="3941332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23551" y="4385085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30636" y="4385085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72953" y="3911749"/>
            <a:ext cx="174811" cy="174811"/>
          </a:xfrm>
          <a:prstGeom prst="rect">
            <a:avLst/>
          </a:prstGeom>
          <a:solidFill>
            <a:srgbClr val="ED1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061" y="1079798"/>
            <a:ext cx="2052801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Entrega (As-Is)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819" y="4356847"/>
            <a:ext cx="48908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¿conforme?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563859"/>
            <a:ext cx="3317942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Proceso debe asegurar la disponibilidad y entrega oportuna de uniformes adecuados para 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588" y="1796533"/>
            <a:ext cx="33711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colaboradores, este proceso debe ser ordenado, transparente y trazable, asegurando que 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588" y="1920266"/>
            <a:ext cx="282182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 reciba la prenda adecuada en cantidad, talla y condiciones optimas.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8481" y="1563859"/>
            <a:ext cx="2726418" cy="44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prendas entregadas.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que colaboradores reciben su uniforme o prendas.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Acta de entrega en papel y no estandarizada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Respaldos en físico en la tienda de actas firmadas.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838" y="2552251"/>
            <a:ext cx="384585" cy="1048870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593" y="2997619"/>
            <a:ext cx="73622" cy="15647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251" y="3673736"/>
            <a:ext cx="384585" cy="1216958"/>
          </a:xfrm>
          <a:prstGeom prst="rect">
            <a:avLst/>
          </a:prstGeom>
          <a:solidFill>
            <a:srgbClr val="FFBF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661" y="3881876"/>
            <a:ext cx="75978" cy="80523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5897" y="5106859"/>
            <a:ext cx="4707333" cy="9384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915" y="5225833"/>
            <a:ext cx="1053491" cy="93255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33948" y="2757991"/>
            <a:ext cx="399377" cy="420892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41782" y="2922637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9993" y="2846742"/>
            <a:ext cx="804134" cy="24742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8777" y="2884684"/>
            <a:ext cx="344847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25025" y="2993035"/>
            <a:ext cx="293812" cy="7745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7349" y="2853465"/>
            <a:ext cx="804133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97344" y="2891397"/>
            <a:ext cx="410855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30736" y="2994412"/>
            <a:ext cx="342695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4769" y="2844052"/>
            <a:ext cx="804134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6707" y="2882016"/>
            <a:ext cx="422216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74071" y="2985031"/>
            <a:ext cx="283743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6203" y="2796988"/>
            <a:ext cx="338865" cy="342899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91546" y="2921260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89934" y="4308437"/>
            <a:ext cx="802789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86365" y="4396951"/>
            <a:ext cx="613960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40149" y="4315161"/>
            <a:ext cx="839096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4002" y="4639235"/>
            <a:ext cx="804134" cy="24742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42290" y="4675790"/>
            <a:ext cx="494335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9022" y="4784227"/>
            <a:ext cx="293812" cy="7745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3680" y="4075554"/>
            <a:ext cx="120936" cy="76468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5898" y="2837329"/>
            <a:ext cx="804133" cy="24742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077" y="2876336"/>
            <a:ext cx="453198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35503" y="2977458"/>
            <a:ext cx="46972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69210" y="4051598"/>
            <a:ext cx="593014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64319" y="4089541"/>
            <a:ext cx="4032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8832" y="4195482"/>
            <a:ext cx="136320" cy="645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57008" y="4139004"/>
            <a:ext cx="812202" cy="176156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57008" y="4576033"/>
            <a:ext cx="828338" cy="21246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88136" y="3092823"/>
            <a:ext cx="1066351" cy="167281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27333" y="2853465"/>
            <a:ext cx="804133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7168" y="2891397"/>
            <a:ext cx="445969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86954" y="2994412"/>
            <a:ext cx="484008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54349" y="3102236"/>
            <a:ext cx="1547756" cy="120620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74128" y="2938182"/>
            <a:ext cx="22322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92723" y="4401222"/>
            <a:ext cx="247425" cy="7261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33325" y="2932803"/>
            <a:ext cx="23666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89558" y="4800688"/>
            <a:ext cx="70676" cy="7794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69149" y="2915322"/>
            <a:ext cx="22322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36846" y="2919356"/>
            <a:ext cx="22322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79245" y="3084755"/>
            <a:ext cx="1191409" cy="1391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62356" y="2924735"/>
            <a:ext cx="103542" cy="112686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7061" y="1079798"/>
            <a:ext cx="2733222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Entrega (Hallazgos)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819" y="4356847"/>
            <a:ext cx="48908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¿conforme?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588" y="1563859"/>
            <a:ext cx="3317942" cy="20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Proceso debe asegurar la disponibilidad y entrega oportuna de uniformes adecuados para 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588" y="1796533"/>
            <a:ext cx="33711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colaboradores, este proceso debe ser ordenado, transparente y trazable, asegurando que 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588" y="1920266"/>
            <a:ext cx="282182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colaborador reciba la prenda adecuada en cantidad, talla y condiciones optimas.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8481" y="1563859"/>
            <a:ext cx="2740321" cy="44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prendas entregadas.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No existe control de que colaboradores reciben su uniforme o prendas.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3.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Acta de entrega en papel y no estandarizada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4.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Respaldos en físico en la tienda de actas firmadas.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838" y="2552251"/>
            <a:ext cx="384585" cy="1048870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593" y="2997619"/>
            <a:ext cx="73622" cy="15647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251" y="3673736"/>
            <a:ext cx="384585" cy="1216958"/>
          </a:xfrm>
          <a:prstGeom prst="rect">
            <a:avLst/>
          </a:prstGeom>
          <a:solidFill>
            <a:srgbClr val="FFBF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661" y="3881876"/>
            <a:ext cx="75978" cy="80523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5897" y="5106859"/>
            <a:ext cx="4707333" cy="9384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915" y="5225833"/>
            <a:ext cx="1053491" cy="93255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33948" y="2757991"/>
            <a:ext cx="399377" cy="420892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41782" y="2922637"/>
            <a:ext cx="188129" cy="6609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9993" y="2846742"/>
            <a:ext cx="804134" cy="24742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8777" y="2884684"/>
            <a:ext cx="344847" cy="680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25025" y="2993035"/>
            <a:ext cx="293812" cy="7745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97349" y="2853465"/>
            <a:ext cx="804133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97344" y="2891397"/>
            <a:ext cx="410855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30736" y="2994412"/>
            <a:ext cx="342695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4769" y="2844052"/>
            <a:ext cx="804134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6707" y="2882016"/>
            <a:ext cx="422216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74071" y="2985031"/>
            <a:ext cx="283743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76203" y="2796988"/>
            <a:ext cx="338865" cy="342899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91546" y="2921260"/>
            <a:ext cx="101724" cy="6532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89934" y="4308437"/>
            <a:ext cx="802789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86365" y="4396951"/>
            <a:ext cx="613960" cy="6833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40149" y="4315161"/>
            <a:ext cx="839096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4002" y="4639235"/>
            <a:ext cx="804134" cy="24742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42290" y="4675790"/>
            <a:ext cx="494335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9022" y="4784227"/>
            <a:ext cx="293812" cy="7745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3680" y="4075554"/>
            <a:ext cx="120936" cy="76468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5898" y="2837329"/>
            <a:ext cx="804133" cy="247425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077" y="2876336"/>
            <a:ext cx="453198" cy="7986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35503" y="2977458"/>
            <a:ext cx="46972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69210" y="4051598"/>
            <a:ext cx="593014" cy="24877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64319" y="4089541"/>
            <a:ext cx="40328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8832" y="4195482"/>
            <a:ext cx="136320" cy="645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57008" y="4139004"/>
            <a:ext cx="812202" cy="176156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57008" y="4576033"/>
            <a:ext cx="828338" cy="21246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88136" y="3092823"/>
            <a:ext cx="1066351" cy="167281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27333" y="2853465"/>
            <a:ext cx="804133" cy="248770"/>
          </a:xfrm>
          <a:prstGeom prst="rect">
            <a:avLst/>
          </a:prstGeom>
          <a:solidFill>
            <a:srgbClr val="7E7E7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7168" y="2891397"/>
            <a:ext cx="445969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86954" y="2994412"/>
            <a:ext cx="484008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54349" y="3102236"/>
            <a:ext cx="1547756" cy="120620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74128" y="2938182"/>
            <a:ext cx="223221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92723" y="4401222"/>
            <a:ext cx="247425" cy="7261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733325" y="2932803"/>
            <a:ext cx="23666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89558" y="4800688"/>
            <a:ext cx="70676" cy="7794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69149" y="2915322"/>
            <a:ext cx="22322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36846" y="2919356"/>
            <a:ext cx="223220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79245" y="3084755"/>
            <a:ext cx="1191409" cy="1391770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62356" y="2924735"/>
            <a:ext cx="103542" cy="1126863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1554023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Cuadratura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373" y="1858427"/>
            <a:ext cx="3628349" cy="672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78" b="0">
                <a:solidFill>
                  <a:srgbClr val="001E60"/>
                </a:solidFill>
              </a:defRPr>
            </a:pPr>
            <a:r>
              <a:t>Descripción: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Proceso corresponde a la verificación y conciliación final entre lo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solicitado, lo recibido, lo facturado y lo entregado, con el objetivo de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validar que el proceso de compra se haya ejecutado correctamente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en términos de cantidad, calidad , valor y trazabilidad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7644" y="1858427"/>
            <a:ext cx="3627681" cy="672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78" b="0">
                <a:solidFill>
                  <a:srgbClr val="001E60"/>
                </a:solidFill>
              </a:defRPr>
            </a:pPr>
            <a:r>
              <a:t>Dolores: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-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No existe control del gasto en compras fuera de campaña o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reposición.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-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Desvio en el plan de +800 millones al año.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-</a:t>
            </a:r>
          </a:p>
          <a:p>
            <a:pPr>
              <a:defRPr sz="878" b="0">
                <a:solidFill>
                  <a:srgbClr val="001E60"/>
                </a:solidFill>
              </a:defRPr>
            </a:pPr>
            <a:r>
              <a:t>Presupuesto no ajustado a cada una de las tiendas.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240" y="2974453"/>
            <a:ext cx="23551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Este proceso aun no se encuentra implementado.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0175" y="1814008"/>
            <a:ext cx="7702475" cy="3458583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8243" y="1818042"/>
            <a:ext cx="3805517" cy="874058"/>
          </a:xfrm>
          <a:prstGeom prst="rect">
            <a:avLst/>
          </a:prstGeom>
          <a:solidFill>
            <a:srgbClr val="97DFFB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8894" y="1818042"/>
            <a:ext cx="3804172" cy="874058"/>
          </a:xfrm>
          <a:prstGeom prst="rect">
            <a:avLst/>
          </a:prstGeom>
          <a:solidFill>
            <a:srgbClr val="97DFFB"/>
          </a:solidFill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1971" y="2692101"/>
            <a:ext cx="393998" cy="907676"/>
          </a:xfrm>
          <a:prstGeom prst="rect">
            <a:avLst/>
          </a:prstGeom>
          <a:solidFill>
            <a:srgbClr val="001D6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038" y="2942746"/>
            <a:ext cx="89132" cy="409047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1971" y="3703320"/>
            <a:ext cx="393998" cy="909021"/>
          </a:xfrm>
          <a:prstGeom prst="rect">
            <a:avLst/>
          </a:prstGeom>
          <a:solidFill>
            <a:srgbClr val="91D4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1786" y="4055527"/>
            <a:ext cx="74506" cy="20398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4165" y="2845603"/>
            <a:ext cx="5803925" cy="67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67" b="1">
                <a:solidFill>
                  <a:srgbClr val="FFFFFF"/>
                </a:solidFill>
              </a:defRPr>
            </a:pPr>
            <a:r>
              <a:t>Gestión de Uniformes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2949" y="3576721"/>
            <a:ext cx="1908136" cy="49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Propuesta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8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97" y="3820309"/>
            <a:ext cx="69924" cy="76648"/>
          </a:xfrm>
          <a:prstGeom prst="rect">
            <a:avLst/>
          </a:prstGeom>
        </p:spPr>
      </p:pic>
      <p:pic>
        <p:nvPicPr>
          <p:cNvPr id="3" name="Picture 2" descr="img_18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4106731"/>
            <a:ext cx="69924" cy="76648"/>
          </a:xfrm>
          <a:prstGeom prst="rect">
            <a:avLst/>
          </a:prstGeom>
        </p:spPr>
      </p:pic>
      <p:pic>
        <p:nvPicPr>
          <p:cNvPr id="4" name="Picture 3" descr="img_18_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97" y="4391809"/>
            <a:ext cx="69924" cy="77992"/>
          </a:xfrm>
          <a:prstGeom prst="rect">
            <a:avLst/>
          </a:prstGeom>
        </p:spPr>
      </p:pic>
      <p:pic>
        <p:nvPicPr>
          <p:cNvPr id="5" name="Picture 4" descr="img_18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97" y="4678231"/>
            <a:ext cx="69924" cy="76648"/>
          </a:xfrm>
          <a:prstGeom prst="rect">
            <a:avLst/>
          </a:prstGeom>
        </p:spPr>
      </p:pic>
      <p:pic>
        <p:nvPicPr>
          <p:cNvPr id="6" name="Picture 5" descr="img_18_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797" y="5368065"/>
            <a:ext cx="69924" cy="76648"/>
          </a:xfrm>
          <a:prstGeom prst="rect">
            <a:avLst/>
          </a:prstGeom>
        </p:spPr>
      </p:pic>
      <p:pic>
        <p:nvPicPr>
          <p:cNvPr id="7" name="Picture 6" descr="img_18_5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4368" y="4017981"/>
            <a:ext cx="73958" cy="76648"/>
          </a:xfrm>
          <a:prstGeom prst="rect">
            <a:avLst/>
          </a:prstGeom>
        </p:spPr>
      </p:pic>
      <p:pic>
        <p:nvPicPr>
          <p:cNvPr id="8" name="Picture 7" descr="img_18_6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4368" y="4828838"/>
            <a:ext cx="73958" cy="76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5049" y="1063527"/>
            <a:ext cx="1162336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1">
                <a:solidFill>
                  <a:srgbClr val="001E60"/>
                </a:solidFill>
              </a:defRPr>
            </a:pPr>
            <a:r>
              <a:t>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714" y="1460307"/>
            <a:ext cx="8239532" cy="302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1E60"/>
                </a:solidFill>
              </a:defRPr>
            </a:pPr>
            <a:r>
              <a:t>La cobertura de este proyecto se limita exclusivamente al módulo HCM de SAP ERP y SAP SuccessFactors. El enfoque estará centrado en</a:t>
            </a:r>
          </a:p>
          <a:p>
            <a:pPr>
              <a:defRPr sz="974" b="0">
                <a:solidFill>
                  <a:srgbClr val="001E60"/>
                </a:solidFill>
              </a:defRPr>
            </a:pPr>
            <a:r>
              <a:t>resolver los puntos de dolor identificados en la fase de Entrega y Control de Tallas de los colaboradores.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714" y="1904065"/>
            <a:ext cx="8238292" cy="45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0">
                <a:solidFill>
                  <a:srgbClr val="001E60"/>
                </a:solidFill>
              </a:defRPr>
            </a:pPr>
            <a:r>
              <a:t>Los desarrollos contemplados permitirán optimizar los procesos de cuadratura y solicitud relacionados con el control de tallas y la entrega</a:t>
            </a:r>
          </a:p>
          <a:p>
            <a:pPr>
              <a:defRPr sz="974" b="0">
                <a:solidFill>
                  <a:srgbClr val="001E60"/>
                </a:solidFill>
              </a:defRPr>
            </a:pPr>
            <a:r>
              <a:t>de uniformes. Esto incluye la mejora en la gestión mediante la incorporación de categorías de uniformes y tipos de solicitud, facilitando así</a:t>
            </a:r>
          </a:p>
          <a:p>
            <a:pPr>
              <a:defRPr sz="974" b="0">
                <a:solidFill>
                  <a:srgbClr val="001E60"/>
                </a:solidFill>
              </a:defRPr>
            </a:pPr>
            <a:r>
              <a:t>una administración más eficiente y precisa.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5329" y="2482300"/>
            <a:ext cx="985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1">
                <a:solidFill>
                  <a:srgbClr val="FFFFFF"/>
                </a:solidFill>
              </a:defRPr>
            </a:pPr>
            <a:r>
              <a:t>Requerimientos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835" y="3104912"/>
            <a:ext cx="3839764" cy="477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Esta alternativa considera la creación de un proceso a medida en SAP HCM para el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registro de la información de los uniformes de los locales, y en particular de los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uniformes asignados a los colaboradores de dichos locales. Los puntos que se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requerirían implementar serían los siguientes: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615" y="3796081"/>
            <a:ext cx="3672789" cy="24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Creación de tabla maestra de uniformes, indicando entre otros atributos tipo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de prenda de uniforme, talla, sexo,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615" y="4081148"/>
            <a:ext cx="3672887" cy="24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Creación de tabla maestra de solicitudes de uniforme por local, indicando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cantidad de prendas, tipos de prenda, tallas, etc.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615" y="4367589"/>
            <a:ext cx="3672200" cy="241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Habilitación y/o creación de infotipo (1) para registrar la talla del colaborador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según distintos tipos de prenda, con fecha de inicio y fin de validez.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615" y="4654030"/>
            <a:ext cx="3671611" cy="35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Habilitación y/o creación de infotipo (2) para registrar las prendas del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uniforme que son asignadas a un colaborador, con fecha de inicio y fin de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validez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615" y="5057483"/>
            <a:ext cx="3673966" cy="24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Creación de nueva transacción para iniciar el flujo de la solicitud de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uniformes en base al requerimiento de cada local y colaborador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615" y="5343826"/>
            <a:ext cx="3672888" cy="35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Creación de un Reporte de gestión que permitirá tener la trazabilidad y el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registro completo de los uniformes por local, persona, tipo de prenda, talla,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entre 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2425" y="3065941"/>
            <a:ext cx="3839470" cy="71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Esta alternativa contempla la construcción de una solución a medida, mediante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objetos MDF (Customizado) en la instancia de SAP SuccessFactors Employee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Central. Se propone configurar flujos de aprobación los cuales permitirán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conocer el status de la solicitud de uniformes, tanto a nivel administrativo como 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nivel de autoservicio, sin perder trazabilidad. Esto permitirá contar con un flujo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continuo entre el ingreso de la solicitud y la posterior entrega al colaborador.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9205" y="3993783"/>
            <a:ext cx="3673182" cy="35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Construcción formularios (MDF): Se contempla la configuración de un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formulario cabecera-detalle, que permita guardar el historial en base a fechas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la solicitud y/o entrega de los uniformes.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9205" y="4397235"/>
            <a:ext cx="3672888" cy="359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Flujos de aprobación: Se contempla la configuración de uno o dos flujos de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aprobación, en el caso que sea el colaborador o el encargado mediante el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autoservicio quien levante la solicitud.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9205" y="4801963"/>
            <a:ext cx="3671904" cy="24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Creación de reportes que permitan descargar la información asociada a estas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tablas.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7920" y="2755334"/>
            <a:ext cx="5421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1">
                <a:solidFill>
                  <a:srgbClr val="FFFFFF"/>
                </a:solidFill>
              </a:defRPr>
            </a:pPr>
            <a:r>
              <a:t>SAP ERP (HCM)</a:t>
            </a:r>
          </a:p>
          <a:p>
            <a:pPr>
              <a:defRPr sz="974" b="1">
                <a:solidFill>
                  <a:srgbClr val="FFFFFF"/>
                </a:solidFill>
              </a:defRPr>
            </a:pPr>
            <a:r>
              <a:t>SAP Successfactors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4736" y="2455433"/>
            <a:ext cx="8386930" cy="20977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4736" y="2728408"/>
            <a:ext cx="4019325" cy="209773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2340" y="2728408"/>
            <a:ext cx="4019325" cy="209773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9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2147495"/>
            <a:ext cx="7693062" cy="2248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1324" y="1089265"/>
            <a:ext cx="544632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1">
                <a:solidFill>
                  <a:srgbClr val="001E60"/>
                </a:solidFill>
              </a:defRPr>
            </a:pPr>
            <a:r>
              <a:t>Estimación Tiempo y Costo (SAP ECC)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9792" y="2147523"/>
            <a:ext cx="6282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FFFFFF"/>
                </a:solidFill>
              </a:defRPr>
            </a:pPr>
            <a:r>
              <a:t>Planificación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471" y="4430806"/>
            <a:ext cx="4752193" cy="3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FFFFFF"/>
                </a:solidFill>
              </a:defRPr>
            </a:pPr>
            <a:r>
              <a:t>Roles</a:t>
            </a:r>
          </a:p>
          <a:p>
            <a:pPr>
              <a:defRPr sz="772" b="1">
                <a:solidFill>
                  <a:srgbClr val="FFFFFF"/>
                </a:solidFill>
              </a:defRPr>
            </a:pPr>
            <a:r>
              <a:t>Costo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Total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Horas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Consultor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9223" y="4608281"/>
            <a:ext cx="809183" cy="19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ABAP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861" y="4658064"/>
            <a:ext cx="12626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HR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Etapas /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861" y="4830158"/>
            <a:ext cx="2301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28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28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Relevamiento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861" y="4984824"/>
            <a:ext cx="23023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24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24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Analisis y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861" y="5139490"/>
            <a:ext cx="232837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508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220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288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Realización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861" y="5295451"/>
            <a:ext cx="230810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60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Despliegue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861" y="5450117"/>
            <a:ext cx="23293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620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220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400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Total Horas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3" y="4684921"/>
            <a:ext cx="26298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Costo CLP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Costo UF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2234" y="4849017"/>
            <a:ext cx="281946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$ 15.857.436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400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Consultor Funcional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2234" y="5023791"/>
            <a:ext cx="28011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$ 8.721.590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220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Consultor ABAP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2234" y="5198657"/>
            <a:ext cx="2839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$ 24.579.026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620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Costo Total (UF)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045" y="1483238"/>
            <a:ext cx="7801501" cy="495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9" b="1">
                <a:solidFill>
                  <a:srgbClr val="001E60"/>
                </a:solidFill>
              </a:defRPr>
            </a:pPr>
            <a:r>
              <a:t>La Implementación de Gestión de Uniformes bajo el alcance definido tendría un costo estimado de 620 UF ($24,6</a:t>
            </a:r>
          </a:p>
          <a:p>
            <a:pPr>
              <a:defRPr sz="1069" b="0">
                <a:solidFill>
                  <a:srgbClr val="001E60"/>
                </a:solidFill>
              </a:defRPr>
            </a:pPr>
            <a:r>
              <a:t>Millones) con una empresa Externa y el tiempo estimado de implementación es de 21 Semanas (102 días hábiles).</a:t>
            </a:r>
          </a:p>
          <a:p>
            <a:pPr>
              <a:defRPr sz="1069" b="0">
                <a:solidFill>
                  <a:srgbClr val="001E60"/>
                </a:solidFill>
              </a:defRPr>
            </a:pPr>
            <a:r>
              <a:t>Estimación no considera el capacity interno requerido.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0185" y="5366696"/>
            <a:ext cx="2838836" cy="3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Planificación no considera tiempos de Preparación de Contrato con Empresa Externa.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El valor en CLP es referencial. Precio final se determina con empresa Externa.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Tipo de cambio utilizado es de UF 39.643,59.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496" y="2121945"/>
            <a:ext cx="1246542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4851" y="4405256"/>
            <a:ext cx="1048870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70032" y="4449631"/>
            <a:ext cx="1048870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0988" y="4608306"/>
            <a:ext cx="1571961" cy="189603"/>
          </a:xfrm>
          <a:prstGeom prst="rect">
            <a:avLst/>
          </a:prstGeom>
          <a:solidFill>
            <a:srgbClr val="A8DD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2949" y="4608306"/>
            <a:ext cx="524435" cy="189603"/>
          </a:xfrm>
          <a:prstGeom prst="rect">
            <a:avLst/>
          </a:prstGeom>
          <a:solidFill>
            <a:srgbClr val="A8DD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0988" y="5417820"/>
            <a:ext cx="2620831" cy="154640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70032" y="4652682"/>
            <a:ext cx="2271207" cy="15464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1240" y="4652682"/>
            <a:ext cx="874058" cy="15464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70032" y="5156946"/>
            <a:ext cx="2271207" cy="174812"/>
          </a:xfrm>
          <a:prstGeom prst="rect">
            <a:avLst/>
          </a:prstGeom>
          <a:solidFill>
            <a:srgbClr val="D6E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41240" y="5156946"/>
            <a:ext cx="874058" cy="174812"/>
          </a:xfrm>
          <a:prstGeom prst="rect">
            <a:avLst/>
          </a:prstGeom>
          <a:solidFill>
            <a:srgbClr val="D6E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0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0" y="2107154"/>
            <a:ext cx="7693062" cy="21528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1324" y="1089265"/>
            <a:ext cx="7073420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1">
                <a:solidFill>
                  <a:srgbClr val="001E60"/>
                </a:solidFill>
              </a:defRPr>
            </a:pPr>
            <a:r>
              <a:t>Estimación Tiempo y Costo (SAP Successfactors)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045" y="1483238"/>
            <a:ext cx="7800144" cy="495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9" b="1">
                <a:solidFill>
                  <a:srgbClr val="001E60"/>
                </a:solidFill>
              </a:defRPr>
            </a:pPr>
            <a:r>
              <a:t>La Implementación de Gestión de Uniformes bajo el alcance definido tendría un costo estimado de 144 UF ($5,7</a:t>
            </a:r>
          </a:p>
          <a:p>
            <a:pPr>
              <a:defRPr sz="1069" b="0">
                <a:solidFill>
                  <a:srgbClr val="001E60"/>
                </a:solidFill>
              </a:defRPr>
            </a:pPr>
            <a:r>
              <a:t>Millones) con una empresa Externa y el tiempo estimado de implementación es de 7 Semanas (35 días hábiles).</a:t>
            </a:r>
          </a:p>
          <a:p>
            <a:pPr>
              <a:defRPr sz="1069" b="0">
                <a:solidFill>
                  <a:srgbClr val="001E60"/>
                </a:solidFill>
              </a:defRPr>
            </a:pPr>
            <a:r>
              <a:t>Estimación no considera el capacity interno requerido.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9792" y="2147523"/>
            <a:ext cx="62824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FFFFFF"/>
                </a:solidFill>
              </a:defRPr>
            </a:pPr>
            <a:r>
              <a:t>Planificación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861" y="4430806"/>
            <a:ext cx="5023804" cy="36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FFFFFF"/>
                </a:solidFill>
              </a:defRPr>
            </a:pPr>
            <a:r>
              <a:t>Roles</a:t>
            </a:r>
          </a:p>
          <a:p>
            <a:pPr>
              <a:defRPr sz="772" b="1">
                <a:solidFill>
                  <a:srgbClr val="FFFFFF"/>
                </a:solidFill>
              </a:defRPr>
            </a:pPr>
            <a:r>
              <a:t>Costo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Total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Horas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Consultor EC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Etapas /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861" y="4830158"/>
            <a:ext cx="1773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16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Relevamiento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861" y="4984824"/>
            <a:ext cx="17866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112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112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Realización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861" y="5139490"/>
            <a:ext cx="17738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16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Despliegue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861" y="5295451"/>
            <a:ext cx="179054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114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144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Total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4943" y="4684921"/>
            <a:ext cx="26298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FFFFFF"/>
                </a:solidFill>
              </a:defRPr>
            </a:pPr>
            <a:r>
              <a:t>Costo CLP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Costo UF</a:t>
            </a:r>
          </a:p>
          <a:p>
            <a:pPr>
              <a:defRPr sz="582" b="1">
                <a:solidFill>
                  <a:srgbClr val="FFFFFF"/>
                </a:solidFill>
              </a:defRPr>
            </a:pPr>
            <a:r>
              <a:t>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2234" y="4849017"/>
            <a:ext cx="28070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$ 5.708.677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144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Consultor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2234" y="5023791"/>
            <a:ext cx="281488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$ 5.708.677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144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Costo Total (UF)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0185" y="5366696"/>
            <a:ext cx="2838836" cy="38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Planificación no considera tiempos de Preparación de Contrato con Empresa Externa.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El valor en CLP es referencial. Precio final se determina con empresa Externa.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•</a:t>
            </a:r>
          </a:p>
          <a:p>
            <a:pPr>
              <a:defRPr sz="518" b="0">
                <a:solidFill>
                  <a:srgbClr val="001E60"/>
                </a:solidFill>
              </a:defRPr>
            </a:pPr>
            <a:r>
              <a:t>Tipo de cambio utilizado es de UF 39.643,59.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496" y="2121945"/>
            <a:ext cx="1246542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851" y="4405256"/>
            <a:ext cx="1048870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70032" y="4449631"/>
            <a:ext cx="1048870" cy="174811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988" y="4608306"/>
            <a:ext cx="1571961" cy="189603"/>
          </a:xfrm>
          <a:prstGeom prst="rect">
            <a:avLst/>
          </a:prstGeom>
          <a:solidFill>
            <a:srgbClr val="A8DD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988" y="5261834"/>
            <a:ext cx="1571961" cy="155986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82949" y="5261834"/>
            <a:ext cx="524435" cy="155986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70032" y="4652682"/>
            <a:ext cx="2271207" cy="15464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41240" y="4652682"/>
            <a:ext cx="874058" cy="15464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0032" y="4982135"/>
            <a:ext cx="2271207" cy="174811"/>
          </a:xfrm>
          <a:prstGeom prst="rect">
            <a:avLst/>
          </a:prstGeom>
          <a:solidFill>
            <a:srgbClr val="D6E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1240" y="4982135"/>
            <a:ext cx="874058" cy="174811"/>
          </a:xfrm>
          <a:prstGeom prst="rect">
            <a:avLst/>
          </a:prstGeom>
          <a:solidFill>
            <a:srgbClr val="D6E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2872" y="275662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1E60"/>
                </a:solidFill>
              </a:defRPr>
            </a:pPr>
            <a:r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8020" y="2951640"/>
            <a:ext cx="12265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Consultor Funcional SAP 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126" y="3145277"/>
            <a:ext cx="104753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Consultor ABAP SAP HCM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3291" y="3340292"/>
            <a:ext cx="9367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Analista de 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774" y="3533930"/>
            <a:ext cx="122258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Desarrollador Power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7825" y="3727567"/>
            <a:ext cx="4877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1E60"/>
                </a:solidFill>
              </a:defRPr>
            </a:pPr>
            <a:r>
              <a:t>Costo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9458" y="2169059"/>
            <a:ext cx="6727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1">
                <a:solidFill>
                  <a:srgbClr val="FFFFFF"/>
                </a:solidFill>
              </a:defRPr>
            </a:pPr>
            <a:r>
              <a:t>Escenario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5160" y="2767390"/>
            <a:ext cx="14394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Costo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Meses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5958" y="2962420"/>
            <a:ext cx="15353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$ 15.857.436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5958" y="3156044"/>
            <a:ext cx="151696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$ 8.721.590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5958" y="3349669"/>
            <a:ext cx="155882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$ 10.800.000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8792" y="3727567"/>
            <a:ext cx="9124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1E60"/>
                </a:solidFill>
              </a:defRPr>
            </a:pPr>
            <a:r>
              <a:t>$ 35.379.026 (892 UF)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9371" y="2429916"/>
            <a:ext cx="18062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Implementación en SAP ECC con Consultoría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971" y="2518667"/>
            <a:ext cx="8508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Externa (Llave en mano)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095" y="2795643"/>
            <a:ext cx="144080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Costo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Meses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819" y="2985274"/>
            <a:ext cx="154705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$ 9.000.000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2819" y="3176161"/>
            <a:ext cx="15512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$12.000.000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2819" y="3365791"/>
            <a:ext cx="1560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$ 10.800.000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6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2317" y="3734280"/>
            <a:ext cx="94340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1E60"/>
                </a:solidFill>
              </a:defRPr>
            </a:pPr>
            <a:r>
              <a:t>$ 31.800.000 (802 UF)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6228" y="2195904"/>
            <a:ext cx="28390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4" b="1">
                <a:solidFill>
                  <a:srgbClr val="FFFFFF"/>
                </a:solidFill>
              </a:defRPr>
            </a:pPr>
            <a:r>
              <a:t>Escenario 2</a:t>
            </a:r>
          </a:p>
          <a:p>
            <a:pPr>
              <a:defRPr sz="974" b="1">
                <a:solidFill>
                  <a:srgbClr val="FFFFFF"/>
                </a:solidFill>
              </a:defRPr>
            </a:pPr>
            <a:r>
              <a:t>Escenario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9241" y="2450033"/>
            <a:ext cx="158286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Implementación en SAP ECC con equipos 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0837" y="2538784"/>
            <a:ext cx="10253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desarrollo internos (StarSAP)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0361" y="2767390"/>
            <a:ext cx="14407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1E60"/>
                </a:solidFill>
              </a:defRPr>
            </a:pPr>
            <a:r>
              <a:t>Costo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Meses</a:t>
            </a:r>
          </a:p>
          <a:p>
            <a:pPr>
              <a:defRPr sz="58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1085" y="3349669"/>
            <a:ext cx="15602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$ 10.800.000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1085" y="3544624"/>
            <a:ext cx="155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1E60"/>
                </a:solidFill>
              </a:defRPr>
            </a:pPr>
            <a:r>
              <a:t>$ 12.000.000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5</a:t>
            </a:r>
          </a:p>
          <a:p>
            <a:pPr>
              <a:defRPr sz="58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0539" y="3727567"/>
            <a:ext cx="939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1E60"/>
                </a:solidFill>
              </a:defRPr>
            </a:pPr>
            <a:r>
              <a:t>$ 22.800.000 (575 UF)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8068" y="2436573"/>
            <a:ext cx="1903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No Implementar en SAP ECC , con desarrollo en Power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6823" y="25253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0">
                <a:solidFill>
                  <a:srgbClr val="000000"/>
                </a:solidFill>
              </a:defRPr>
            </a:pPr>
            <a: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714" y="3993755"/>
            <a:ext cx="10729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0000"/>
                </a:solidFill>
              </a:defRPr>
            </a:pPr>
            <a:r>
              <a:t>Costo SAP Successfactors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140" y="1087786"/>
            <a:ext cx="3546769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1">
                <a:solidFill>
                  <a:srgbClr val="001E60"/>
                </a:solidFill>
              </a:defRPr>
            </a:pPr>
            <a:r>
              <a:t>Comparativo Escenarios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687" y="1507413"/>
            <a:ext cx="7798381" cy="3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69" b="0">
                <a:solidFill>
                  <a:srgbClr val="001E60"/>
                </a:solidFill>
              </a:defRPr>
            </a:pPr>
            <a:r>
              <a:t>Acompañado del costo de la implementación por empresa Externa, tenemos que sumar las capacidades internas</a:t>
            </a:r>
          </a:p>
          <a:p>
            <a:pPr>
              <a:defRPr sz="1069" b="0">
                <a:solidFill>
                  <a:srgbClr val="001E60"/>
                </a:solidFill>
              </a:defRPr>
            </a:pPr>
            <a:r>
              <a:t>necesarias para la implementación. Frente a esto presentamos los tres escenarios posibles de implementación.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866" y="4658061"/>
            <a:ext cx="5030448" cy="521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9300"/>
                </a:solidFill>
              </a:defRPr>
            </a:pPr>
            <a:r>
              <a:t>1.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La implementación depende de la priorización de la Gerencia.</a:t>
            </a:r>
          </a:p>
          <a:p>
            <a:pPr>
              <a:defRPr sz="677" b="0">
                <a:solidFill>
                  <a:srgbClr val="FF9300"/>
                </a:solidFill>
              </a:defRPr>
            </a:pPr>
            <a:r>
              <a:t>2.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Los valores presentados son solo referenciales con el valor UF al 9 de Diciembre 2025.</a:t>
            </a:r>
          </a:p>
          <a:p>
            <a:pPr>
              <a:defRPr sz="677" b="0">
                <a:solidFill>
                  <a:srgbClr val="FF9300"/>
                </a:solidFill>
              </a:defRPr>
            </a:pPr>
            <a:r>
              <a:t>3.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Para los tres escenarios se requiere capacity interno para dar seguimiento a la implementación de la iniciativa</a:t>
            </a:r>
          </a:p>
          <a:p>
            <a:pPr>
              <a:defRPr sz="677" b="0">
                <a:solidFill>
                  <a:srgbClr val="FF9300"/>
                </a:solidFill>
              </a:defRPr>
            </a:pPr>
            <a:r>
              <a:t>4.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En el escenario #2, se requieren Roles del equipo SAP de Walmart (Backfill) por la implementación interna en SAP ECC.</a:t>
            </a:r>
          </a:p>
          <a:p>
            <a:pPr>
              <a:defRPr sz="677" b="0">
                <a:solidFill>
                  <a:srgbClr val="FF9300"/>
                </a:solidFill>
              </a:defRPr>
            </a:pPr>
            <a:r>
              <a:t>5.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Tanto para el Escenario #1 y Escenario #2, es requerido llevar la implementación hacia SAP Successfactors.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855" y="5279337"/>
            <a:ext cx="7662900" cy="41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0000"/>
                </a:solidFill>
              </a:defRPr>
            </a:pPr>
            <a:r>
              <a:t>Importante: En el escenario #2, el requerimiento debe ser priorizado por el equipo de SAP Walmart, actualmente ya tienen asignación por requerimientos Legales y de negocio tales como: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•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Reforma de Pensiones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•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Reducción de Jornada 42 Horas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•</a:t>
            </a:r>
          </a:p>
          <a:p>
            <a:pPr>
              <a:defRPr sz="677" b="0">
                <a:solidFill>
                  <a:srgbClr val="000000"/>
                </a:solidFill>
              </a:defRPr>
            </a:pPr>
            <a:r>
              <a:t>Cálculo Bono Tienda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4919" y="4004500"/>
            <a:ext cx="474003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2" b="1">
                <a:solidFill>
                  <a:srgbClr val="000000"/>
                </a:solidFill>
              </a:defRPr>
            </a:pPr>
            <a:r>
              <a:t>$ 5.708.677  (144 UF)</a:t>
            </a:r>
          </a:p>
          <a:p>
            <a:pPr>
              <a:defRPr sz="582" b="1">
                <a:solidFill>
                  <a:srgbClr val="000000"/>
                </a:solidFill>
              </a:defRPr>
            </a:pPr>
            <a:r>
              <a:t>$5.708. 677  (144 UF)</a:t>
            </a:r>
          </a:p>
          <a:p>
            <a:pPr>
              <a:defRPr sz="582" b="1">
                <a:solidFill>
                  <a:srgbClr val="000000"/>
                </a:solidFill>
              </a:defRPr>
            </a:pPr>
            <a:r>
              <a:t>$ 0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80" y="4274830"/>
            <a:ext cx="70103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1">
                <a:solidFill>
                  <a:srgbClr val="000000"/>
                </a:solidFill>
              </a:defRPr>
            </a:pPr>
            <a:r>
              <a:t>Costo Total</a:t>
            </a:r>
          </a:p>
          <a:p>
            <a:pPr>
              <a:defRPr sz="677" b="1">
                <a:solidFill>
                  <a:srgbClr val="000000"/>
                </a:solidFill>
              </a:defRPr>
            </a:pPr>
            <a:r>
              <a:t>$ 41.087.703  (1.036 UF)</a:t>
            </a:r>
          </a:p>
          <a:p>
            <a:pPr>
              <a:defRPr sz="677" b="1">
                <a:solidFill>
                  <a:srgbClr val="000000"/>
                </a:solidFill>
              </a:defRPr>
            </a:pPr>
            <a:r>
              <a:t>$ 37.508. 677  (946 UF)</a:t>
            </a:r>
          </a:p>
          <a:p>
            <a:pPr>
              <a:defRPr sz="677" b="1">
                <a:solidFill>
                  <a:srgbClr val="000000"/>
                </a:solidFill>
              </a:defRPr>
            </a:pPr>
            <a:r>
              <a:t>$ 22.800.000  (575 UF)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8770" y="2716305"/>
            <a:ext cx="1746772" cy="1165859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68157" y="2160942"/>
            <a:ext cx="2096396" cy="173467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57400" y="2716305"/>
            <a:ext cx="1047526" cy="194982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57400" y="2716305"/>
            <a:ext cx="2096396" cy="1165859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57400" y="2363992"/>
            <a:ext cx="2096396" cy="314661"/>
          </a:xfrm>
          <a:prstGeom prst="rect">
            <a:avLst/>
          </a:prstGeom>
          <a:solidFill>
            <a:srgbClr val="FFFFFF"/>
          </a:solidFill>
          <a:ln>
            <a:solidFill>
              <a:srgbClr val="00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15653" y="2747234"/>
            <a:ext cx="1047525" cy="189603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15653" y="2747234"/>
            <a:ext cx="2096395" cy="1138965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15653" y="2186491"/>
            <a:ext cx="2096396" cy="17481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61803" y="2186491"/>
            <a:ext cx="2096396" cy="17481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15653" y="2384163"/>
            <a:ext cx="2096395" cy="314661"/>
          </a:xfrm>
          <a:prstGeom prst="rect">
            <a:avLst/>
          </a:prstGeom>
          <a:solidFill>
            <a:srgbClr val="FFFFFF"/>
          </a:solidFill>
          <a:ln>
            <a:solidFill>
              <a:srgbClr val="001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73906" y="2716305"/>
            <a:ext cx="1047524" cy="194982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73906" y="2716305"/>
            <a:ext cx="2096395" cy="1165859"/>
          </a:xfrm>
          <a:prstGeom prst="rect">
            <a:avLst/>
          </a:prstGeom>
          <a:solidFill>
            <a:srgbClr val="DB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4165" y="2845603"/>
            <a:ext cx="5803925" cy="67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67" b="1">
                <a:solidFill>
                  <a:srgbClr val="FFFFFF"/>
                </a:solidFill>
              </a:defRPr>
            </a:pPr>
            <a:r>
              <a:t>Gestión de Uniformes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5248" y="3576721"/>
            <a:ext cx="4788267" cy="96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Anexo 1</a:t>
            </a:r>
          </a:p>
          <a:p>
            <a:pPr>
              <a:defRPr sz="3102" b="0">
                <a:solidFill>
                  <a:srgbClr val="FFFFFF"/>
                </a:solidFill>
              </a:defRPr>
            </a:pPr>
            <a:r>
              <a:t>Otras etapas identificadas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5" name="Picture 4" descr="img_23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735" y="3574228"/>
            <a:ext cx="949362" cy="392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5049" y="1063527"/>
            <a:ext cx="153449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Reposición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1743" y="556573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Aprueba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929" y="25414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4936" y="370467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Aprueba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3195" y="347871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FFFF"/>
                </a:solidFill>
              </a:defRPr>
            </a:pPr>
            <a:r>
              <a:t>Fin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077" y="3182918"/>
            <a:ext cx="384585" cy="1013908"/>
          </a:xfrm>
          <a:prstGeom prst="rect">
            <a:avLst/>
          </a:prstGeom>
          <a:solidFill>
            <a:srgbClr val="FFBF00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509" y="3471749"/>
            <a:ext cx="75978" cy="438103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7144" y="1822076"/>
            <a:ext cx="7775089" cy="3458583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422" y="2074881"/>
            <a:ext cx="384585" cy="1012563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766" y="2501501"/>
            <a:ext cx="73622" cy="15647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376" y="2377440"/>
            <a:ext cx="435684" cy="422237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98855" y="2475603"/>
            <a:ext cx="992392" cy="24473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64783" y="2557945"/>
            <a:ext cx="661622" cy="773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44905" y="2190526"/>
            <a:ext cx="992393" cy="24473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0577" y="2274154"/>
            <a:ext cx="241089" cy="773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44905" y="2768749"/>
            <a:ext cx="992393" cy="24473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6546" y="2851061"/>
            <a:ext cx="573471" cy="777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18342" y="2548217"/>
            <a:ext cx="992392" cy="244736"/>
          </a:xfrm>
          <a:prstGeom prst="rect">
            <a:avLst/>
          </a:prstGeom>
          <a:solidFill>
            <a:srgbClr val="7E7E7E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88" y="2570804"/>
            <a:ext cx="518990" cy="7804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32111" y="2689680"/>
            <a:ext cx="361437" cy="7774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54610" y="2568388"/>
            <a:ext cx="32676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92362" y="2720339"/>
            <a:ext cx="852543" cy="20708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93707" y="2259105"/>
            <a:ext cx="851198" cy="208429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87092" y="4047780"/>
            <a:ext cx="121878" cy="6797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8065" y="4664784"/>
            <a:ext cx="876748" cy="244736"/>
          </a:xfrm>
          <a:prstGeom prst="rect">
            <a:avLst/>
          </a:prstGeom>
          <a:solidFill>
            <a:srgbClr val="001D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67810" y="4700058"/>
            <a:ext cx="677646" cy="766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80228" y="4803590"/>
            <a:ext cx="457157" cy="82274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44813" y="3667012"/>
            <a:ext cx="102197" cy="1122829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8788" y="4165898"/>
            <a:ext cx="73958" cy="498885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985" y="3422276"/>
            <a:ext cx="876748" cy="24473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15052" y="3511554"/>
            <a:ext cx="587453" cy="8020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91609" y="3477409"/>
            <a:ext cx="992392" cy="24473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98371" y="3513964"/>
            <a:ext cx="58005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96656" y="3617581"/>
            <a:ext cx="183396" cy="7788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94347" y="3445643"/>
            <a:ext cx="69308" cy="87947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91609" y="3812241"/>
            <a:ext cx="992392" cy="244736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91658" y="3847450"/>
            <a:ext cx="593822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69805" y="3951068"/>
            <a:ext cx="236754" cy="77885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75220" y="3341594"/>
            <a:ext cx="437029" cy="420892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68065" y="3822998"/>
            <a:ext cx="876748" cy="342900"/>
          </a:xfrm>
          <a:prstGeom prst="rect">
            <a:avLst/>
          </a:prstGeom>
          <a:solidFill>
            <a:srgbClr val="FFB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69889" y="3855540"/>
            <a:ext cx="471443" cy="6816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01216" y="3959072"/>
            <a:ext cx="409220" cy="6781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89146" y="4062603"/>
            <a:ext cx="432371" cy="81758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47734" y="3513716"/>
            <a:ext cx="727485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39727" y="3508337"/>
            <a:ext cx="133125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39727" y="3957469"/>
            <a:ext cx="82833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92070" y="3420931"/>
            <a:ext cx="233978" cy="699246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67174" y="2580490"/>
            <a:ext cx="3118372" cy="601083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56416" y="3181573"/>
            <a:ext cx="263562" cy="618564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48056" y="2287344"/>
            <a:ext cx="233978" cy="699246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86422" y="4257338"/>
            <a:ext cx="384585" cy="1013908"/>
          </a:xfrm>
          <a:prstGeom prst="rect">
            <a:avLst/>
          </a:prstGeom>
          <a:solidFill>
            <a:srgbClr val="001D64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1498" y="4477925"/>
            <a:ext cx="75978" cy="573471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131853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Licitación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384" y="270283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6073" y="3318777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8010" y="2692079"/>
            <a:ext cx="4887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Solicitud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480" y="279561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cantidades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9473" y="2698792"/>
            <a:ext cx="4984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Preparación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943" y="280241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de  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2846" y="2670564"/>
            <a:ext cx="1502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Convocatoria</a:t>
            </a:r>
          </a:p>
          <a:p>
            <a:pPr>
              <a:defRPr sz="677" b="0">
                <a:solidFill>
                  <a:srgbClr val="FFFFFF"/>
                </a:solidFill>
              </a:defRPr>
            </a:pPr>
            <a:r>
              <a:t>Recepción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6306" y="277409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Técnica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9925" y="238286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04" y="248639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886" y="2654471"/>
            <a:ext cx="459997" cy="211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Evaluación</a:t>
            </a:r>
          </a:p>
          <a:p>
            <a:pPr>
              <a:defRPr sz="677" b="0">
                <a:solidFill>
                  <a:srgbClr val="FFFFFF"/>
                </a:solidFill>
              </a:defRPr>
            </a:pPr>
            <a:r>
              <a:t>Económica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9776" y="2916699"/>
            <a:ext cx="63039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Validación para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5496" y="3020231"/>
            <a:ext cx="5380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Adjudicación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7056" y="2685366"/>
            <a:ext cx="5380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Adjudicación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5171" y="3594431"/>
            <a:ext cx="52953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FFFFFF"/>
                </a:solidFill>
              </a:defRPr>
            </a:pPr>
            <a:r>
              <a:t>Seguimiento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156" y="2608204"/>
            <a:ext cx="457200" cy="483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FFFFFF"/>
                </a:solidFill>
              </a:defRPr>
            </a:pPr>
            <a:r>
              <a:t>COMPRAS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322" y="1814008"/>
            <a:ext cx="7803328" cy="3458583"/>
          </a:xfrm>
          <a:prstGeom prst="rect">
            <a:avLst/>
          </a:prstGeom>
          <a:noFill/>
          <a:ln>
            <a:solidFill>
              <a:srgbClr val="7E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8358" y="2554941"/>
            <a:ext cx="418203" cy="422237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29291" y="2372061"/>
            <a:ext cx="6282466" cy="540571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24121" y="3169471"/>
            <a:ext cx="419548" cy="418203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3128" y="2896496"/>
            <a:ext cx="767827" cy="248770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03872" y="2716305"/>
            <a:ext cx="32541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38804" y="2729752"/>
            <a:ext cx="32676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8774" y="2736476"/>
            <a:ext cx="32676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45467" y="2737821"/>
            <a:ext cx="325418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36024" y="2729752"/>
            <a:ext cx="326763" cy="73958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97588" y="2876325"/>
            <a:ext cx="73958" cy="291801"/>
          </a:xfrm>
          <a:prstGeom prst="rect">
            <a:avLst/>
          </a:prstGeom>
          <a:solidFill>
            <a:srgbClr val="001D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05917" y="2369371"/>
            <a:ext cx="235323" cy="767827"/>
          </a:xfrm>
          <a:prstGeom prst="rect">
            <a:avLst/>
          </a:prstGeom>
          <a:noFill/>
          <a:ln>
            <a:solidFill>
              <a:srgbClr val="001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4070" y="5003886"/>
            <a:ext cx="4952153" cy="93844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358" y="5122271"/>
            <a:ext cx="752129" cy="93255"/>
          </a:xfrm>
          <a:prstGeom prst="rect">
            <a:avLst/>
          </a:prstGeom>
          <a:solidFill>
            <a:srgbClr val="0E28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1289" y="2394921"/>
            <a:ext cx="384585" cy="909021"/>
          </a:xfrm>
          <a:prstGeom prst="rect">
            <a:avLst/>
          </a:prstGeom>
          <a:solidFill>
            <a:srgbClr val="00BF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2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4165" y="2845603"/>
            <a:ext cx="5803925" cy="67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67" b="1">
                <a:solidFill>
                  <a:srgbClr val="FFFFFF"/>
                </a:solidFill>
              </a:defRPr>
            </a:pPr>
            <a:r>
              <a:t>Gestión de Uniformes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933" y="3576721"/>
            <a:ext cx="2932533" cy="966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2" b="0">
                <a:solidFill>
                  <a:srgbClr val="FFFFFF"/>
                </a:solidFill>
              </a:defRPr>
            </a:pPr>
            <a:r>
              <a:t>Anexo 2</a:t>
            </a:r>
          </a:p>
          <a:p>
            <a:pPr>
              <a:defRPr sz="3102" b="0">
                <a:solidFill>
                  <a:srgbClr val="FFFFFF"/>
                </a:solidFill>
              </a:defRPr>
            </a:pPr>
            <a:r>
              <a:t>Activity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8104" y="1144344"/>
            <a:ext cx="289112" cy="320039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97649"/>
            <a:ext cx="847164" cy="480059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07765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(1/8)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Etapa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963" y="1856374"/>
            <a:ext cx="73048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Obtiene Presupuesto en Onestream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085010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Obtiene IPC Anual de SII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312256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Calcula IPC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540844"/>
            <a:ext cx="7166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1 mes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Calcula Nuevo presupuesto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769479"/>
            <a:ext cx="71764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1 hora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 Presupuesto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2996725"/>
            <a:ext cx="725948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y revisa presupuesto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963" y="3225301"/>
            <a:ext cx="72398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1 semana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Envía comentarios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963" y="3452619"/>
            <a:ext cx="71641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2 dias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Aprueba presupuesto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963" y="3681195"/>
            <a:ext cx="71641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2 dias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Confirma presupuesto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757" y="3908452"/>
            <a:ext cx="728369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confirmación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757" y="4137028"/>
            <a:ext cx="71531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0000"/>
                </a:solidFill>
              </a:defRPr>
            </a:pPr>
            <a:r>
              <a:t>N/A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Carga en SAP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Presupuesto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27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5448748"/>
            <a:ext cx="847164" cy="480059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5805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(2/8)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96870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96870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56018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963" y="1877896"/>
            <a:ext cx="63900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Libera modulo con EEUU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083668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Comunica inicio de campaña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288050"/>
            <a:ext cx="71764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hora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Solicita a la LPT ingresar solicitud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493774"/>
            <a:ext cx="639001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Descarga solicitud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698205"/>
            <a:ext cx="71947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horas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Verifica total tiendas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2903917"/>
            <a:ext cx="7198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hora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 con error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963" y="3108317"/>
            <a:ext cx="719471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horas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Corrige error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963" y="3314095"/>
            <a:ext cx="739565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vez por semana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Valida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963" y="3518466"/>
            <a:ext cx="72268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minuto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Ingresa a Service now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757" y="3724244"/>
            <a:ext cx="72510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minuto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Busca solicitud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757" y="3944761"/>
            <a:ext cx="6414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Completa formulario solicitud  // Guarda datos en Service now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757" y="4165309"/>
            <a:ext cx="7200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hora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Envía a 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9774" y="1593476"/>
            <a:ext cx="7584141" cy="240702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93915" y="1593476"/>
            <a:ext cx="872713" cy="240702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63974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(3/8)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963" y="1877896"/>
            <a:ext cx="72398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semana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solicitud compra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105189"/>
            <a:ext cx="728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4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 proceso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333777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6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propuestas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561023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Define proveedor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789611"/>
            <a:ext cx="7166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mes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Genera compra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3018235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Aprueba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963" y="3245493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dia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Valida por e-mail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ECO / LPM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Compra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78765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(4/8)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2213" y="1824116"/>
            <a:ext cx="83204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Durante Septiembre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1883312"/>
            <a:ext cx="7208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y Marzo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Proveedor despacha directo a tiendas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Proveedor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Almacenamiento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117268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40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Recepción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LPT/ Recepción Tienda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Almacenamiento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345856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30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Revisa guía de despacho / OC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LPT/ Recepción Tienda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Almacenamiento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573150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Envía correo de confirmación recepción a ECCO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LPT/ Recepción Tienda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Almacenamiento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2801738"/>
            <a:ext cx="716680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 en bodega u otro espacio físico disponible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LPT/ Recepción Tienda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Almacenamiento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30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89" y="5382857"/>
            <a:ext cx="847164" cy="480059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61015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(5/8)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30964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30964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590160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963" y="1812037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Coordina entrega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012393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 de uniforme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214091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uniforme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Colaboradores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414447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Conforme ( NO )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Colaboradores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616145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Devuelve a 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Colaboradores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2782185"/>
            <a:ext cx="717642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hora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 nuevas tallas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963" y="3028990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Conforme ( SI )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Colaboradores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963" y="3193644"/>
            <a:ext cx="72476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5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Firma acta de entrega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Colaboradores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963" y="3440486"/>
            <a:ext cx="72715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acta firmada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757" y="3640842"/>
            <a:ext cx="721892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4 horas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Respalda en carpeta física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Entrega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9774" y="1528930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93915" y="1528930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78765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(6/8)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016" y="1836889"/>
            <a:ext cx="4294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Este proceso aun no se encuentra implementado.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Cuadratura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757" y="394203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757" y="416932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757" y="439792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757" y="4626505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757" y="48537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757" y="508239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5805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(7/8)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016" y="1877896"/>
            <a:ext cx="72866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30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Realiza solicitud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105189"/>
            <a:ext cx="729465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10 minutos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Por mail  (Justifica compra)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333777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Por  SAP Ariba (Justifica compra por mail)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LPT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561023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justificación por mail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789611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En sistema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Recibe solicitud por SAP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3018235"/>
            <a:ext cx="716680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Aprueba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963" y="3245493"/>
            <a:ext cx="716680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Genera compra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963" y="3474069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Rechaza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963" y="3701386"/>
            <a:ext cx="71445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día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Se envía e-mail solicitando Aprobación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Reposición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5049" y="1063527"/>
            <a:ext cx="2975807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Activity Analysis (8/8)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9816" y="1584743"/>
            <a:ext cx="6014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Tiempo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486" y="1584743"/>
            <a:ext cx="1315830" cy="23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(To-Be)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Tiempo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2" y="1643939"/>
            <a:ext cx="71625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(As-Is)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Tipo 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Actividad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Proceso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016" y="1877896"/>
            <a:ext cx="725008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Solicitud de cantidades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963" y="2105189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3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Preparación de bases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63" y="2333777"/>
            <a:ext cx="723981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1 semana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Convocatorias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963" y="2561023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Recepción Técnica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963" y="2789611"/>
            <a:ext cx="72581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5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Evaluación Técnica, Económica, Adjudicación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963" y="3018235"/>
            <a:ext cx="7281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0">
                <a:solidFill>
                  <a:srgbClr val="001E60"/>
                </a:solidFill>
              </a:defRPr>
            </a:pPr>
            <a:r>
              <a:t>2 semanas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Manual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Adjudicación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Licitación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9774" y="1581374"/>
            <a:ext cx="7584141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93915" y="1581374"/>
            <a:ext cx="872713" cy="239357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3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1" y="5316967"/>
            <a:ext cx="931881" cy="424927"/>
          </a:xfrm>
          <a:prstGeom prst="rect">
            <a:avLst/>
          </a:prstGeom>
        </p:spPr>
      </p:pic>
      <p:pic>
        <p:nvPicPr>
          <p:cNvPr id="3" name="Picture 2" descr="img_6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7" y="5304864"/>
            <a:ext cx="847164" cy="477370"/>
          </a:xfrm>
          <a:prstGeom prst="rect">
            <a:avLst/>
          </a:prstGeom>
        </p:spPr>
      </p:pic>
      <p:pic>
        <p:nvPicPr>
          <p:cNvPr id="4" name="Picture 3" descr="img_1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121484"/>
            <a:ext cx="197671" cy="201705"/>
          </a:xfrm>
          <a:prstGeom prst="rect">
            <a:avLst/>
          </a:prstGeom>
        </p:spPr>
      </p:pic>
      <p:pic>
        <p:nvPicPr>
          <p:cNvPr id="5" name="Picture 4" descr="img_34_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953" y="2385508"/>
            <a:ext cx="229944" cy="190948"/>
          </a:xfrm>
          <a:prstGeom prst="rect">
            <a:avLst/>
          </a:prstGeom>
        </p:spPr>
      </p:pic>
      <p:pic>
        <p:nvPicPr>
          <p:cNvPr id="6" name="Picture 5" descr="img_34_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953" y="2616797"/>
            <a:ext cx="229944" cy="190948"/>
          </a:xfrm>
          <a:prstGeom prst="rect">
            <a:avLst/>
          </a:prstGeom>
        </p:spPr>
      </p:pic>
      <p:pic>
        <p:nvPicPr>
          <p:cNvPr id="7" name="Picture 6" descr="img_34_5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2953" y="2844052"/>
            <a:ext cx="229944" cy="190948"/>
          </a:xfrm>
          <a:prstGeom prst="rect">
            <a:avLst/>
          </a:prstGeom>
        </p:spPr>
      </p:pic>
      <p:pic>
        <p:nvPicPr>
          <p:cNvPr id="8" name="Picture 7" descr="img_34_6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2953" y="3071308"/>
            <a:ext cx="229944" cy="190948"/>
          </a:xfrm>
          <a:prstGeom prst="rect">
            <a:avLst/>
          </a:prstGeom>
        </p:spPr>
      </p:pic>
      <p:pic>
        <p:nvPicPr>
          <p:cNvPr id="9" name="Picture 8" descr="img_34_7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2953" y="3299908"/>
            <a:ext cx="229944" cy="1896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4800" y="2183175"/>
            <a:ext cx="44258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2" b="1">
                <a:solidFill>
                  <a:srgbClr val="001E60"/>
                </a:solidFill>
              </a:defRPr>
            </a:pPr>
            <a:r>
              <a:t>V° B°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Área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Participantes</a:t>
            </a:r>
          </a:p>
          <a:p>
            <a:pPr>
              <a:defRPr sz="772" b="1">
                <a:solidFill>
                  <a:srgbClr val="001E60"/>
                </a:solidFill>
              </a:defRPr>
            </a:pPr>
            <a: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779" y="2421847"/>
            <a:ext cx="29644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ECCO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Nicole Lama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2673" y="2639009"/>
            <a:ext cx="293444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LPC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Trinidad  Abell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673" y="2867645"/>
            <a:ext cx="29538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Ecco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Salvador Jeria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2673" y="3094896"/>
            <a:ext cx="30399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Carlos Navarro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2673" y="3323472"/>
            <a:ext cx="305742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Compras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Suhey Reyes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2673" y="3550760"/>
            <a:ext cx="303504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Jorge Cabrera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2673" y="3779366"/>
            <a:ext cx="297256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ECCO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Leandro Torres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2673" y="4006594"/>
            <a:ext cx="3052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77" b="0">
                <a:solidFill>
                  <a:srgbClr val="001E60"/>
                </a:solidFill>
              </a:defRPr>
            </a:pPr>
            <a:r>
              <a:t>Finanzas</a:t>
            </a:r>
          </a:p>
          <a:p>
            <a:pPr>
              <a:defRPr sz="677" b="0">
                <a:solidFill>
                  <a:srgbClr val="001E60"/>
                </a:solidFill>
              </a:defRPr>
            </a:pPr>
            <a:r>
              <a:t>Francisco Campos</a:t>
            </a:r>
          </a:p>
          <a:p>
            <a:pPr>
              <a:defRPr sz="772" b="0">
                <a:solidFill>
                  <a:srgbClr val="001E60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049" y="1128315"/>
            <a:ext cx="5935344" cy="3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29" b="0">
                <a:solidFill>
                  <a:srgbClr val="001E60"/>
                </a:solidFill>
              </a:defRPr>
            </a:pPr>
            <a:r>
              <a:t>Aprobación final de cierre del modelo As-Is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3260" y="5295451"/>
            <a:ext cx="2737592" cy="184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64" b="0">
                <a:solidFill>
                  <a:srgbClr val="001E60"/>
                </a:solidFill>
              </a:defRPr>
            </a:pPr>
            <a:r>
              <a:t>Nota : V° B° de cada área respaldado vía e-mail.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9183" y="933225"/>
            <a:ext cx="615875" cy="496196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2488" y="2125980"/>
            <a:ext cx="5104503" cy="228599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6991" y="2125980"/>
            <a:ext cx="946672" cy="228599"/>
          </a:xfrm>
          <a:prstGeom prst="rect">
            <a:avLst/>
          </a:prstGeom>
          <a:solidFill>
            <a:srgbClr val="F4DB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33225"/>
            <a:ext cx="8875058" cy="4992892"/>
          </a:xfrm>
          <a:prstGeom prst="rect">
            <a:avLst/>
          </a:prstGeom>
          <a:solidFill>
            <a:srgbClr val="005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95852" y="1148378"/>
            <a:ext cx="139849" cy="154641"/>
          </a:xfrm>
          <a:prstGeom prst="rect">
            <a:avLst/>
          </a:prstGeom>
          <a:solidFill>
            <a:srgbClr val="FFC1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5940" y="2488378"/>
            <a:ext cx="2908010" cy="647559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