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sldIdLst>
    <p:sldId id="257" r:id="rId5"/>
    <p:sldId id="424" r:id="rId6"/>
    <p:sldId id="425" r:id="rId7"/>
    <p:sldId id="427" r:id="rId8"/>
    <p:sldId id="428" r:id="rId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B6DB"/>
    <a:srgbClr val="FF0066"/>
    <a:srgbClr val="1273CC"/>
    <a:srgbClr val="FF4394"/>
    <a:srgbClr val="FF006C"/>
    <a:srgbClr val="FF3F76"/>
    <a:srgbClr val="92F737"/>
    <a:srgbClr val="051F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Estilo medio 3 - Énfasis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3979" autoAdjust="0"/>
  </p:normalViewPr>
  <p:slideViewPr>
    <p:cSldViewPr snapToGrid="0" snapToObjects="1">
      <p:cViewPr varScale="1">
        <p:scale>
          <a:sx n="69" d="100"/>
          <a:sy n="69" d="100"/>
        </p:scale>
        <p:origin x="608" y="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samur\Downloads\REPORTE%20CONSOLIDADO%20CPHS_31082024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samur\Downloads\REPORTE%20CONSOLIDADO%20CPHS_31082024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samur\Downloads\REPORTE%20CONSOLIDADO%20CPHS_31082024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samur\Downloads\REPORTE%20CONSOLIDADO%20CPHS_31082024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samur\Downloads\REPORTE%20CONSOLIDADO%20CPHS_31082024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2386492622020431"/>
          <c:y val="5.3044435441276926E-2"/>
          <c:w val="0.85234722393919315"/>
          <c:h val="0.55432232411327131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Hoja6!$D$2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Hoja6!$C$3:$C$10</c:f>
              <c:strCache>
                <c:ptCount val="8"/>
                <c:pt idx="0">
                  <c:v>Hiper</c:v>
                </c:pt>
                <c:pt idx="1">
                  <c:v>Express</c:v>
                </c:pt>
                <c:pt idx="2">
                  <c:v>SBA</c:v>
                </c:pt>
                <c:pt idx="3">
                  <c:v>Express 400</c:v>
                </c:pt>
                <c:pt idx="4">
                  <c:v>Central</c:v>
                </c:pt>
                <c:pt idx="5">
                  <c:v>Planta</c:v>
                </c:pt>
                <c:pt idx="6">
                  <c:v>Omni</c:v>
                </c:pt>
                <c:pt idx="7">
                  <c:v>HO</c:v>
                </c:pt>
              </c:strCache>
            </c:strRef>
          </c:cat>
          <c:val>
            <c:numRef>
              <c:f>Hoja6!$D$3:$D$10</c:f>
              <c:numCache>
                <c:formatCode>General</c:formatCode>
                <c:ptCount val="8"/>
                <c:pt idx="0">
                  <c:v>100</c:v>
                </c:pt>
                <c:pt idx="1">
                  <c:v>95</c:v>
                </c:pt>
                <c:pt idx="2">
                  <c:v>127</c:v>
                </c:pt>
                <c:pt idx="3">
                  <c:v>5</c:v>
                </c:pt>
                <c:pt idx="4">
                  <c:v>11</c:v>
                </c:pt>
                <c:pt idx="5">
                  <c:v>1</c:v>
                </c:pt>
                <c:pt idx="6">
                  <c:v>4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E1-4ECC-BD98-A7E96FA74791}"/>
            </c:ext>
          </c:extLst>
        </c:ser>
        <c:ser>
          <c:idx val="1"/>
          <c:order val="1"/>
          <c:tx>
            <c:strRef>
              <c:f>Hoja6!$E$2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cat>
            <c:strRef>
              <c:f>Hoja6!$C$3:$C$10</c:f>
              <c:strCache>
                <c:ptCount val="8"/>
                <c:pt idx="0">
                  <c:v>Hiper</c:v>
                </c:pt>
                <c:pt idx="1">
                  <c:v>Express</c:v>
                </c:pt>
                <c:pt idx="2">
                  <c:v>SBA</c:v>
                </c:pt>
                <c:pt idx="3">
                  <c:v>Express 400</c:v>
                </c:pt>
                <c:pt idx="4">
                  <c:v>Central</c:v>
                </c:pt>
                <c:pt idx="5">
                  <c:v>Planta</c:v>
                </c:pt>
                <c:pt idx="6">
                  <c:v>Omni</c:v>
                </c:pt>
                <c:pt idx="7">
                  <c:v>HO</c:v>
                </c:pt>
              </c:strCache>
            </c:strRef>
          </c:cat>
          <c:val>
            <c:numRef>
              <c:f>Hoja6!$E$3:$E$10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E1-4ECC-BD98-A7E96FA747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487526688"/>
        <c:axId val="1487527648"/>
        <c:axId val="0"/>
      </c:bar3DChart>
      <c:catAx>
        <c:axId val="1487526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487527648"/>
        <c:crosses val="autoZero"/>
        <c:auto val="1"/>
        <c:lblAlgn val="ctr"/>
        <c:lblOffset val="100"/>
        <c:noMultiLvlLbl val="0"/>
      </c:catAx>
      <c:valAx>
        <c:axId val="1487527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48752668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1"/>
          <c:order val="1"/>
          <c:tx>
            <c:strRef>
              <c:f>Hoja13!$E$5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Hoja13!$C$6:$C$14</c:f>
              <c:strCache>
                <c:ptCount val="9"/>
                <c:pt idx="0">
                  <c:v>1 Hiper Norte</c:v>
                </c:pt>
                <c:pt idx="1">
                  <c:v>2 Hiper IV y RM</c:v>
                </c:pt>
                <c:pt idx="2">
                  <c:v>3 Hiper V Región</c:v>
                </c:pt>
                <c:pt idx="3">
                  <c:v>4 Hiper RM Oriente</c:v>
                </c:pt>
                <c:pt idx="4">
                  <c:v>5 Hiper RM SurPoniente</c:v>
                </c:pt>
                <c:pt idx="5">
                  <c:v>6 Hiper RM SurOriente</c:v>
                </c:pt>
                <c:pt idx="6">
                  <c:v>7 Hiper VI - VII</c:v>
                </c:pt>
                <c:pt idx="7">
                  <c:v>8 Hiper VIII</c:v>
                </c:pt>
                <c:pt idx="8">
                  <c:v>9 Hiper Sur</c:v>
                </c:pt>
              </c:strCache>
            </c:strRef>
          </c:cat>
          <c:val>
            <c:numRef>
              <c:f>Hoja13!$E$6:$E$14</c:f>
              <c:numCache>
                <c:formatCode>General</c:formatCode>
                <c:ptCount val="9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3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B6-4EA1-8037-0FEF4002104A}"/>
            </c:ext>
          </c:extLst>
        </c:ser>
        <c:ser>
          <c:idx val="2"/>
          <c:order val="2"/>
          <c:tx>
            <c:strRef>
              <c:f>Hoja13!$F$5</c:f>
              <c:strCache>
                <c:ptCount val="1"/>
                <c:pt idx="0">
                  <c:v>SI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Hoja13!$C$6:$C$14</c:f>
              <c:strCache>
                <c:ptCount val="9"/>
                <c:pt idx="0">
                  <c:v>1 Hiper Norte</c:v>
                </c:pt>
                <c:pt idx="1">
                  <c:v>2 Hiper IV y RM</c:v>
                </c:pt>
                <c:pt idx="2">
                  <c:v>3 Hiper V Región</c:v>
                </c:pt>
                <c:pt idx="3">
                  <c:v>4 Hiper RM Oriente</c:v>
                </c:pt>
                <c:pt idx="4">
                  <c:v>5 Hiper RM SurPoniente</c:v>
                </c:pt>
                <c:pt idx="5">
                  <c:v>6 Hiper RM SurOriente</c:v>
                </c:pt>
                <c:pt idx="6">
                  <c:v>7 Hiper VI - VII</c:v>
                </c:pt>
                <c:pt idx="7">
                  <c:v>8 Hiper VIII</c:v>
                </c:pt>
                <c:pt idx="8">
                  <c:v>9 Hiper Sur</c:v>
                </c:pt>
              </c:strCache>
            </c:strRef>
          </c:cat>
          <c:val>
            <c:numRef>
              <c:f>Hoja13!$F$6:$F$14</c:f>
              <c:numCache>
                <c:formatCode>General</c:formatCode>
                <c:ptCount val="9"/>
                <c:pt idx="0">
                  <c:v>6</c:v>
                </c:pt>
                <c:pt idx="1">
                  <c:v>11</c:v>
                </c:pt>
                <c:pt idx="2">
                  <c:v>11</c:v>
                </c:pt>
                <c:pt idx="3">
                  <c:v>8</c:v>
                </c:pt>
                <c:pt idx="4">
                  <c:v>10</c:v>
                </c:pt>
                <c:pt idx="5">
                  <c:v>11</c:v>
                </c:pt>
                <c:pt idx="6">
                  <c:v>9</c:v>
                </c:pt>
                <c:pt idx="7">
                  <c:v>10</c:v>
                </c:pt>
                <c:pt idx="8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B6-4EA1-8037-0FEF400210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78599968"/>
        <c:axId val="207860284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Hoja13!$D$5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Hoja13!$C$6:$C$14</c15:sqref>
                        </c15:formulaRef>
                      </c:ext>
                    </c:extLst>
                    <c:strCache>
                      <c:ptCount val="9"/>
                      <c:pt idx="0">
                        <c:v>1 Hiper Norte</c:v>
                      </c:pt>
                      <c:pt idx="1">
                        <c:v>2 Hiper IV y RM</c:v>
                      </c:pt>
                      <c:pt idx="2">
                        <c:v>3 Hiper V Región</c:v>
                      </c:pt>
                      <c:pt idx="3">
                        <c:v>4 Hiper RM Oriente</c:v>
                      </c:pt>
                      <c:pt idx="4">
                        <c:v>5 Hiper RM SurPoniente</c:v>
                      </c:pt>
                      <c:pt idx="5">
                        <c:v>6 Hiper RM SurOriente</c:v>
                      </c:pt>
                      <c:pt idx="6">
                        <c:v>7 Hiper VI - VII</c:v>
                      </c:pt>
                      <c:pt idx="7">
                        <c:v>8 Hiper VIII</c:v>
                      </c:pt>
                      <c:pt idx="8">
                        <c:v>9 Hiper Sur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Hoja13!$D$6:$D$14</c15:sqref>
                        </c15:formulaRef>
                      </c:ext>
                    </c:extLst>
                    <c:numCache>
                      <c:formatCode>General</c:formatCode>
                      <c:ptCount val="9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8CB6-4EA1-8037-0FEF4002104A}"/>
                  </c:ext>
                </c:extLst>
              </c15:ser>
            </c15:filteredBarSeries>
          </c:ext>
        </c:extLst>
      </c:barChart>
      <c:catAx>
        <c:axId val="2078599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2078602848"/>
        <c:crosses val="autoZero"/>
        <c:auto val="1"/>
        <c:lblAlgn val="ctr"/>
        <c:lblOffset val="100"/>
        <c:noMultiLvlLbl val="0"/>
      </c:catAx>
      <c:valAx>
        <c:axId val="20786028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78599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1"/>
          <c:order val="1"/>
          <c:tx>
            <c:strRef>
              <c:f>Hoja13!$E$19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Hoja13!$C$20:$C$26</c:f>
              <c:strCache>
                <c:ptCount val="7"/>
                <c:pt idx="0">
                  <c:v>10 Exp. IV y RM</c:v>
                </c:pt>
                <c:pt idx="1">
                  <c:v>11 Exp. V Región</c:v>
                </c:pt>
                <c:pt idx="2">
                  <c:v>12 Exp. RM NorOriente</c:v>
                </c:pt>
                <c:pt idx="3">
                  <c:v>13 Exp. RM SurOriente</c:v>
                </c:pt>
                <c:pt idx="4">
                  <c:v>14 Exp. RM Centro Sur Poniente</c:v>
                </c:pt>
                <c:pt idx="5">
                  <c:v>15 Exp. Maule, Ñuble Conc.</c:v>
                </c:pt>
                <c:pt idx="6">
                  <c:v>16 Exp. Sur</c:v>
                </c:pt>
              </c:strCache>
            </c:strRef>
          </c:cat>
          <c:val>
            <c:numRef>
              <c:f>Hoja13!$E$20:$E$26</c:f>
              <c:numCache>
                <c:formatCode>General</c:formatCode>
                <c:ptCount val="7"/>
                <c:pt idx="0">
                  <c:v>4</c:v>
                </c:pt>
                <c:pt idx="1">
                  <c:v>4</c:v>
                </c:pt>
                <c:pt idx="2">
                  <c:v>1</c:v>
                </c:pt>
                <c:pt idx="3">
                  <c:v>3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A9-43DD-9FAB-EAA36E3ACA64}"/>
            </c:ext>
          </c:extLst>
        </c:ser>
        <c:ser>
          <c:idx val="2"/>
          <c:order val="2"/>
          <c:tx>
            <c:strRef>
              <c:f>Hoja13!$F$19</c:f>
              <c:strCache>
                <c:ptCount val="1"/>
                <c:pt idx="0">
                  <c:v>SI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Hoja13!$C$20:$C$26</c:f>
              <c:strCache>
                <c:ptCount val="7"/>
                <c:pt idx="0">
                  <c:v>10 Exp. IV y RM</c:v>
                </c:pt>
                <c:pt idx="1">
                  <c:v>11 Exp. V Región</c:v>
                </c:pt>
                <c:pt idx="2">
                  <c:v>12 Exp. RM NorOriente</c:v>
                </c:pt>
                <c:pt idx="3">
                  <c:v>13 Exp. RM SurOriente</c:v>
                </c:pt>
                <c:pt idx="4">
                  <c:v>14 Exp. RM Centro Sur Poniente</c:v>
                </c:pt>
                <c:pt idx="5">
                  <c:v>15 Exp. Maule, Ñuble Conc.</c:v>
                </c:pt>
                <c:pt idx="6">
                  <c:v>16 Exp. Sur</c:v>
                </c:pt>
              </c:strCache>
            </c:strRef>
          </c:cat>
          <c:val>
            <c:numRef>
              <c:f>Hoja13!$F$20:$F$26</c:f>
              <c:numCache>
                <c:formatCode>General</c:formatCode>
                <c:ptCount val="7"/>
                <c:pt idx="0">
                  <c:v>10</c:v>
                </c:pt>
                <c:pt idx="1">
                  <c:v>11</c:v>
                </c:pt>
                <c:pt idx="2">
                  <c:v>13</c:v>
                </c:pt>
                <c:pt idx="3">
                  <c:v>11</c:v>
                </c:pt>
                <c:pt idx="4">
                  <c:v>10</c:v>
                </c:pt>
                <c:pt idx="5">
                  <c:v>12</c:v>
                </c:pt>
                <c:pt idx="6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A9-43DD-9FAB-EAA36E3ACA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70095920"/>
        <c:axId val="207009640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Hoja13!$D$19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Hoja13!$C$20:$C$26</c15:sqref>
                        </c15:formulaRef>
                      </c:ext>
                    </c:extLst>
                    <c:strCache>
                      <c:ptCount val="7"/>
                      <c:pt idx="0">
                        <c:v>10 Exp. IV y RM</c:v>
                      </c:pt>
                      <c:pt idx="1">
                        <c:v>11 Exp. V Región</c:v>
                      </c:pt>
                      <c:pt idx="2">
                        <c:v>12 Exp. RM NorOriente</c:v>
                      </c:pt>
                      <c:pt idx="3">
                        <c:v>13 Exp. RM SurOriente</c:v>
                      </c:pt>
                      <c:pt idx="4">
                        <c:v>14 Exp. RM Centro Sur Poniente</c:v>
                      </c:pt>
                      <c:pt idx="5">
                        <c:v>15 Exp. Maule, Ñuble Conc.</c:v>
                      </c:pt>
                      <c:pt idx="6">
                        <c:v>16 Exp. Sur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Hoja13!$D$20:$D$26</c15:sqref>
                        </c15:formulaRef>
                      </c:ext>
                    </c:extLst>
                    <c:numCache>
                      <c:formatCode>General</c:formatCode>
                      <c:ptCount val="7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53A9-43DD-9FAB-EAA36E3ACA64}"/>
                  </c:ext>
                </c:extLst>
              </c15:ser>
            </c15:filteredBarSeries>
          </c:ext>
        </c:extLst>
      </c:barChart>
      <c:catAx>
        <c:axId val="20700959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2070096400"/>
        <c:crosses val="autoZero"/>
        <c:auto val="1"/>
        <c:lblAlgn val="ctr"/>
        <c:lblOffset val="100"/>
        <c:noMultiLvlLbl val="0"/>
      </c:catAx>
      <c:valAx>
        <c:axId val="20700964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70095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1"/>
          <c:order val="1"/>
          <c:tx>
            <c:strRef>
              <c:f>Hoja13!$E$32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Hoja13!$C$33:$C$43</c:f>
              <c:strCache>
                <c:ptCount val="11"/>
                <c:pt idx="0">
                  <c:v>810 Zona Norte </c:v>
                </c:pt>
                <c:pt idx="1">
                  <c:v>812 V Interior</c:v>
                </c:pt>
                <c:pt idx="2">
                  <c:v>813 V Costa</c:v>
                </c:pt>
                <c:pt idx="3">
                  <c:v>814 Santiago Norponiente</c:v>
                </c:pt>
                <c:pt idx="4">
                  <c:v>867 Centro Sur VI y VII</c:v>
                </c:pt>
                <c:pt idx="5">
                  <c:v>868 Zona Maule</c:v>
                </c:pt>
                <c:pt idx="6">
                  <c:v>869 Centro VII y VIII</c:v>
                </c:pt>
                <c:pt idx="7">
                  <c:v>870 Centro VIII y Ñuble</c:v>
                </c:pt>
                <c:pt idx="8">
                  <c:v>872 Sur IX </c:v>
                </c:pt>
                <c:pt idx="9">
                  <c:v>873 Zona Sur</c:v>
                </c:pt>
                <c:pt idx="10">
                  <c:v>Zona Cero</c:v>
                </c:pt>
              </c:strCache>
            </c:strRef>
          </c:cat>
          <c:val>
            <c:numRef>
              <c:f>Hoja13!$E$33:$E$43</c:f>
              <c:numCache>
                <c:formatCode>General</c:formatCode>
                <c:ptCount val="11"/>
                <c:pt idx="1">
                  <c:v>1</c:v>
                </c:pt>
                <c:pt idx="2">
                  <c:v>4</c:v>
                </c:pt>
                <c:pt idx="3">
                  <c:v>1</c:v>
                </c:pt>
                <c:pt idx="6">
                  <c:v>2</c:v>
                </c:pt>
                <c:pt idx="7">
                  <c:v>4</c:v>
                </c:pt>
                <c:pt idx="9">
                  <c:v>2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0E-4894-9F4C-1179D6E4A4B7}"/>
            </c:ext>
          </c:extLst>
        </c:ser>
        <c:ser>
          <c:idx val="2"/>
          <c:order val="2"/>
          <c:tx>
            <c:strRef>
              <c:f>Hoja13!$F$32</c:f>
              <c:strCache>
                <c:ptCount val="1"/>
                <c:pt idx="0">
                  <c:v>SI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Hoja13!$C$33:$C$43</c:f>
              <c:strCache>
                <c:ptCount val="11"/>
                <c:pt idx="0">
                  <c:v>810 Zona Norte </c:v>
                </c:pt>
                <c:pt idx="1">
                  <c:v>812 V Interior</c:v>
                </c:pt>
                <c:pt idx="2">
                  <c:v>813 V Costa</c:v>
                </c:pt>
                <c:pt idx="3">
                  <c:v>814 Santiago Norponiente</c:v>
                </c:pt>
                <c:pt idx="4">
                  <c:v>867 Centro Sur VI y VII</c:v>
                </c:pt>
                <c:pt idx="5">
                  <c:v>868 Zona Maule</c:v>
                </c:pt>
                <c:pt idx="6">
                  <c:v>869 Centro VII y VIII</c:v>
                </c:pt>
                <c:pt idx="7">
                  <c:v>870 Centro VIII y Ñuble</c:v>
                </c:pt>
                <c:pt idx="8">
                  <c:v>872 Sur IX </c:v>
                </c:pt>
                <c:pt idx="9">
                  <c:v>873 Zona Sur</c:v>
                </c:pt>
                <c:pt idx="10">
                  <c:v>Zona Cero</c:v>
                </c:pt>
              </c:strCache>
            </c:strRef>
          </c:cat>
          <c:val>
            <c:numRef>
              <c:f>Hoja13!$F$33:$F$43</c:f>
              <c:numCache>
                <c:formatCode>General</c:formatCode>
                <c:ptCount val="11"/>
                <c:pt idx="0">
                  <c:v>10</c:v>
                </c:pt>
                <c:pt idx="1">
                  <c:v>8</c:v>
                </c:pt>
                <c:pt idx="2">
                  <c:v>9</c:v>
                </c:pt>
                <c:pt idx="3">
                  <c:v>13</c:v>
                </c:pt>
                <c:pt idx="4">
                  <c:v>11</c:v>
                </c:pt>
                <c:pt idx="5">
                  <c:v>10</c:v>
                </c:pt>
                <c:pt idx="6">
                  <c:v>8</c:v>
                </c:pt>
                <c:pt idx="7">
                  <c:v>6</c:v>
                </c:pt>
                <c:pt idx="8">
                  <c:v>13</c:v>
                </c:pt>
                <c:pt idx="9">
                  <c:v>10</c:v>
                </c:pt>
                <c:pt idx="10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0E-4894-9F4C-1179D6E4A4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50582048"/>
        <c:axId val="135058060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Hoja13!$D$32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Hoja13!$C$33:$C$43</c15:sqref>
                        </c15:formulaRef>
                      </c:ext>
                    </c:extLst>
                    <c:strCache>
                      <c:ptCount val="11"/>
                      <c:pt idx="0">
                        <c:v>810 Zona Norte </c:v>
                      </c:pt>
                      <c:pt idx="1">
                        <c:v>812 V Interior</c:v>
                      </c:pt>
                      <c:pt idx="2">
                        <c:v>813 V Costa</c:v>
                      </c:pt>
                      <c:pt idx="3">
                        <c:v>814 Santiago Norponiente</c:v>
                      </c:pt>
                      <c:pt idx="4">
                        <c:v>867 Centro Sur VI y VII</c:v>
                      </c:pt>
                      <c:pt idx="5">
                        <c:v>868 Zona Maule</c:v>
                      </c:pt>
                      <c:pt idx="6">
                        <c:v>869 Centro VII y VIII</c:v>
                      </c:pt>
                      <c:pt idx="7">
                        <c:v>870 Centro VIII y Ñuble</c:v>
                      </c:pt>
                      <c:pt idx="8">
                        <c:v>872 Sur IX </c:v>
                      </c:pt>
                      <c:pt idx="9">
                        <c:v>873 Zona Sur</c:v>
                      </c:pt>
                      <c:pt idx="10">
                        <c:v>Zona Cero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Hoja13!$D$33:$D$43</c15:sqref>
                        </c15:formulaRef>
                      </c:ext>
                    </c:extLst>
                    <c:numCache>
                      <c:formatCode>General</c:formatCode>
                      <c:ptCount val="11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0D0E-4894-9F4C-1179D6E4A4B7}"/>
                  </c:ext>
                </c:extLst>
              </c15:ser>
            </c15:filteredBarSeries>
          </c:ext>
        </c:extLst>
      </c:barChart>
      <c:catAx>
        <c:axId val="1350582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350580608"/>
        <c:crosses val="autoZero"/>
        <c:auto val="1"/>
        <c:lblAlgn val="ctr"/>
        <c:lblOffset val="100"/>
        <c:noMultiLvlLbl val="0"/>
      </c:catAx>
      <c:valAx>
        <c:axId val="13505806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50582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Hoja13!$D$48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Hoja13!$C$49:$C$59</c:f>
              <c:numCache>
                <c:formatCode>General</c:formatCode>
                <c:ptCount val="11"/>
                <c:pt idx="0">
                  <c:v>19</c:v>
                </c:pt>
                <c:pt idx="1">
                  <c:v>68</c:v>
                </c:pt>
                <c:pt idx="2">
                  <c:v>159</c:v>
                </c:pt>
                <c:pt idx="3">
                  <c:v>453</c:v>
                </c:pt>
                <c:pt idx="4">
                  <c:v>513</c:v>
                </c:pt>
                <c:pt idx="5">
                  <c:v>939</c:v>
                </c:pt>
                <c:pt idx="6">
                  <c:v>959</c:v>
                </c:pt>
                <c:pt idx="7">
                  <c:v>970</c:v>
                </c:pt>
                <c:pt idx="8">
                  <c:v>977</c:v>
                </c:pt>
                <c:pt idx="9">
                  <c:v>982</c:v>
                </c:pt>
                <c:pt idx="10">
                  <c:v>990</c:v>
                </c:pt>
              </c:numCache>
            </c:numRef>
          </c:cat>
          <c:val>
            <c:numRef>
              <c:f>Hoja13!$D$49:$D$59</c:f>
              <c:numCache>
                <c:formatCode>General</c:formatCode>
                <c:ptCount val="11"/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92-44C3-809E-1735C8D729C4}"/>
            </c:ext>
          </c:extLst>
        </c:ser>
        <c:ser>
          <c:idx val="1"/>
          <c:order val="1"/>
          <c:tx>
            <c:strRef>
              <c:f>Hoja13!$E$48</c:f>
              <c:strCache>
                <c:ptCount val="1"/>
                <c:pt idx="0">
                  <c:v>SI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Hoja13!$C$49:$C$59</c:f>
              <c:numCache>
                <c:formatCode>General</c:formatCode>
                <c:ptCount val="11"/>
                <c:pt idx="0">
                  <c:v>19</c:v>
                </c:pt>
                <c:pt idx="1">
                  <c:v>68</c:v>
                </c:pt>
                <c:pt idx="2">
                  <c:v>159</c:v>
                </c:pt>
                <c:pt idx="3">
                  <c:v>453</c:v>
                </c:pt>
                <c:pt idx="4">
                  <c:v>513</c:v>
                </c:pt>
                <c:pt idx="5">
                  <c:v>939</c:v>
                </c:pt>
                <c:pt idx="6">
                  <c:v>959</c:v>
                </c:pt>
                <c:pt idx="7">
                  <c:v>970</c:v>
                </c:pt>
                <c:pt idx="8">
                  <c:v>977</c:v>
                </c:pt>
                <c:pt idx="9">
                  <c:v>982</c:v>
                </c:pt>
                <c:pt idx="10">
                  <c:v>990</c:v>
                </c:pt>
              </c:numCache>
            </c:numRef>
          </c:cat>
          <c:val>
            <c:numRef>
              <c:f>Hoja13!$E$49:$E$59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92-44C3-809E-1735C8D729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22482176"/>
        <c:axId val="2022478336"/>
      </c:barChart>
      <c:catAx>
        <c:axId val="20224821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2022478336"/>
        <c:crosses val="autoZero"/>
        <c:auto val="1"/>
        <c:lblAlgn val="ctr"/>
        <c:lblOffset val="100"/>
        <c:noMultiLvlLbl val="0"/>
      </c:catAx>
      <c:valAx>
        <c:axId val="20224783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22482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10B05-0C35-B049-A406-BE966B5C447B}" type="datetimeFigureOut">
              <a:rPr lang="es-CL" smtClean="0"/>
              <a:t>02-10-2024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F6EF5-9B34-3A4F-A468-0C05E04AB3D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8049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F6EF5-9B34-3A4F-A468-0C05E04AB3DE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6730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112B63-C3BD-E04B-939E-34D1C8110708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44849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112B63-C3BD-E04B-939E-34D1C8110708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99952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112B63-C3BD-E04B-939E-34D1C8110708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38607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F6EF5-9B34-3A4F-A468-0C05E04AB3DE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95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2C390A-3792-5140-B29B-DB0EA795E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F35ADA-356D-C04F-8F2C-3FB0B20F3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05C7C3-3388-454C-80B1-A855315C2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B0A6-EE53-DC48-9885-337C94916DF6}" type="datetimeFigureOut">
              <a:rPr lang="es-CL" smtClean="0"/>
              <a:t>02-10-2024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1CB539-F910-8542-A731-08A5FA6B9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1F48D1-F546-A04C-8425-78A26A88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A471-5CBE-EA46-8332-A5EAFEFF16F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8202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9E748-1062-9D46-AE44-7D4180CFA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2BBDF7-C19F-9046-BB60-1F29AC570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F9A61F-7229-BF46-B0BD-12C524D6C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B0A6-EE53-DC48-9885-337C94916DF6}" type="datetimeFigureOut">
              <a:rPr lang="es-CL" smtClean="0"/>
              <a:t>02-10-2024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121DB7-41AA-6E4A-A396-AFA287E5B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DAFF04-D58D-3D43-ADC7-0723FE624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A471-5CBE-EA46-8332-A5EAFEFF16F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9337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2515BA-8E9C-3744-9F0E-216021E3B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42694B-BFB2-B443-B316-0F0185F5F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49F6BD-7704-C741-B599-10CF2F236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B0A6-EE53-DC48-9885-337C94916DF6}" type="datetimeFigureOut">
              <a:rPr lang="es-CL" smtClean="0"/>
              <a:t>02-10-2024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EE05BC-A093-8241-A493-1B97CEB08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947A65-CA66-D840-B85E-690CE5F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A471-5CBE-EA46-8332-A5EAFEFF16F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375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4418D0-3931-8A47-9727-B27CD89EF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51ECFF-0895-9D45-A2D3-10B8528C6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F2A780-676E-E94C-B34F-890F69286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6B6236-3864-5B44-91EE-4A648E769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B0A6-EE53-DC48-9885-337C94916DF6}" type="datetimeFigureOut">
              <a:rPr lang="es-CL" smtClean="0"/>
              <a:t>02-10-2024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140DC0-64CF-6A4A-B2C4-2F653C394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DBDEEE-B1BF-EA44-AEF3-BB6EC5647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A471-5CBE-EA46-8332-A5EAFEFF16F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5179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8BF55-C765-CD49-80A0-C3547843E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3144AF-32F5-3942-BCD7-8FDCC2988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A39BB6-1223-CA43-9F82-11FE292BC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39DBE34-73C1-2543-A593-38EC787B2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ED67D69-9293-A644-8285-71244ADD5C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61F945A-B695-8241-97C6-BB620E96F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B0A6-EE53-DC48-9885-337C94916DF6}" type="datetimeFigureOut">
              <a:rPr lang="es-CL" smtClean="0"/>
              <a:t>02-10-2024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E641BC5-4C21-504E-8F55-47B376396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468438C-FF02-6D41-9F01-1985623F4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A471-5CBE-EA46-8332-A5EAFEFF16F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82307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931066-97B2-1A4F-8D0B-563A60AA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700D56C-7D27-E343-A9B0-05121AF61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B0A6-EE53-DC48-9885-337C94916DF6}" type="datetimeFigureOut">
              <a:rPr lang="es-CL" smtClean="0"/>
              <a:t>02-10-2024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9D1FE5-BAAC-1E40-93CE-358E36C9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D644F0A-843F-A146-B3A3-DF6C3B450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A471-5CBE-EA46-8332-A5EAFEFF16F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5129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00E0F53-6F4E-454B-B84B-119E84ED1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B0A6-EE53-DC48-9885-337C94916DF6}" type="datetimeFigureOut">
              <a:rPr lang="es-CL" smtClean="0"/>
              <a:t>02-10-2024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B3279E-2936-4343-94E7-D41943C2A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351521-93AD-D748-8747-BEAE01100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A471-5CBE-EA46-8332-A5EAFEFF16F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3679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5F37D-6A1D-5244-B617-DF3017982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C77C62-F98F-9E4A-9CD2-F8BC9F125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8A833E-A505-784D-A2EB-A08F12189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A1F93C-AA68-0A4F-9967-C6C90548A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B0A6-EE53-DC48-9885-337C94916DF6}" type="datetimeFigureOut">
              <a:rPr lang="es-CL" smtClean="0"/>
              <a:t>02-10-2024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01A48D7-35F2-3A42-98AD-C77B54023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063736-7578-BE47-A314-C1B98BB7E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A471-5CBE-EA46-8332-A5EAFEFF16F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68344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7D593-3191-B44C-8412-884FD3525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2769536-FBD3-1047-99BA-446F1B6130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C69383-63CE-3842-A05C-B7DF85B15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DEC5CD-58A3-1D4C-8EE1-D316F458C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B0A6-EE53-DC48-9885-337C94916DF6}" type="datetimeFigureOut">
              <a:rPr lang="es-CL" smtClean="0"/>
              <a:t>02-10-2024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47E7B0-36BE-0E4B-BCDC-1C4BA7A2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FFE3D2-79CC-C243-9760-9011E65F0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A471-5CBE-EA46-8332-A5EAFEFF16F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1723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01F49C-C6E0-5843-AF41-E8AD38672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748699-6D37-4D4A-B888-A6580E32A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EF8414-459F-6746-A1A0-8E5D07675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B0A6-EE53-DC48-9885-337C94916DF6}" type="datetimeFigureOut">
              <a:rPr lang="es-CL" smtClean="0"/>
              <a:t>02-10-2024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93AD6D-AD1C-CF4C-ADFA-996C04F6C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48DE91-7B4F-1944-A560-6A25ED5A6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A471-5CBE-EA46-8332-A5EAFEFF16F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98696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61C5617-CA08-BE4D-9CE4-394092EB9C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FC8B9B-288C-8D49-961D-2AD2D1378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06078D-F77B-6348-B9FE-97A27F2DC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B0A6-EE53-DC48-9885-337C94916DF6}" type="datetimeFigureOut">
              <a:rPr lang="es-CL" smtClean="0"/>
              <a:t>02-10-2024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3CB807-2723-2C4C-A964-571E8622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E29939-7043-EC45-AAAF-B1FF7C992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A471-5CBE-EA46-8332-A5EAFEFF16F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6061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37BC3A8B-D34F-6747-AF86-493657D608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459637" cy="6857999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>
              <a:defRPr sz="1400" baseline="0"/>
            </a:lvl1pPr>
          </a:lstStyle>
          <a:p>
            <a:r>
              <a:rPr lang="es-CL" dirty="0"/>
              <a:t>Click en el icono para agregar imagen</a:t>
            </a:r>
          </a:p>
        </p:txBody>
      </p:sp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D270D7A7-C83D-D144-B3AE-27C79404122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20238" y="1893888"/>
            <a:ext cx="1436687" cy="1436687"/>
          </a:xfrm>
          <a:prstGeom prst="ellipse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s-CL" dirty="0"/>
              <a:t>foto</a:t>
            </a:r>
          </a:p>
        </p:txBody>
      </p:sp>
      <p:sp>
        <p:nvSpPr>
          <p:cNvPr id="19" name="Marcador de posición de imagen 17">
            <a:extLst>
              <a:ext uri="{FF2B5EF4-FFF2-40B4-BE49-F238E27FC236}">
                <a16:creationId xmlns:a16="http://schemas.microsoft.com/office/drawing/2014/main" id="{4A58D1C6-1DE6-0741-B804-99711F29173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552895" y="3673702"/>
            <a:ext cx="1436687" cy="1436687"/>
          </a:xfrm>
          <a:prstGeom prst="ellipse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s-CL" dirty="0"/>
              <a:t>foto</a:t>
            </a:r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6085A477-8161-6840-9769-398CAADF52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900" y="660400"/>
            <a:ext cx="2565400" cy="711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TITULO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23432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5FBF5D-6B4E-864B-B023-B511F8CCC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2CE17D-DFD2-9E42-844D-5B85DF86A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33BE86-1448-F840-B957-046A769CB1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8B0A6-EE53-DC48-9885-337C94916DF6}" type="datetimeFigureOut">
              <a:rPr lang="es-CL" smtClean="0"/>
              <a:t>02-10-2024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47BDFF-03A3-314D-A55C-9A827D79F3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7438EC-4ECE-A146-9616-238FCA832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4A471-5CBE-EA46-8332-A5EAFEFF16F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8279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chart" Target="../charts/chart3.xml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chart" Target="../charts/chart1.xml"/><Relationship Id="rId5" Type="http://schemas.openxmlformats.org/officeDocument/2006/relationships/image" Target="../media/image5.png"/><Relationship Id="rId15" Type="http://schemas.openxmlformats.org/officeDocument/2006/relationships/chart" Target="../charts/chart5.xml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jpeg"/><Relationship Id="rId14" Type="http://schemas.openxmlformats.org/officeDocument/2006/relationships/chart" Target="../charts/char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9.jpe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4F37718D-7517-4E48-9C94-259DA7410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276" y="0"/>
            <a:ext cx="8355724" cy="1297648"/>
          </a:xfrm>
          <a:prstGeom prst="rect">
            <a:avLst/>
          </a:prstGeom>
        </p:spPr>
      </p:pic>
      <p:pic>
        <p:nvPicPr>
          <p:cNvPr id="13" name="Imagen 12" descr="Imagen que contiene Icono&#10;&#10;Descripción generada automáticamente">
            <a:extLst>
              <a:ext uri="{FF2B5EF4-FFF2-40B4-BE49-F238E27FC236}">
                <a16:creationId xmlns:a16="http://schemas.microsoft.com/office/drawing/2014/main" id="{1B7F9A16-378F-0F4B-8BD5-97E41D7E5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8494"/>
            <a:ext cx="10195034" cy="6679505"/>
          </a:xfrm>
          <a:prstGeom prst="rect">
            <a:avLst/>
          </a:prstGeom>
        </p:spPr>
      </p:pic>
      <p:pic>
        <p:nvPicPr>
          <p:cNvPr id="7" name="Imagen 6" descr="Imagen que contiene reloj&#10;&#10;Descripción generada automáticamente">
            <a:extLst>
              <a:ext uri="{FF2B5EF4-FFF2-40B4-BE49-F238E27FC236}">
                <a16:creationId xmlns:a16="http://schemas.microsoft.com/office/drawing/2014/main" id="{A959CCAA-80F5-314B-9954-B5341906E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641" y="-131130"/>
            <a:ext cx="477093" cy="85047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9FE988E-AC9E-444C-B8B7-B6465D8AA5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975175"/>
            <a:ext cx="12192000" cy="882825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5F7E3F4A-2521-E942-8EE1-C204A5623034}"/>
              </a:ext>
            </a:extLst>
          </p:cNvPr>
          <p:cNvSpPr txBox="1"/>
          <p:nvPr/>
        </p:nvSpPr>
        <p:spPr>
          <a:xfrm>
            <a:off x="2448176" y="2553628"/>
            <a:ext cx="959193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800" b="1" dirty="0">
                <a:solidFill>
                  <a:srgbClr val="1273CC"/>
                </a:solidFill>
                <a:latin typeface="Bogle Black" panose="020B0503020203060203" pitchFamily="34" charset="77"/>
              </a:rPr>
              <a:t>GESTIÓN COMITES PARITARIOS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2982062-BB5B-3746-8CB0-987E780015B4}"/>
              </a:ext>
            </a:extLst>
          </p:cNvPr>
          <p:cNvSpPr txBox="1"/>
          <p:nvPr/>
        </p:nvSpPr>
        <p:spPr>
          <a:xfrm>
            <a:off x="2448176" y="3225858"/>
            <a:ext cx="7647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i="1" dirty="0">
                <a:solidFill>
                  <a:srgbClr val="1273CC"/>
                </a:solidFill>
                <a:latin typeface="Bogle" panose="020B0503020203060203" pitchFamily="34" charset="77"/>
              </a:rPr>
              <a:t>Comité Multas – Avance 30.09.2024</a:t>
            </a:r>
          </a:p>
        </p:txBody>
      </p:sp>
      <p:sp>
        <p:nvSpPr>
          <p:cNvPr id="2" name="Rectángulo 1"/>
          <p:cNvSpPr/>
          <p:nvPr/>
        </p:nvSpPr>
        <p:spPr>
          <a:xfrm>
            <a:off x="489667" y="6519627"/>
            <a:ext cx="196932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s-CL" sz="1100" b="1" i="1" dirty="0">
                <a:solidFill>
                  <a:prstClr val="white"/>
                </a:solidFill>
                <a:latin typeface="Bogle" panose="020B0503020203060203" pitchFamily="34" charset="77"/>
              </a:rPr>
              <a:t>EHS Compliance</a:t>
            </a:r>
          </a:p>
        </p:txBody>
      </p:sp>
    </p:spTree>
    <p:extLst>
      <p:ext uri="{BB962C8B-B14F-4D97-AF65-F5344CB8AC3E}">
        <p14:creationId xmlns:p14="http://schemas.microsoft.com/office/powerpoint/2010/main" val="1873124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4E50842A-A538-5E43-912B-FE69B3CF0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161" y="-2618"/>
            <a:ext cx="6169572" cy="958138"/>
          </a:xfrm>
          <a:prstGeom prst="rect">
            <a:avLst/>
          </a:prstGeom>
        </p:spPr>
      </p:pic>
      <p:pic>
        <p:nvPicPr>
          <p:cNvPr id="17" name="Imagen 16" descr="Imagen que contiene reloj&#10;&#10;Descripción generada automáticamente">
            <a:extLst>
              <a:ext uri="{FF2B5EF4-FFF2-40B4-BE49-F238E27FC236}">
                <a16:creationId xmlns:a16="http://schemas.microsoft.com/office/drawing/2014/main" id="{131A473F-27EF-D347-9D0E-1394D021D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41" y="-131130"/>
            <a:ext cx="477093" cy="850471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1317918" y="345759"/>
            <a:ext cx="4422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Bogle" panose="020B0503020203060203" pitchFamily="34" charset="0"/>
              </a:rPr>
              <a:t>RESUMEN EJECUTIVO CPHS – AVANCE 30.09 </a:t>
            </a:r>
            <a:endParaRPr lang="en-US" b="1" dirty="0">
              <a:solidFill>
                <a:schemeClr val="accent1"/>
              </a:solidFill>
              <a:latin typeface="Bogle" panose="020B0503020203060203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8863B79-F6BB-43FD-8022-2D40889CDABD}"/>
              </a:ext>
            </a:extLst>
          </p:cNvPr>
          <p:cNvSpPr/>
          <p:nvPr/>
        </p:nvSpPr>
        <p:spPr>
          <a:xfrm>
            <a:off x="4701834" y="953810"/>
            <a:ext cx="8884226" cy="56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400" b="1" dirty="0">
                <a:solidFill>
                  <a:schemeClr val="accent1"/>
                </a:solidFill>
                <a:latin typeface="Bogle" panose="020B0503020203060203" pitchFamily="34" charset="0"/>
              </a:rPr>
              <a:t>PARTICIPACIÓN GTES. EN REUNION </a:t>
            </a:r>
          </a:p>
          <a:p>
            <a:pPr lvl="0">
              <a:spcBef>
                <a:spcPct val="20000"/>
              </a:spcBef>
              <a:defRPr/>
            </a:pPr>
            <a:endParaRPr lang="en-US" sz="1400" b="1" dirty="0">
              <a:solidFill>
                <a:schemeClr val="accent1"/>
              </a:solidFill>
              <a:latin typeface="Bogle" panose="020B0503020203060203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D44C13E-7469-4E7A-A631-F5C8466D5036}"/>
              </a:ext>
            </a:extLst>
          </p:cNvPr>
          <p:cNvSpPr txBox="1"/>
          <p:nvPr/>
        </p:nvSpPr>
        <p:spPr>
          <a:xfrm>
            <a:off x="0" y="968781"/>
            <a:ext cx="43291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accent1"/>
                </a:solidFill>
                <a:latin typeface="Bogle" panose="020B0503020203060203" pitchFamily="34" charset="0"/>
              </a:rPr>
              <a:t>REUNIÓN MENSUAL COMITÉ PARITARIO (SEPTIEMBRE)  </a:t>
            </a:r>
            <a:endParaRPr lang="es-ES" sz="1400" b="1" dirty="0">
              <a:solidFill>
                <a:schemeClr val="accent1"/>
              </a:solidFill>
              <a:latin typeface="Bogle" panose="020B050302020306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903DDC1-4DA8-471C-BB11-415D90C2F288}"/>
              </a:ext>
            </a:extLst>
          </p:cNvPr>
          <p:cNvSpPr txBox="1"/>
          <p:nvPr/>
        </p:nvSpPr>
        <p:spPr>
          <a:xfrm>
            <a:off x="308746" y="1460194"/>
            <a:ext cx="424301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1"/>
                </a:solidFill>
                <a:latin typeface="Bogle" panose="020B0503020203060203" pitchFamily="34" charset="0"/>
              </a:rPr>
              <a:t>100% CUMPLIMIENTO (SEPTIEMBRE) </a:t>
            </a:r>
            <a:endParaRPr lang="es-ES" b="1" dirty="0">
              <a:solidFill>
                <a:schemeClr val="accent1"/>
              </a:solidFill>
              <a:latin typeface="Bogle" panose="020B0503020203060203" pitchFamily="34" charset="0"/>
            </a:endParaRPr>
          </a:p>
        </p:txBody>
      </p:sp>
      <p:pic>
        <p:nvPicPr>
          <p:cNvPr id="38" name="Gráfico 4">
            <a:extLst>
              <a:ext uri="{FF2B5EF4-FFF2-40B4-BE49-F238E27FC236}">
                <a16:creationId xmlns:a16="http://schemas.microsoft.com/office/drawing/2014/main" id="{31554372-077B-4753-8EE9-46754BB065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25056" y="4343870"/>
            <a:ext cx="678824" cy="312825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05D84486-896C-4B28-AF85-858B917AE19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1924" t="21382" r="13192" b="21142"/>
          <a:stretch/>
        </p:blipFill>
        <p:spPr>
          <a:xfrm>
            <a:off x="9121759" y="1423975"/>
            <a:ext cx="611567" cy="273813"/>
          </a:xfrm>
          <a:prstGeom prst="rect">
            <a:avLst/>
          </a:prstGeom>
        </p:spPr>
      </p:pic>
      <p:pic>
        <p:nvPicPr>
          <p:cNvPr id="40" name="Imagen 39" descr="Logotipo&#10;&#10;Descripción generada automáticamente">
            <a:extLst>
              <a:ext uri="{FF2B5EF4-FFF2-40B4-BE49-F238E27FC236}">
                <a16:creationId xmlns:a16="http://schemas.microsoft.com/office/drawing/2014/main" id="{DD43A90D-A746-4939-854A-C9CAD757098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1938" t="24109" r="11845" b="26775"/>
          <a:stretch/>
        </p:blipFill>
        <p:spPr>
          <a:xfrm>
            <a:off x="4897841" y="1395147"/>
            <a:ext cx="733254" cy="275639"/>
          </a:xfrm>
          <a:prstGeom prst="rect">
            <a:avLst/>
          </a:prstGeom>
        </p:spPr>
      </p:pic>
      <p:pic>
        <p:nvPicPr>
          <p:cNvPr id="41" name="Imagen 40" descr="Imagen que contiene dibujo&#10;&#10;Descripción generada automáticamente">
            <a:extLst>
              <a:ext uri="{FF2B5EF4-FFF2-40B4-BE49-F238E27FC236}">
                <a16:creationId xmlns:a16="http://schemas.microsoft.com/office/drawing/2014/main" id="{58FEA2B6-9BDE-4457-B537-2CC62313C05A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80392" y="4368833"/>
            <a:ext cx="684310" cy="307710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9C9BB8D-F491-4B19-A96B-14034A750B8D}"/>
              </a:ext>
            </a:extLst>
          </p:cNvPr>
          <p:cNvCxnSpPr/>
          <p:nvPr/>
        </p:nvCxnSpPr>
        <p:spPr>
          <a:xfrm>
            <a:off x="4687050" y="818401"/>
            <a:ext cx="0" cy="5962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id="{B288E7FF-6459-405C-BB08-58AA646FC104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89566" t="40386" b="38926"/>
          <a:stretch/>
        </p:blipFill>
        <p:spPr>
          <a:xfrm>
            <a:off x="7779378" y="771181"/>
            <a:ext cx="580448" cy="689013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676AEB02-AEA4-4F09-851A-63E959554F96}"/>
              </a:ext>
            </a:extLst>
          </p:cNvPr>
          <p:cNvSpPr txBox="1"/>
          <p:nvPr/>
        </p:nvSpPr>
        <p:spPr>
          <a:xfrm>
            <a:off x="9779576" y="1398695"/>
            <a:ext cx="226942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CL" sz="1600" b="1" dirty="0">
                <a:solidFill>
                  <a:schemeClr val="accent1"/>
                </a:solidFill>
                <a:latin typeface="Bogle" panose="020B0503020203060203" pitchFamily="34" charset="0"/>
              </a:rPr>
              <a:t>86% </a:t>
            </a:r>
            <a:r>
              <a:rPr lang="es-CL" sz="1600" b="1" dirty="0" err="1">
                <a:solidFill>
                  <a:schemeClr val="accent1"/>
                </a:solidFill>
                <a:latin typeface="Bogle" panose="020B0503020203060203" pitchFamily="34" charset="0"/>
              </a:rPr>
              <a:t>Ago</a:t>
            </a:r>
            <a:r>
              <a:rPr lang="es-CL" sz="1600" b="1" dirty="0">
                <a:solidFill>
                  <a:schemeClr val="accent1"/>
                </a:solidFill>
                <a:latin typeface="Bogle" panose="020B0503020203060203" pitchFamily="34" charset="0"/>
              </a:rPr>
              <a:t> / 87% </a:t>
            </a:r>
            <a:r>
              <a:rPr lang="es-CL" sz="1600" b="1" dirty="0" err="1">
                <a:solidFill>
                  <a:schemeClr val="accent1"/>
                </a:solidFill>
                <a:latin typeface="Bogle" panose="020B0503020203060203" pitchFamily="34" charset="0"/>
              </a:rPr>
              <a:t>Sep</a:t>
            </a:r>
            <a:r>
              <a:rPr lang="es-CL" sz="1600" b="1" dirty="0">
                <a:solidFill>
                  <a:schemeClr val="accent1"/>
                </a:solidFill>
                <a:latin typeface="Bogle" panose="020B0503020203060203" pitchFamily="34" charset="0"/>
              </a:rPr>
              <a:t> </a:t>
            </a:r>
            <a:endParaRPr lang="es-ES" sz="1600" b="1" dirty="0">
              <a:solidFill>
                <a:schemeClr val="accent1"/>
              </a:solidFill>
              <a:latin typeface="Bogle" panose="020B0503020203060203" pitchFamily="34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14A2066-C15D-4F09-88C4-9126210A3A8B}"/>
              </a:ext>
            </a:extLst>
          </p:cNvPr>
          <p:cNvSpPr txBox="1"/>
          <p:nvPr/>
        </p:nvSpPr>
        <p:spPr>
          <a:xfrm>
            <a:off x="9690412" y="4345741"/>
            <a:ext cx="230801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CL" sz="1600" b="1" dirty="0">
                <a:solidFill>
                  <a:schemeClr val="accent1"/>
                </a:solidFill>
                <a:latin typeface="Bogle" panose="020B0503020203060203" pitchFamily="34" charset="0"/>
              </a:rPr>
              <a:t>100% </a:t>
            </a:r>
            <a:r>
              <a:rPr lang="es-CL" sz="1600" b="1" dirty="0" err="1">
                <a:solidFill>
                  <a:schemeClr val="accent1"/>
                </a:solidFill>
                <a:latin typeface="Bogle" panose="020B0503020203060203" pitchFamily="34" charset="0"/>
              </a:rPr>
              <a:t>Ago</a:t>
            </a:r>
            <a:r>
              <a:rPr lang="es-CL" sz="1600" b="1" dirty="0">
                <a:solidFill>
                  <a:schemeClr val="accent1"/>
                </a:solidFill>
                <a:latin typeface="Bogle" panose="020B0503020203060203" pitchFamily="34" charset="0"/>
              </a:rPr>
              <a:t> / 91% </a:t>
            </a:r>
            <a:r>
              <a:rPr lang="es-CL" sz="1600" b="1" dirty="0" err="1">
                <a:solidFill>
                  <a:schemeClr val="accent1"/>
                </a:solidFill>
                <a:latin typeface="Bogle" panose="020B0503020203060203" pitchFamily="34" charset="0"/>
              </a:rPr>
              <a:t>Sep</a:t>
            </a:r>
            <a:r>
              <a:rPr lang="es-CL" sz="1600" b="1" dirty="0">
                <a:solidFill>
                  <a:schemeClr val="accent1"/>
                </a:solidFill>
                <a:latin typeface="Bogle" panose="020B0503020203060203" pitchFamily="34" charset="0"/>
              </a:rPr>
              <a:t> </a:t>
            </a:r>
            <a:endParaRPr lang="es-ES" sz="1600" b="1" dirty="0">
              <a:solidFill>
                <a:schemeClr val="accent1"/>
              </a:solidFill>
              <a:latin typeface="Bogle" panose="020B0503020203060203" pitchFamily="34" charset="0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1AB1C15F-C29E-4CDA-9BB0-D4721F4E3415}"/>
              </a:ext>
            </a:extLst>
          </p:cNvPr>
          <p:cNvSpPr txBox="1"/>
          <p:nvPr/>
        </p:nvSpPr>
        <p:spPr>
          <a:xfrm>
            <a:off x="5669467" y="4320163"/>
            <a:ext cx="230801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CL" sz="1600" b="1" dirty="0">
                <a:solidFill>
                  <a:schemeClr val="accent1"/>
                </a:solidFill>
                <a:latin typeface="Bogle" panose="020B0503020203060203" pitchFamily="34" charset="0"/>
              </a:rPr>
              <a:t>76% </a:t>
            </a:r>
            <a:r>
              <a:rPr lang="es-CL" sz="1600" b="1" dirty="0" err="1">
                <a:solidFill>
                  <a:schemeClr val="accent1"/>
                </a:solidFill>
                <a:latin typeface="Bogle" panose="020B0503020203060203" pitchFamily="34" charset="0"/>
              </a:rPr>
              <a:t>Ago</a:t>
            </a:r>
            <a:r>
              <a:rPr lang="es-CL" sz="1600" b="1" dirty="0">
                <a:solidFill>
                  <a:schemeClr val="accent1"/>
                </a:solidFill>
                <a:latin typeface="Bogle" panose="020B0503020203060203" pitchFamily="34" charset="0"/>
              </a:rPr>
              <a:t> / 83% </a:t>
            </a:r>
            <a:r>
              <a:rPr lang="es-CL" sz="1600" b="1" dirty="0" err="1">
                <a:solidFill>
                  <a:schemeClr val="accent1"/>
                </a:solidFill>
                <a:latin typeface="Bogle" panose="020B0503020203060203" pitchFamily="34" charset="0"/>
              </a:rPr>
              <a:t>Sep</a:t>
            </a:r>
            <a:r>
              <a:rPr lang="es-CL" sz="1600" b="1" dirty="0">
                <a:solidFill>
                  <a:schemeClr val="accent1"/>
                </a:solidFill>
                <a:latin typeface="Bogle" panose="020B0503020203060203" pitchFamily="34" charset="0"/>
              </a:rPr>
              <a:t> </a:t>
            </a:r>
            <a:endParaRPr lang="es-ES" sz="1600" b="1" dirty="0">
              <a:solidFill>
                <a:schemeClr val="accent1"/>
              </a:solidFill>
              <a:latin typeface="Bogle" panose="020B0503020203060203" pitchFamily="34" charset="0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535A1FA0-7321-46C8-8A22-170ABDF93FE7}"/>
              </a:ext>
            </a:extLst>
          </p:cNvPr>
          <p:cNvSpPr txBox="1"/>
          <p:nvPr/>
        </p:nvSpPr>
        <p:spPr>
          <a:xfrm>
            <a:off x="5669467" y="1395147"/>
            <a:ext cx="227133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CL" sz="1600" b="1" dirty="0">
                <a:solidFill>
                  <a:schemeClr val="accent1"/>
                </a:solidFill>
                <a:latin typeface="Bogle" panose="020B0503020203060203" pitchFamily="34" charset="0"/>
              </a:rPr>
              <a:t>88% </a:t>
            </a:r>
            <a:r>
              <a:rPr lang="es-CL" sz="1600" b="1" dirty="0" err="1">
                <a:solidFill>
                  <a:schemeClr val="accent1"/>
                </a:solidFill>
                <a:latin typeface="Bogle" panose="020B0503020203060203" pitchFamily="34" charset="0"/>
              </a:rPr>
              <a:t>Ago</a:t>
            </a:r>
            <a:r>
              <a:rPr lang="es-CL" sz="1600" b="1" dirty="0">
                <a:solidFill>
                  <a:schemeClr val="accent1"/>
                </a:solidFill>
                <a:latin typeface="Bogle" panose="020B0503020203060203" pitchFamily="34" charset="0"/>
              </a:rPr>
              <a:t> / 85% </a:t>
            </a:r>
            <a:r>
              <a:rPr lang="es-CL" sz="1600" b="1" dirty="0" err="1">
                <a:solidFill>
                  <a:schemeClr val="accent1"/>
                </a:solidFill>
                <a:latin typeface="Bogle" panose="020B0503020203060203" pitchFamily="34" charset="0"/>
              </a:rPr>
              <a:t>Sep</a:t>
            </a:r>
            <a:r>
              <a:rPr lang="es-CL" sz="1600" b="1" dirty="0">
                <a:solidFill>
                  <a:schemeClr val="accent1"/>
                </a:solidFill>
                <a:latin typeface="Bogle" panose="020B0503020203060203" pitchFamily="34" charset="0"/>
              </a:rPr>
              <a:t> </a:t>
            </a:r>
            <a:endParaRPr lang="es-ES" sz="1600" b="1" dirty="0">
              <a:solidFill>
                <a:schemeClr val="accent1"/>
              </a:solidFill>
              <a:latin typeface="Bogle" panose="020B0503020203060203" pitchFamily="34" charset="0"/>
            </a:endParaRPr>
          </a:p>
        </p:txBody>
      </p:sp>
      <p:sp>
        <p:nvSpPr>
          <p:cNvPr id="22" name="Flecha: hacia arriba 21">
            <a:extLst>
              <a:ext uri="{FF2B5EF4-FFF2-40B4-BE49-F238E27FC236}">
                <a16:creationId xmlns:a16="http://schemas.microsoft.com/office/drawing/2014/main" id="{78C7623D-546E-4C94-491B-2C6B537304B8}"/>
              </a:ext>
            </a:extLst>
          </p:cNvPr>
          <p:cNvSpPr/>
          <p:nvPr/>
        </p:nvSpPr>
        <p:spPr>
          <a:xfrm>
            <a:off x="11727490" y="1362925"/>
            <a:ext cx="196919" cy="334863"/>
          </a:xfrm>
          <a:prstGeom prst="up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7D52E340-6EF4-E1BC-158E-60329A7D34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6640886"/>
              </p:ext>
            </p:extLst>
          </p:nvPr>
        </p:nvGraphicFramePr>
        <p:xfrm>
          <a:off x="104407" y="2020661"/>
          <a:ext cx="4507618" cy="25513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50895B44-0E33-A4F9-63B3-1239C95BC4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8291883"/>
              </p:ext>
            </p:extLst>
          </p:nvPr>
        </p:nvGraphicFramePr>
        <p:xfrm>
          <a:off x="4819338" y="1774144"/>
          <a:ext cx="3467100" cy="2228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12" name="Flecha: hacia arriba 11">
            <a:extLst>
              <a:ext uri="{FF2B5EF4-FFF2-40B4-BE49-F238E27FC236}">
                <a16:creationId xmlns:a16="http://schemas.microsoft.com/office/drawing/2014/main" id="{5B6596B9-2C4A-DDC5-E008-62F02B2F7831}"/>
              </a:ext>
            </a:extLst>
          </p:cNvPr>
          <p:cNvSpPr/>
          <p:nvPr/>
        </p:nvSpPr>
        <p:spPr>
          <a:xfrm rot="10800000">
            <a:off x="7660488" y="1387118"/>
            <a:ext cx="196919" cy="334863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E6AA166E-114A-7150-D668-D2C48B397C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2318293"/>
              </p:ext>
            </p:extLst>
          </p:nvPr>
        </p:nvGraphicFramePr>
        <p:xfrm>
          <a:off x="4762076" y="4684295"/>
          <a:ext cx="3771900" cy="2114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9" name="Flecha: hacia arriba 18">
            <a:extLst>
              <a:ext uri="{FF2B5EF4-FFF2-40B4-BE49-F238E27FC236}">
                <a16:creationId xmlns:a16="http://schemas.microsoft.com/office/drawing/2014/main" id="{D478A7AF-DAB1-7129-F457-1D58A7520414}"/>
              </a:ext>
            </a:extLst>
          </p:cNvPr>
          <p:cNvSpPr/>
          <p:nvPr/>
        </p:nvSpPr>
        <p:spPr>
          <a:xfrm>
            <a:off x="7660487" y="4267956"/>
            <a:ext cx="196919" cy="334863"/>
          </a:xfrm>
          <a:prstGeom prst="up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20" name="Gráfico 19">
            <a:extLst>
              <a:ext uri="{FF2B5EF4-FFF2-40B4-BE49-F238E27FC236}">
                <a16:creationId xmlns:a16="http://schemas.microsoft.com/office/drawing/2014/main" id="{0915B28C-83E2-4736-FF02-6A61AC06EB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8315674"/>
              </p:ext>
            </p:extLst>
          </p:nvPr>
        </p:nvGraphicFramePr>
        <p:xfrm>
          <a:off x="8139367" y="1762131"/>
          <a:ext cx="3878699" cy="23586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21" name="Flecha: hacia arriba 20">
            <a:extLst>
              <a:ext uri="{FF2B5EF4-FFF2-40B4-BE49-F238E27FC236}">
                <a16:creationId xmlns:a16="http://schemas.microsoft.com/office/drawing/2014/main" id="{53AE3A21-5E92-28BC-0CD5-20C200445060}"/>
              </a:ext>
            </a:extLst>
          </p:cNvPr>
          <p:cNvSpPr/>
          <p:nvPr/>
        </p:nvSpPr>
        <p:spPr>
          <a:xfrm rot="10800000">
            <a:off x="11653071" y="4315335"/>
            <a:ext cx="196919" cy="334863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27" name="Gráfico 26">
            <a:extLst>
              <a:ext uri="{FF2B5EF4-FFF2-40B4-BE49-F238E27FC236}">
                <a16:creationId xmlns:a16="http://schemas.microsoft.com/office/drawing/2014/main" id="{6580D1B8-0735-A281-943D-414D0BCE20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0281054"/>
              </p:ext>
            </p:extLst>
          </p:nvPr>
        </p:nvGraphicFramePr>
        <p:xfrm>
          <a:off x="8755069" y="4650198"/>
          <a:ext cx="3771900" cy="2289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</p:spTree>
    <p:extLst>
      <p:ext uri="{BB962C8B-B14F-4D97-AF65-F5344CB8AC3E}">
        <p14:creationId xmlns:p14="http://schemas.microsoft.com/office/powerpoint/2010/main" val="2244746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4E50842A-A538-5E43-912B-FE69B3CF0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946" y="0"/>
            <a:ext cx="6169572" cy="958138"/>
          </a:xfrm>
          <a:prstGeom prst="rect">
            <a:avLst/>
          </a:prstGeom>
        </p:spPr>
      </p:pic>
      <p:pic>
        <p:nvPicPr>
          <p:cNvPr id="17" name="Imagen 16" descr="Imagen que contiene reloj&#10;&#10;Descripción generada automáticamente">
            <a:extLst>
              <a:ext uri="{FF2B5EF4-FFF2-40B4-BE49-F238E27FC236}">
                <a16:creationId xmlns:a16="http://schemas.microsoft.com/office/drawing/2014/main" id="{131A473F-27EF-D347-9D0E-1394D021D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41" y="-131130"/>
            <a:ext cx="477093" cy="850471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1317918" y="345759"/>
            <a:ext cx="4422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Bogle" panose="020B0503020203060203" pitchFamily="34" charset="0"/>
              </a:rPr>
              <a:t>RESUMEN EJECUTIVO CPHS – AVANCE 30.09 </a:t>
            </a:r>
            <a:endParaRPr lang="en-US" b="1" dirty="0">
              <a:solidFill>
                <a:schemeClr val="accent1"/>
              </a:solidFill>
              <a:latin typeface="Bogle" panose="020B0503020203060203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8863B79-F6BB-43FD-8022-2D40889CDABD}"/>
              </a:ext>
            </a:extLst>
          </p:cNvPr>
          <p:cNvSpPr/>
          <p:nvPr/>
        </p:nvSpPr>
        <p:spPr>
          <a:xfrm>
            <a:off x="507406" y="1225643"/>
            <a:ext cx="8884226" cy="56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spcBef>
                <a:spcPct val="20000"/>
              </a:spcBef>
              <a:buClr>
                <a:srgbClr val="FFC000"/>
              </a:buClr>
              <a:buFont typeface="Wingdings" panose="05000000000000000000" pitchFamily="2" charset="2"/>
              <a:buChar char="q"/>
              <a:defRPr/>
            </a:pPr>
            <a:r>
              <a:rPr lang="en-US" sz="1400" b="1" dirty="0">
                <a:solidFill>
                  <a:schemeClr val="accent1"/>
                </a:solidFill>
                <a:latin typeface="Bogle" panose="020B0503020203060203" pitchFamily="34" charset="0"/>
              </a:rPr>
              <a:t>LOCALES CON MENOS DEL 50% DE CUMPLIMIENTO</a:t>
            </a:r>
          </a:p>
          <a:p>
            <a:pPr lvl="0">
              <a:spcBef>
                <a:spcPct val="20000"/>
              </a:spcBef>
              <a:defRPr/>
            </a:pPr>
            <a:endParaRPr lang="en-US" sz="1400" b="1" dirty="0">
              <a:solidFill>
                <a:schemeClr val="accent1"/>
              </a:solidFill>
              <a:latin typeface="Bogle" panose="020B0503020203060203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D44C13E-7469-4E7A-A631-F5C8466D5036}"/>
              </a:ext>
            </a:extLst>
          </p:cNvPr>
          <p:cNvSpPr txBox="1"/>
          <p:nvPr/>
        </p:nvSpPr>
        <p:spPr>
          <a:xfrm>
            <a:off x="543547" y="758103"/>
            <a:ext cx="4218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accent1"/>
                </a:solidFill>
                <a:latin typeface="Bogle" panose="020B0503020203060203" pitchFamily="34" charset="0"/>
              </a:rPr>
              <a:t>PROGRAMA COMITÉ PARITARIO (SEPTIEMBRE)   </a:t>
            </a:r>
            <a:endParaRPr lang="es-ES" sz="1400" b="1" dirty="0">
              <a:solidFill>
                <a:schemeClr val="accent1"/>
              </a:solidFill>
              <a:latin typeface="Bogle" panose="020B0503020203060203" pitchFamily="34" charset="0"/>
            </a:endParaRPr>
          </a:p>
        </p:txBody>
      </p:sp>
      <p:pic>
        <p:nvPicPr>
          <p:cNvPr id="38" name="Gráfico 4">
            <a:extLst>
              <a:ext uri="{FF2B5EF4-FFF2-40B4-BE49-F238E27FC236}">
                <a16:creationId xmlns:a16="http://schemas.microsoft.com/office/drawing/2014/main" id="{31554372-077B-4753-8EE9-46754BB065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6202" y="1628573"/>
            <a:ext cx="678824" cy="312825"/>
          </a:xfrm>
          <a:prstGeom prst="rect">
            <a:avLst/>
          </a:prstGeom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1AB1C15F-C29E-4CDA-9BB0-D4721F4E3415}"/>
              </a:ext>
            </a:extLst>
          </p:cNvPr>
          <p:cNvSpPr txBox="1"/>
          <p:nvPr/>
        </p:nvSpPr>
        <p:spPr>
          <a:xfrm>
            <a:off x="1375789" y="1621105"/>
            <a:ext cx="12891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FF0000"/>
                </a:solidFill>
                <a:latin typeface="Bogle" panose="020B0503020203060203" pitchFamily="34" charset="0"/>
              </a:rPr>
              <a:t>3 locales </a:t>
            </a:r>
            <a:endParaRPr lang="es-ES" b="1" dirty="0">
              <a:solidFill>
                <a:srgbClr val="FF0000"/>
              </a:solidFill>
              <a:latin typeface="Bogle" panose="020B0503020203060203" pitchFamily="34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4C06811-1238-F9F3-A068-20C6344A7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390751"/>
              </p:ext>
            </p:extLst>
          </p:nvPr>
        </p:nvGraphicFramePr>
        <p:xfrm>
          <a:off x="659818" y="2109880"/>
          <a:ext cx="1950767" cy="1442277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357183">
                  <a:extLst>
                    <a:ext uri="{9D8B030D-6E8A-4147-A177-3AD203B41FA5}">
                      <a16:colId xmlns:a16="http://schemas.microsoft.com/office/drawing/2014/main" val="2871654637"/>
                    </a:ext>
                  </a:extLst>
                </a:gridCol>
                <a:gridCol w="741841">
                  <a:extLst>
                    <a:ext uri="{9D8B030D-6E8A-4147-A177-3AD203B41FA5}">
                      <a16:colId xmlns:a16="http://schemas.microsoft.com/office/drawing/2014/main" val="3719158881"/>
                    </a:ext>
                  </a:extLst>
                </a:gridCol>
                <a:gridCol w="851743">
                  <a:extLst>
                    <a:ext uri="{9D8B030D-6E8A-4147-A177-3AD203B41FA5}">
                      <a16:colId xmlns:a16="http://schemas.microsoft.com/office/drawing/2014/main" val="1209932410"/>
                    </a:ext>
                  </a:extLst>
                </a:gridCol>
              </a:tblGrid>
              <a:tr h="759093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900" u="none" strike="noStrike" dirty="0">
                          <a:effectLst/>
                        </a:rPr>
                        <a:t>Local</a:t>
                      </a:r>
                      <a:endParaRPr lang="es-CL" sz="9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900" u="none" strike="noStrike">
                          <a:effectLst/>
                        </a:rPr>
                        <a:t>Marca</a:t>
                      </a:r>
                      <a:endParaRPr lang="es-CL" sz="9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900" u="none" strike="noStrike">
                          <a:effectLst/>
                        </a:rPr>
                        <a:t>Cumplimiento</a:t>
                      </a:r>
                      <a:endParaRPr lang="es-CL" sz="9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04735571"/>
                  </a:ext>
                </a:extLst>
              </a:tr>
              <a:tr h="227728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800" u="none" strike="noStrike" dirty="0">
                          <a:effectLst/>
                        </a:rPr>
                        <a:t>16</a:t>
                      </a:r>
                      <a:endParaRPr lang="es-CL" sz="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800" u="none" strike="noStrike" dirty="0">
                          <a:effectLst/>
                        </a:rPr>
                        <a:t>Express</a:t>
                      </a:r>
                      <a:endParaRPr lang="es-CL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1100" u="none" strike="noStrike" dirty="0">
                          <a:effectLst/>
                        </a:rPr>
                        <a:t>38%</a:t>
                      </a:r>
                      <a:endParaRPr lang="es-CL" sz="1100" b="0" i="0" u="none" strike="noStrike" dirty="0">
                        <a:solidFill>
                          <a:srgbClr val="9C000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15527201"/>
                  </a:ext>
                </a:extLst>
              </a:tr>
              <a:tr h="227728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189</a:t>
                      </a:r>
                      <a:endParaRPr lang="es-CL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b="0" u="none" strike="noStrike" dirty="0">
                          <a:effectLst/>
                        </a:rPr>
                        <a:t>Express</a:t>
                      </a:r>
                      <a:endParaRPr lang="es-CL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25%</a:t>
                      </a:r>
                      <a:endParaRPr lang="es-CL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91854041"/>
                  </a:ext>
                </a:extLst>
              </a:tr>
              <a:tr h="227728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800" u="none" strike="noStrike" dirty="0">
                          <a:effectLst/>
                        </a:rPr>
                        <a:t>677</a:t>
                      </a:r>
                      <a:endParaRPr lang="es-CL" sz="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800" u="none" strike="noStrike" dirty="0">
                          <a:effectLst/>
                        </a:rPr>
                        <a:t>Express</a:t>
                      </a:r>
                      <a:endParaRPr lang="es-CL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1100" u="none" strike="noStrike" dirty="0">
                          <a:effectLst/>
                        </a:rPr>
                        <a:t>38%</a:t>
                      </a:r>
                      <a:endParaRPr lang="es-CL" sz="1100" b="0" i="0" u="none" strike="noStrike" dirty="0">
                        <a:solidFill>
                          <a:srgbClr val="9C000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96699243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A20EA8FD-57CB-6C6A-2C60-E0F4A9C45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979653"/>
              </p:ext>
            </p:extLst>
          </p:nvPr>
        </p:nvGraphicFramePr>
        <p:xfrm>
          <a:off x="3540373" y="2142113"/>
          <a:ext cx="1950767" cy="993041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357183">
                  <a:extLst>
                    <a:ext uri="{9D8B030D-6E8A-4147-A177-3AD203B41FA5}">
                      <a16:colId xmlns:a16="http://schemas.microsoft.com/office/drawing/2014/main" val="2845518204"/>
                    </a:ext>
                  </a:extLst>
                </a:gridCol>
                <a:gridCol w="741841">
                  <a:extLst>
                    <a:ext uri="{9D8B030D-6E8A-4147-A177-3AD203B41FA5}">
                      <a16:colId xmlns:a16="http://schemas.microsoft.com/office/drawing/2014/main" val="855853535"/>
                    </a:ext>
                  </a:extLst>
                </a:gridCol>
                <a:gridCol w="851743">
                  <a:extLst>
                    <a:ext uri="{9D8B030D-6E8A-4147-A177-3AD203B41FA5}">
                      <a16:colId xmlns:a16="http://schemas.microsoft.com/office/drawing/2014/main" val="1967225338"/>
                    </a:ext>
                  </a:extLst>
                </a:gridCol>
              </a:tblGrid>
              <a:tr h="763877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900" u="none" strike="noStrike" dirty="0">
                          <a:effectLst/>
                        </a:rPr>
                        <a:t>Local</a:t>
                      </a:r>
                      <a:endParaRPr lang="es-CL" sz="9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900" u="none" strike="noStrike" dirty="0">
                          <a:effectLst/>
                        </a:rPr>
                        <a:t>Marca</a:t>
                      </a:r>
                      <a:endParaRPr lang="es-CL" sz="9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900" u="none" strike="noStrike" dirty="0">
                          <a:effectLst/>
                        </a:rPr>
                        <a:t>Cumplimiento</a:t>
                      </a:r>
                      <a:endParaRPr lang="es-CL" sz="9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8513439"/>
                  </a:ext>
                </a:extLst>
              </a:tr>
              <a:tr h="229164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  <a:r>
                        <a:rPr lang="es-C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800" u="none" strike="noStrike" dirty="0">
                          <a:effectLst/>
                        </a:rPr>
                        <a:t>SBA</a:t>
                      </a:r>
                      <a:endParaRPr lang="es-CL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1100" u="none" strike="noStrike" dirty="0">
                          <a:effectLst/>
                        </a:rPr>
                        <a:t>38%</a:t>
                      </a:r>
                      <a:endParaRPr lang="es-CL" sz="1100" b="0" i="0" u="none" strike="noStrike" dirty="0">
                        <a:solidFill>
                          <a:srgbClr val="9C000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36944728"/>
                  </a:ext>
                </a:extLst>
              </a:tr>
            </a:tbl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3A07CD7A-41D6-CD62-5FA6-7B45E332AC3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1924" t="21382" r="13192" b="21142"/>
          <a:stretch/>
        </p:blipFill>
        <p:spPr>
          <a:xfrm>
            <a:off x="3505613" y="1713338"/>
            <a:ext cx="611567" cy="27381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740B12D-8BEA-06B9-039B-1F8B41BC9E81}"/>
              </a:ext>
            </a:extLst>
          </p:cNvPr>
          <p:cNvSpPr txBox="1"/>
          <p:nvPr/>
        </p:nvSpPr>
        <p:spPr>
          <a:xfrm>
            <a:off x="4349081" y="1671643"/>
            <a:ext cx="14325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FF0000"/>
                </a:solidFill>
                <a:latin typeface="Bogle" panose="020B0503020203060203" pitchFamily="34" charset="0"/>
              </a:rPr>
              <a:t>1 local</a:t>
            </a:r>
            <a:endParaRPr lang="es-ES" b="1" dirty="0">
              <a:solidFill>
                <a:srgbClr val="FF0000"/>
              </a:solidFill>
              <a:latin typeface="Bogle" panose="020B0503020203060203" pitchFamily="34" charset="0"/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C12ACDCF-1529-F7FE-5B8C-F2E53EE8775E}"/>
              </a:ext>
            </a:extLst>
          </p:cNvPr>
          <p:cNvCxnSpPr/>
          <p:nvPr/>
        </p:nvCxnSpPr>
        <p:spPr>
          <a:xfrm>
            <a:off x="8459594" y="826521"/>
            <a:ext cx="0" cy="5962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68A5370-EB63-B979-B15C-97312AA4A06D}"/>
              </a:ext>
            </a:extLst>
          </p:cNvPr>
          <p:cNvSpPr txBox="1"/>
          <p:nvPr/>
        </p:nvSpPr>
        <p:spPr>
          <a:xfrm>
            <a:off x="8558678" y="1430654"/>
            <a:ext cx="31379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b="1" dirty="0">
                <a:solidFill>
                  <a:schemeClr val="tx2"/>
                </a:solidFill>
                <a:latin typeface="Bogle" panose="020B0503020203060203" pitchFamily="34" charset="0"/>
              </a:rPr>
              <a:t>CUMPLIMIENTO PROGRAMA CPHS</a:t>
            </a:r>
          </a:p>
          <a:p>
            <a:r>
              <a:rPr lang="es-CL" sz="1600" dirty="0">
                <a:solidFill>
                  <a:schemeClr val="tx2"/>
                </a:solidFill>
                <a:latin typeface="Bogle" panose="020B0503020203060203" pitchFamily="34" charset="0"/>
              </a:rPr>
              <a:t>SEPTIEMBRE - FORMATOS</a:t>
            </a:r>
          </a:p>
          <a:p>
            <a:r>
              <a:rPr lang="es-CL" sz="1200" dirty="0">
                <a:solidFill>
                  <a:schemeClr val="accent1"/>
                </a:solidFill>
                <a:latin typeface="Bogle" panose="020B0503020203060203" pitchFamily="34" charset="0"/>
              </a:rPr>
              <a:t>KPI &lt;90% Cumplimiento mensual </a:t>
            </a:r>
            <a:endParaRPr lang="es-ES" sz="1200" dirty="0">
              <a:solidFill>
                <a:schemeClr val="accent1"/>
              </a:solidFill>
              <a:latin typeface="Bogle" panose="020B0503020203060203" pitchFamily="34" charset="0"/>
            </a:endParaRPr>
          </a:p>
        </p:txBody>
      </p:sp>
      <p:pic>
        <p:nvPicPr>
          <p:cNvPr id="18" name="Imagen 17" descr="Imagen que contiene dibujo&#10;&#10;Descripción generada automáticamente">
            <a:extLst>
              <a:ext uri="{FF2B5EF4-FFF2-40B4-BE49-F238E27FC236}">
                <a16:creationId xmlns:a16="http://schemas.microsoft.com/office/drawing/2014/main" id="{B2F8D68D-B512-294D-C54F-10D08ECE102B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00687" y="2397517"/>
            <a:ext cx="684310" cy="307710"/>
          </a:xfrm>
          <a:prstGeom prst="rect">
            <a:avLst/>
          </a:prstGeom>
        </p:spPr>
      </p:pic>
      <p:pic>
        <p:nvPicPr>
          <p:cNvPr id="19" name="Imagen 18" descr="Logotipo&#10;&#10;Descripción generada automáticamente">
            <a:extLst>
              <a:ext uri="{FF2B5EF4-FFF2-40B4-BE49-F238E27FC236}">
                <a16:creationId xmlns:a16="http://schemas.microsoft.com/office/drawing/2014/main" id="{83DFB5D8-802B-AC02-6912-497F24279E0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1938" t="24109" r="11845" b="26775"/>
          <a:stretch/>
        </p:blipFill>
        <p:spPr>
          <a:xfrm>
            <a:off x="8777320" y="3799103"/>
            <a:ext cx="733254" cy="275639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071F1DD7-979A-8CAF-09ED-25543EBD2A0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1924" t="21382" r="13192" b="21142"/>
          <a:stretch/>
        </p:blipFill>
        <p:spPr>
          <a:xfrm>
            <a:off x="8748814" y="3166046"/>
            <a:ext cx="611567" cy="273813"/>
          </a:xfrm>
          <a:prstGeom prst="rect">
            <a:avLst/>
          </a:prstGeom>
        </p:spPr>
      </p:pic>
      <p:pic>
        <p:nvPicPr>
          <p:cNvPr id="21" name="Gráfico 4">
            <a:extLst>
              <a:ext uri="{FF2B5EF4-FFF2-40B4-BE49-F238E27FC236}">
                <a16:creationId xmlns:a16="http://schemas.microsoft.com/office/drawing/2014/main" id="{2012BED9-43AF-AB42-E609-F5074392BB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77320" y="4499414"/>
            <a:ext cx="678824" cy="312825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EAC8F7EE-DBC5-BB42-E60F-E24A00899D64}"/>
              </a:ext>
            </a:extLst>
          </p:cNvPr>
          <p:cNvSpPr txBox="1"/>
          <p:nvPr/>
        </p:nvSpPr>
        <p:spPr>
          <a:xfrm>
            <a:off x="9218723" y="4648029"/>
            <a:ext cx="505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200" b="1" dirty="0">
                <a:solidFill>
                  <a:schemeClr val="accent1"/>
                </a:solidFill>
              </a:rPr>
              <a:t>400</a:t>
            </a:r>
            <a:endParaRPr lang="es-ES" sz="1200" b="1" dirty="0">
              <a:solidFill>
                <a:schemeClr val="accent1"/>
              </a:solidFill>
            </a:endParaRPr>
          </a:p>
        </p:txBody>
      </p:sp>
      <p:pic>
        <p:nvPicPr>
          <p:cNvPr id="23" name="Gráfico 4">
            <a:extLst>
              <a:ext uri="{FF2B5EF4-FFF2-40B4-BE49-F238E27FC236}">
                <a16:creationId xmlns:a16="http://schemas.microsoft.com/office/drawing/2014/main" id="{BED6CF34-4BCB-CB1E-8CD0-667AE496E9A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77320" y="5138808"/>
            <a:ext cx="678824" cy="312825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734F8D67-CB89-3108-1FB8-6A294F23A464}"/>
              </a:ext>
            </a:extLst>
          </p:cNvPr>
          <p:cNvSpPr txBox="1"/>
          <p:nvPr/>
        </p:nvSpPr>
        <p:spPr>
          <a:xfrm>
            <a:off x="10166832" y="2407802"/>
            <a:ext cx="176246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CL" sz="1200" b="1" dirty="0">
                <a:solidFill>
                  <a:srgbClr val="00B050"/>
                </a:solidFill>
                <a:latin typeface="Bogle" panose="020B0503020203060203" pitchFamily="34" charset="0"/>
              </a:rPr>
              <a:t>97% CUMPLIMIENTO </a:t>
            </a:r>
          </a:p>
          <a:p>
            <a:r>
              <a:rPr lang="es-CL" sz="1200" b="1" dirty="0">
                <a:solidFill>
                  <a:srgbClr val="00B050"/>
                </a:solidFill>
                <a:latin typeface="Bogle" panose="020B0503020203060203" pitchFamily="34" charset="0"/>
              </a:rPr>
              <a:t>PROGRAMA CPHS  </a:t>
            </a:r>
            <a:endParaRPr lang="es-ES" sz="1200" b="1" dirty="0">
              <a:solidFill>
                <a:srgbClr val="00B050"/>
              </a:solidFill>
              <a:latin typeface="Bogle" panose="020B0503020203060203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EE5B534-BD8D-3409-1C22-EA5B259773B1}"/>
              </a:ext>
            </a:extLst>
          </p:cNvPr>
          <p:cNvSpPr txBox="1"/>
          <p:nvPr/>
        </p:nvSpPr>
        <p:spPr>
          <a:xfrm>
            <a:off x="10127633" y="5054065"/>
            <a:ext cx="176246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CL" sz="1200" b="1" dirty="0">
                <a:solidFill>
                  <a:schemeClr val="accent4"/>
                </a:solidFill>
                <a:latin typeface="Bogle" panose="020B0503020203060203" pitchFamily="34" charset="0"/>
              </a:rPr>
              <a:t>86% CUMPLIMIENTO </a:t>
            </a:r>
          </a:p>
          <a:p>
            <a:r>
              <a:rPr lang="es-CL" sz="1200" b="1" dirty="0">
                <a:solidFill>
                  <a:schemeClr val="accent4"/>
                </a:solidFill>
                <a:latin typeface="Bogle" panose="020B0503020203060203" pitchFamily="34" charset="0"/>
              </a:rPr>
              <a:t>PROGRAMA CPHS  </a:t>
            </a:r>
            <a:endParaRPr lang="es-ES" sz="1200" b="1" dirty="0">
              <a:solidFill>
                <a:schemeClr val="accent4"/>
              </a:solidFill>
              <a:latin typeface="Bogle" panose="020B0503020203060203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09D6E15-93B4-08CC-47E9-A77545771336}"/>
              </a:ext>
            </a:extLst>
          </p:cNvPr>
          <p:cNvSpPr txBox="1"/>
          <p:nvPr/>
        </p:nvSpPr>
        <p:spPr>
          <a:xfrm>
            <a:off x="10166830" y="3098064"/>
            <a:ext cx="176246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CL" sz="1200" b="1" dirty="0">
                <a:solidFill>
                  <a:srgbClr val="00B050"/>
                </a:solidFill>
                <a:latin typeface="Bogle" panose="020B0503020203060203" pitchFamily="34" charset="0"/>
              </a:rPr>
              <a:t>96% CUMPLIMIENTO </a:t>
            </a:r>
          </a:p>
          <a:p>
            <a:r>
              <a:rPr lang="es-CL" sz="1200" b="1" dirty="0">
                <a:solidFill>
                  <a:srgbClr val="00B050"/>
                </a:solidFill>
                <a:latin typeface="Bogle" panose="020B0503020203060203" pitchFamily="34" charset="0"/>
              </a:rPr>
              <a:t>PROGRAMA CPHS  </a:t>
            </a:r>
            <a:endParaRPr lang="es-ES" sz="1200" b="1" dirty="0">
              <a:solidFill>
                <a:srgbClr val="00B050"/>
              </a:solidFill>
              <a:latin typeface="Bogle" panose="020B0503020203060203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10EF7FE-8536-63BB-DA38-6CC3836EB1F4}"/>
              </a:ext>
            </a:extLst>
          </p:cNvPr>
          <p:cNvSpPr txBox="1"/>
          <p:nvPr/>
        </p:nvSpPr>
        <p:spPr>
          <a:xfrm>
            <a:off x="10127634" y="4399508"/>
            <a:ext cx="176246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CL" sz="1200" b="1" dirty="0">
                <a:solidFill>
                  <a:srgbClr val="00B050"/>
                </a:solidFill>
                <a:latin typeface="Bogle" panose="020B0503020203060203" pitchFamily="34" charset="0"/>
              </a:rPr>
              <a:t>94% CUMPLIMIENTO </a:t>
            </a:r>
          </a:p>
          <a:p>
            <a:r>
              <a:rPr lang="es-CL" sz="1200" b="1" dirty="0">
                <a:solidFill>
                  <a:srgbClr val="00B050"/>
                </a:solidFill>
                <a:latin typeface="Bogle" panose="020B0503020203060203" pitchFamily="34" charset="0"/>
              </a:rPr>
              <a:t>PROGRAMA CPHS  </a:t>
            </a:r>
            <a:endParaRPr lang="es-ES" sz="1200" b="1" dirty="0">
              <a:solidFill>
                <a:srgbClr val="00B050"/>
              </a:solidFill>
              <a:latin typeface="Bogle" panose="020B0503020203060203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994112F-B83C-192E-6D7B-33C4D7829AF9}"/>
              </a:ext>
            </a:extLst>
          </p:cNvPr>
          <p:cNvSpPr txBox="1"/>
          <p:nvPr/>
        </p:nvSpPr>
        <p:spPr>
          <a:xfrm>
            <a:off x="10127634" y="3709246"/>
            <a:ext cx="176246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CL" sz="1200" b="1" dirty="0">
                <a:solidFill>
                  <a:srgbClr val="00B050"/>
                </a:solidFill>
                <a:latin typeface="Bogle" panose="020B0503020203060203" pitchFamily="34" charset="0"/>
              </a:rPr>
              <a:t>96% CUMPLIMIENTO </a:t>
            </a:r>
          </a:p>
          <a:p>
            <a:r>
              <a:rPr lang="es-CL" sz="1200" b="1" dirty="0">
                <a:solidFill>
                  <a:srgbClr val="00B050"/>
                </a:solidFill>
                <a:latin typeface="Bogle" panose="020B0503020203060203" pitchFamily="34" charset="0"/>
              </a:rPr>
              <a:t>PROGRAMA CPHS  </a:t>
            </a:r>
            <a:endParaRPr lang="es-ES" sz="1200" b="1" dirty="0">
              <a:solidFill>
                <a:srgbClr val="00B050"/>
              </a:solidFill>
              <a:latin typeface="Bogle" panose="020B0503020203060203" pitchFamily="34" charset="0"/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7DDEC1D3-0579-103D-B81F-0DD0427EDB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382216"/>
              </p:ext>
            </p:extLst>
          </p:nvPr>
        </p:nvGraphicFramePr>
        <p:xfrm>
          <a:off x="651641" y="4506381"/>
          <a:ext cx="4324383" cy="1960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461">
                  <a:extLst>
                    <a:ext uri="{9D8B030D-6E8A-4147-A177-3AD203B41FA5}">
                      <a16:colId xmlns:a16="http://schemas.microsoft.com/office/drawing/2014/main" val="3789043529"/>
                    </a:ext>
                  </a:extLst>
                </a:gridCol>
                <a:gridCol w="1441461">
                  <a:extLst>
                    <a:ext uri="{9D8B030D-6E8A-4147-A177-3AD203B41FA5}">
                      <a16:colId xmlns:a16="http://schemas.microsoft.com/office/drawing/2014/main" val="4282927168"/>
                    </a:ext>
                  </a:extLst>
                </a:gridCol>
                <a:gridCol w="1441461">
                  <a:extLst>
                    <a:ext uri="{9D8B030D-6E8A-4147-A177-3AD203B41FA5}">
                      <a16:colId xmlns:a16="http://schemas.microsoft.com/office/drawing/2014/main" val="3157938967"/>
                    </a:ext>
                  </a:extLst>
                </a:gridCol>
              </a:tblGrid>
              <a:tr h="279812">
                <a:tc>
                  <a:txBody>
                    <a:bodyPr/>
                    <a:lstStyle/>
                    <a:p>
                      <a:r>
                        <a:rPr lang="es-ES" sz="900" dirty="0"/>
                        <a:t>Marca</a:t>
                      </a:r>
                      <a:endParaRPr lang="es-CL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Tienda </a:t>
                      </a:r>
                      <a:endParaRPr lang="es-CL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Mercado</a:t>
                      </a:r>
                      <a:endParaRPr lang="es-CL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386474"/>
                  </a:ext>
                </a:extLst>
              </a:tr>
              <a:tr h="279812">
                <a:tc rowSpan="5">
                  <a:txBody>
                    <a:bodyPr/>
                    <a:lstStyle/>
                    <a:p>
                      <a:pPr algn="ctr"/>
                      <a:r>
                        <a:rPr lang="es-ES" sz="900" dirty="0"/>
                        <a:t>Express</a:t>
                      </a:r>
                      <a:endParaRPr lang="es-CL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900" b="1" dirty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s-CL" sz="9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Poppins" panose="00000500000000000000" pitchFamily="2" charset="0"/>
                        </a:rPr>
                        <a:t>12 </a:t>
                      </a:r>
                      <a:r>
                        <a:rPr lang="es-CL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Poppins" panose="00000500000000000000" pitchFamily="2" charset="0"/>
                        </a:rPr>
                        <a:t>Exp</a:t>
                      </a:r>
                      <a:r>
                        <a:rPr lang="es-CL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Poppins" panose="00000500000000000000" pitchFamily="2" charset="0"/>
                        </a:rPr>
                        <a:t>. RM </a:t>
                      </a:r>
                      <a:r>
                        <a:rPr lang="es-CL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Poppins" panose="00000500000000000000" pitchFamily="2" charset="0"/>
                        </a:rPr>
                        <a:t>Nor</a:t>
                      </a:r>
                      <a:r>
                        <a:rPr lang="es-CL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Poppins" panose="00000500000000000000" pitchFamily="2" charset="0"/>
                        </a:rPr>
                        <a:t> Oriente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3133704"/>
                  </a:ext>
                </a:extLst>
              </a:tr>
              <a:tr h="279812">
                <a:tc vMerge="1">
                  <a:txBody>
                    <a:bodyPr/>
                    <a:lstStyle/>
                    <a:p>
                      <a:endParaRPr lang="es-CL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b="1" dirty="0">
                          <a:solidFill>
                            <a:srgbClr val="FF0000"/>
                          </a:solidFill>
                        </a:rPr>
                        <a:t>180</a:t>
                      </a:r>
                      <a:endParaRPr lang="es-CL" sz="9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Poppins" panose="00000500000000000000" pitchFamily="2" charset="0"/>
                        </a:rPr>
                        <a:t>13 </a:t>
                      </a:r>
                      <a:r>
                        <a:rPr lang="es-CL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Poppins" panose="00000500000000000000" pitchFamily="2" charset="0"/>
                        </a:rPr>
                        <a:t>Exp</a:t>
                      </a:r>
                      <a:r>
                        <a:rPr lang="es-CL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Poppins" panose="00000500000000000000" pitchFamily="2" charset="0"/>
                        </a:rPr>
                        <a:t>. RM Sur Oriente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14512724"/>
                  </a:ext>
                </a:extLst>
              </a:tr>
              <a:tr h="279812">
                <a:tc vMerge="1">
                  <a:txBody>
                    <a:bodyPr/>
                    <a:lstStyle/>
                    <a:p>
                      <a:endParaRPr lang="es-CL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b="1" dirty="0">
                          <a:solidFill>
                            <a:srgbClr val="FF0000"/>
                          </a:solidFill>
                        </a:rPr>
                        <a:t>600</a:t>
                      </a:r>
                      <a:endParaRPr lang="es-CL" sz="9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Poppins" panose="00000500000000000000" pitchFamily="2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Poppins" panose="00000500000000000000" pitchFamily="2" charset="0"/>
                        </a:rPr>
                        <a:t>11 </a:t>
                      </a:r>
                      <a:r>
                        <a:rPr lang="es-CL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Poppins" panose="00000500000000000000" pitchFamily="2" charset="0"/>
                        </a:rPr>
                        <a:t>Exp</a:t>
                      </a:r>
                      <a:r>
                        <a:rPr lang="es-CL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Poppins" panose="00000500000000000000" pitchFamily="2" charset="0"/>
                        </a:rPr>
                        <a:t>. V Región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83814328"/>
                  </a:ext>
                </a:extLst>
              </a:tr>
              <a:tr h="279812">
                <a:tc vMerge="1">
                  <a:txBody>
                    <a:bodyPr/>
                    <a:lstStyle/>
                    <a:p>
                      <a:endParaRPr lang="es-CL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b="1" dirty="0">
                          <a:solidFill>
                            <a:srgbClr val="FF0000"/>
                          </a:solidFill>
                        </a:rPr>
                        <a:t>625</a:t>
                      </a:r>
                      <a:endParaRPr lang="es-CL" sz="9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Poppins" panose="00000500000000000000" pitchFamily="2" charset="0"/>
                        </a:rPr>
                        <a:t>11 </a:t>
                      </a:r>
                      <a:r>
                        <a:rPr lang="es-CL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Poppins" panose="00000500000000000000" pitchFamily="2" charset="0"/>
                        </a:rPr>
                        <a:t>Exp</a:t>
                      </a:r>
                      <a:r>
                        <a:rPr lang="es-CL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Poppins" panose="00000500000000000000" pitchFamily="2" charset="0"/>
                        </a:rPr>
                        <a:t>. V Región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55436390"/>
                  </a:ext>
                </a:extLst>
              </a:tr>
              <a:tr h="279812">
                <a:tc vMerge="1">
                  <a:txBody>
                    <a:bodyPr/>
                    <a:lstStyle/>
                    <a:p>
                      <a:endParaRPr lang="es-CL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b="1" dirty="0">
                          <a:solidFill>
                            <a:srgbClr val="FF0000"/>
                          </a:solidFill>
                        </a:rPr>
                        <a:t>668</a:t>
                      </a:r>
                      <a:endParaRPr lang="es-CL" sz="9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Poppins" panose="00000500000000000000" pitchFamily="2" charset="0"/>
                        </a:rPr>
                        <a:t>11 </a:t>
                      </a:r>
                      <a:r>
                        <a:rPr lang="es-CL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Poppins" panose="00000500000000000000" pitchFamily="2" charset="0"/>
                        </a:rPr>
                        <a:t>Exp</a:t>
                      </a:r>
                      <a:r>
                        <a:rPr lang="es-CL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Poppins" panose="00000500000000000000" pitchFamily="2" charset="0"/>
                        </a:rPr>
                        <a:t>. V Región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73532622"/>
                  </a:ext>
                </a:extLst>
              </a:tr>
              <a:tr h="279812">
                <a:tc>
                  <a:txBody>
                    <a:bodyPr/>
                    <a:lstStyle/>
                    <a:p>
                      <a:pPr algn="ctr"/>
                      <a:r>
                        <a:rPr lang="es-ES" sz="900" dirty="0"/>
                        <a:t>Lider</a:t>
                      </a:r>
                      <a:endParaRPr lang="es-CL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b="1" dirty="0">
                          <a:solidFill>
                            <a:srgbClr val="FF0000"/>
                          </a:solidFill>
                        </a:rPr>
                        <a:t>91</a:t>
                      </a:r>
                      <a:endParaRPr lang="es-CL" sz="9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dirty="0">
                          <a:solidFill>
                            <a:schemeClr val="tx1"/>
                          </a:solidFill>
                        </a:rPr>
                        <a:t>1 Hiper Norte</a:t>
                      </a:r>
                      <a:endParaRPr lang="es-CL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836046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B041600D-6D0C-1E48-ADA1-6EFF30DD6411}"/>
              </a:ext>
            </a:extLst>
          </p:cNvPr>
          <p:cNvSpPr/>
          <p:nvPr/>
        </p:nvSpPr>
        <p:spPr>
          <a:xfrm>
            <a:off x="543547" y="4057650"/>
            <a:ext cx="8884226" cy="56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spcBef>
                <a:spcPct val="20000"/>
              </a:spcBef>
              <a:buClr>
                <a:schemeClr val="accent4"/>
              </a:buClr>
              <a:buFont typeface="Wingdings" panose="05000000000000000000" pitchFamily="2" charset="2"/>
              <a:buChar char="q"/>
              <a:defRPr/>
            </a:pPr>
            <a:r>
              <a:rPr lang="en-US" sz="1400" b="1" dirty="0">
                <a:solidFill>
                  <a:schemeClr val="accent1"/>
                </a:solidFill>
                <a:latin typeface="Bogle" panose="020B0503020203060203" pitchFamily="34" charset="0"/>
              </a:rPr>
              <a:t>GERENTES DE TIENDA SIN PARTICIPACION EN REUNIONES DE CPHS (3 MESES)</a:t>
            </a:r>
          </a:p>
          <a:p>
            <a:pPr lvl="0">
              <a:spcBef>
                <a:spcPct val="20000"/>
              </a:spcBef>
              <a:defRPr/>
            </a:pPr>
            <a:endParaRPr lang="en-US" sz="1400" b="1" dirty="0">
              <a:solidFill>
                <a:schemeClr val="accent1"/>
              </a:solidFill>
              <a:latin typeface="Bogle" panose="020B0503020203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338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4E50842A-A538-5E43-912B-FE69B3CF0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161" y="139622"/>
            <a:ext cx="6169572" cy="958138"/>
          </a:xfrm>
          <a:prstGeom prst="rect">
            <a:avLst/>
          </a:prstGeom>
        </p:spPr>
      </p:pic>
      <p:pic>
        <p:nvPicPr>
          <p:cNvPr id="17" name="Imagen 16" descr="Imagen que contiene reloj&#10;&#10;Descripción generada automáticamente">
            <a:extLst>
              <a:ext uri="{FF2B5EF4-FFF2-40B4-BE49-F238E27FC236}">
                <a16:creationId xmlns:a16="http://schemas.microsoft.com/office/drawing/2014/main" id="{131A473F-27EF-D347-9D0E-1394D021D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41" y="-131130"/>
            <a:ext cx="477093" cy="850471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1317918" y="345759"/>
            <a:ext cx="4422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Bogle" panose="020B0503020203060203" pitchFamily="34" charset="0"/>
              </a:rPr>
              <a:t>RESUMEN EJECUTIVO CPHS – AVANCE 30.09 </a:t>
            </a:r>
            <a:endParaRPr lang="en-US" b="1" dirty="0">
              <a:solidFill>
                <a:schemeClr val="accent1"/>
              </a:solidFill>
              <a:latin typeface="Bogle" panose="020B0503020203060203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D44C13E-7469-4E7A-A631-F5C8466D5036}"/>
              </a:ext>
            </a:extLst>
          </p:cNvPr>
          <p:cNvSpPr txBox="1"/>
          <p:nvPr/>
        </p:nvSpPr>
        <p:spPr>
          <a:xfrm>
            <a:off x="533776" y="801285"/>
            <a:ext cx="5478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accent1"/>
                </a:solidFill>
                <a:latin typeface="Bogle" panose="020B0503020203060203" pitchFamily="34" charset="0"/>
              </a:rPr>
              <a:t>EVOLUTIVO PARTICIPACION DE GTEO EN REUNIONES DE CPHS</a:t>
            </a:r>
            <a:endParaRPr lang="es-ES" sz="1400" b="1" dirty="0">
              <a:solidFill>
                <a:schemeClr val="accent1"/>
              </a:solidFill>
              <a:latin typeface="Bogle" panose="020B0503020203060203" pitchFamily="34" charset="0"/>
            </a:endParaRPr>
          </a:p>
        </p:txBody>
      </p:sp>
      <p:pic>
        <p:nvPicPr>
          <p:cNvPr id="18" name="Imagen 17" descr="Imagen que contiene dibujo&#10;&#10;Descripción generada automáticamente">
            <a:extLst>
              <a:ext uri="{FF2B5EF4-FFF2-40B4-BE49-F238E27FC236}">
                <a16:creationId xmlns:a16="http://schemas.microsoft.com/office/drawing/2014/main" id="{B2F8D68D-B512-294D-C54F-10D08ECE102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0585" y="3937854"/>
            <a:ext cx="684310" cy="307710"/>
          </a:xfrm>
          <a:prstGeom prst="rect">
            <a:avLst/>
          </a:prstGeom>
        </p:spPr>
      </p:pic>
      <p:pic>
        <p:nvPicPr>
          <p:cNvPr id="19" name="Imagen 18" descr="Logotipo&#10;&#10;Descripción generada automáticamente">
            <a:extLst>
              <a:ext uri="{FF2B5EF4-FFF2-40B4-BE49-F238E27FC236}">
                <a16:creationId xmlns:a16="http://schemas.microsoft.com/office/drawing/2014/main" id="{83DFB5D8-802B-AC02-6912-497F24279E0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938" t="24109" r="11845" b="26775"/>
          <a:stretch/>
        </p:blipFill>
        <p:spPr>
          <a:xfrm>
            <a:off x="651641" y="1191006"/>
            <a:ext cx="733254" cy="275639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071F1DD7-979A-8CAF-09ED-25543EBD2A0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1924" t="21382" r="13192" b="21142"/>
          <a:stretch/>
        </p:blipFill>
        <p:spPr>
          <a:xfrm>
            <a:off x="5192466" y="3971751"/>
            <a:ext cx="611567" cy="273813"/>
          </a:xfrm>
          <a:prstGeom prst="rect">
            <a:avLst/>
          </a:prstGeom>
        </p:spPr>
      </p:pic>
      <p:pic>
        <p:nvPicPr>
          <p:cNvPr id="23" name="Gráfico 4">
            <a:extLst>
              <a:ext uri="{FF2B5EF4-FFF2-40B4-BE49-F238E27FC236}">
                <a16:creationId xmlns:a16="http://schemas.microsoft.com/office/drawing/2014/main" id="{BED6CF34-4BCB-CB1E-8CD0-667AE496E9A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58040" y="1182337"/>
            <a:ext cx="678824" cy="31282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AE6B25B-F8F1-41AE-B7D8-06F7508152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939" y="4380711"/>
            <a:ext cx="3991549" cy="2143487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379A86CB-69A2-44A5-A67E-BDC82BB4DD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87632" y="4332761"/>
            <a:ext cx="4446408" cy="2154948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E9A86BAF-23D7-481C-8963-9C28CC4B4C7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87632" y="1545134"/>
            <a:ext cx="4446408" cy="2191548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C5EE163D-5AAC-4F56-9507-A22CC16ABE7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641" y="1570729"/>
            <a:ext cx="4022847" cy="2125609"/>
          </a:xfrm>
          <a:prstGeom prst="rect">
            <a:avLst/>
          </a:prstGeom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10B58DE9-87CC-4A2B-82A1-E22032F22473}"/>
              </a:ext>
            </a:extLst>
          </p:cNvPr>
          <p:cNvSpPr txBox="1"/>
          <p:nvPr/>
        </p:nvSpPr>
        <p:spPr>
          <a:xfrm>
            <a:off x="9705889" y="1495995"/>
            <a:ext cx="22736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accent1"/>
                </a:solidFill>
                <a:latin typeface="Bogle" panose="020B0503020203060203" pitchFamily="34" charset="0"/>
              </a:rPr>
              <a:t>PLAN DE ACCION </a:t>
            </a:r>
          </a:p>
          <a:p>
            <a:endParaRPr lang="es-CL" sz="1400" b="1" dirty="0">
              <a:solidFill>
                <a:schemeClr val="accent1"/>
              </a:solidFill>
              <a:latin typeface="Bogle" panose="020B0503020203060203" pitchFamily="34" charset="0"/>
            </a:endParaRPr>
          </a:p>
          <a:p>
            <a:pPr algn="just"/>
            <a:r>
              <a:rPr lang="es-ES" sz="1400" dirty="0">
                <a:solidFill>
                  <a:schemeClr val="accent1"/>
                </a:solidFill>
                <a:latin typeface="Bogle" panose="020B0503020203060203" pitchFamily="34" charset="0"/>
              </a:rPr>
              <a:t>Octubre: Equipo de Prevención de Riesgos generará reunión zoom con los 6 GTEO que no han participado en reuniones por 3 meses para evaluar situación y generar compromiso para próximos meses. Se invitará a Jefes PR y </a:t>
            </a:r>
            <a:r>
              <a:rPr lang="es-ES" sz="1400" dirty="0" err="1">
                <a:solidFill>
                  <a:schemeClr val="accent1"/>
                </a:solidFill>
                <a:latin typeface="Bogle" panose="020B0503020203060203" pitchFamily="34" charset="0"/>
              </a:rPr>
              <a:t>Gtes</a:t>
            </a:r>
            <a:r>
              <a:rPr lang="es-ES" sz="1400" dirty="0">
                <a:solidFill>
                  <a:schemeClr val="accent1"/>
                </a:solidFill>
                <a:latin typeface="Bogle" panose="020B0503020203060203" pitchFamily="34" charset="0"/>
              </a:rPr>
              <a:t>. Mercado. </a:t>
            </a:r>
          </a:p>
        </p:txBody>
      </p:sp>
    </p:spTree>
    <p:extLst>
      <p:ext uri="{BB962C8B-B14F-4D97-AF65-F5344CB8AC3E}">
        <p14:creationId xmlns:p14="http://schemas.microsoft.com/office/powerpoint/2010/main" val="19605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4F37718D-7517-4E48-9C94-259DA7410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276" y="0"/>
            <a:ext cx="8355724" cy="1297648"/>
          </a:xfrm>
          <a:prstGeom prst="rect">
            <a:avLst/>
          </a:prstGeom>
        </p:spPr>
      </p:pic>
      <p:pic>
        <p:nvPicPr>
          <p:cNvPr id="13" name="Imagen 12" descr="Imagen que contiene Icono&#10;&#10;Descripción generada automáticamente">
            <a:extLst>
              <a:ext uri="{FF2B5EF4-FFF2-40B4-BE49-F238E27FC236}">
                <a16:creationId xmlns:a16="http://schemas.microsoft.com/office/drawing/2014/main" id="{1B7F9A16-378F-0F4B-8BD5-97E41D7E5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8494"/>
            <a:ext cx="10195034" cy="6679505"/>
          </a:xfrm>
          <a:prstGeom prst="rect">
            <a:avLst/>
          </a:prstGeom>
        </p:spPr>
      </p:pic>
      <p:pic>
        <p:nvPicPr>
          <p:cNvPr id="7" name="Imagen 6" descr="Imagen que contiene reloj&#10;&#10;Descripción generada automáticamente">
            <a:extLst>
              <a:ext uri="{FF2B5EF4-FFF2-40B4-BE49-F238E27FC236}">
                <a16:creationId xmlns:a16="http://schemas.microsoft.com/office/drawing/2014/main" id="{A959CCAA-80F5-314B-9954-B5341906E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641" y="-131130"/>
            <a:ext cx="477093" cy="85047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9FE988E-AC9E-444C-B8B7-B6465D8AA5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975175"/>
            <a:ext cx="12192000" cy="882825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5F7E3F4A-2521-E942-8EE1-C204A5623034}"/>
              </a:ext>
            </a:extLst>
          </p:cNvPr>
          <p:cNvSpPr txBox="1"/>
          <p:nvPr/>
        </p:nvSpPr>
        <p:spPr>
          <a:xfrm>
            <a:off x="2448176" y="2553628"/>
            <a:ext cx="959193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800" b="1" dirty="0">
                <a:solidFill>
                  <a:srgbClr val="1273CC"/>
                </a:solidFill>
                <a:latin typeface="Bogle Black" panose="020B0503020203060203" pitchFamily="34" charset="77"/>
              </a:rPr>
              <a:t>GESTIÓN COMITES PARITARIOS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2982062-BB5B-3746-8CB0-987E780015B4}"/>
              </a:ext>
            </a:extLst>
          </p:cNvPr>
          <p:cNvSpPr txBox="1"/>
          <p:nvPr/>
        </p:nvSpPr>
        <p:spPr>
          <a:xfrm>
            <a:off x="2448176" y="3225858"/>
            <a:ext cx="7647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i="1" dirty="0">
                <a:solidFill>
                  <a:srgbClr val="1273CC"/>
                </a:solidFill>
                <a:latin typeface="Bogle" panose="020B0503020203060203" pitchFamily="34" charset="77"/>
              </a:rPr>
              <a:t>Comité Multas – Avance 30.09.2024</a:t>
            </a:r>
          </a:p>
        </p:txBody>
      </p:sp>
      <p:sp>
        <p:nvSpPr>
          <p:cNvPr id="2" name="Rectángulo 1"/>
          <p:cNvSpPr/>
          <p:nvPr/>
        </p:nvSpPr>
        <p:spPr>
          <a:xfrm>
            <a:off x="489667" y="6519627"/>
            <a:ext cx="196932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s-CL" sz="1100" b="1" i="1" dirty="0">
                <a:solidFill>
                  <a:prstClr val="white"/>
                </a:solidFill>
                <a:latin typeface="Bogle" panose="020B0503020203060203" pitchFamily="34" charset="77"/>
              </a:rPr>
              <a:t>EHS Compliance</a:t>
            </a:r>
          </a:p>
        </p:txBody>
      </p:sp>
    </p:spTree>
    <p:extLst>
      <p:ext uri="{BB962C8B-B14F-4D97-AF65-F5344CB8AC3E}">
        <p14:creationId xmlns:p14="http://schemas.microsoft.com/office/powerpoint/2010/main" val="1636164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9CAD6D3F6191D4F9BA932C35C6EFEA7" ma:contentTypeVersion="6" ma:contentTypeDescription="Crear nuevo documento." ma:contentTypeScope="" ma:versionID="4992c25e137e2355d17337e4f9220a63">
  <xsd:schema xmlns:xsd="http://www.w3.org/2001/XMLSchema" xmlns:xs="http://www.w3.org/2001/XMLSchema" xmlns:p="http://schemas.microsoft.com/office/2006/metadata/properties" xmlns:ns2="5d8f3155-2597-47bc-aa1b-49473dbbe899" xmlns:ns3="5407e890-77de-414c-ae59-821016d4e492" targetNamespace="http://schemas.microsoft.com/office/2006/metadata/properties" ma:root="true" ma:fieldsID="2666c53fbdd4f7123a41c403ead00b85" ns2:_="" ns3:_="">
    <xsd:import namespace="5d8f3155-2597-47bc-aa1b-49473dbbe899"/>
    <xsd:import namespace="5407e890-77de-414c-ae59-821016d4e4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8f3155-2597-47bc-aa1b-49473dbbe8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07e890-77de-414c-ae59-821016d4e49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DFE7FC-EB11-4592-8032-0780F7AABA54}"/>
</file>

<file path=customXml/itemProps2.xml><?xml version="1.0" encoding="utf-8"?>
<ds:datastoreItem xmlns:ds="http://schemas.openxmlformats.org/officeDocument/2006/customXml" ds:itemID="{09825E7C-3B46-4D69-9F50-B63B4B88AB58}">
  <ds:schemaRefs>
    <ds:schemaRef ds:uri="3ad9bb6a-51b9-4ea4-bbcf-7540b3d23d2e"/>
    <ds:schemaRef ds:uri="http://www.w3.org/XML/1998/namespace"/>
    <ds:schemaRef ds:uri="http://purl.org/dc/elements/1.1/"/>
    <ds:schemaRef ds:uri="http://schemas.microsoft.com/office/2006/documentManagement/types"/>
    <ds:schemaRef ds:uri="4cb30b56-fffb-4fa1-b03e-7300ff650f88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C6968A6-3D04-48DA-82CD-B2AF122627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33293</TotalTime>
  <Words>276</Words>
  <Application>Microsoft Office PowerPoint</Application>
  <PresentationFormat>Panorámica</PresentationFormat>
  <Paragraphs>80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3" baseType="lpstr">
      <vt:lpstr>Aptos Narrow</vt:lpstr>
      <vt:lpstr>Arial</vt:lpstr>
      <vt:lpstr>Bogle</vt:lpstr>
      <vt:lpstr>Bogle Black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HEWSTONE GUTIÉRREZ, KEVIN A.</dc:creator>
  <cp:lastModifiedBy>Karla Arenas (Chile)</cp:lastModifiedBy>
  <cp:revision>1263</cp:revision>
  <dcterms:created xsi:type="dcterms:W3CDTF">2021-02-03T19:40:34Z</dcterms:created>
  <dcterms:modified xsi:type="dcterms:W3CDTF">2024-10-02T16:39:34Z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0x01010009CAD6D3F6191D4F9BA932C35C6EFEA7</vt:lpwstr>
  </property>
</Properties>
</file>