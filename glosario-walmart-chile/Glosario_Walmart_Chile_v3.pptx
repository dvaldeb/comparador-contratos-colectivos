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Bienvenido/a a</a:t>
            </a:r>
            <a:br/>
            <a:r>
              <a:t>Walmart Chile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C220"/>
                </a:solidFill>
                <a:latin typeface="Calibri"/>
              </a:defRPr>
            </a:pPr>
            <a:r>
              <a:t>Tu guia de onboarding para entender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FF"/>
                </a:solidFill>
                <a:latin typeface="Calibri"/>
              </a:defRPr>
            </a:pPr>
            <a:r>
              <a:t>(sin morir en el intento)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AAEE"/>
                </a:solidFill>
                <a:latin typeface="Calibri"/>
              </a:defRPr>
            </a:pPr>
            <a:r>
              <a:t>Para nuevos asociados y alumnos en practica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Hola! Tu primer dia empieza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Hoy empiezas una aventura increible. Walmart Chile es una empresa enorme, pero somos una gran familia. No te preocupes si al principio todo suena a sopa de letras... a todos nos paso!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" cy="13716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411480" cy="4114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898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Pregunta sin miedo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37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Aqui nadie nace sabiendo. La politica de Puerta Abierta existe para eso. Pregunta todo lo que necesites.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9496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54864" cy="13716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411480" cy="4114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0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443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Aprende las siglas de a poco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UPLH, JEQ, NSG, NTC... suena a otro idioma, pero en 2 semanas ya las vas a manejar como un pro.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539496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54864" cy="13716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526280"/>
            <a:ext cx="411480" cy="4114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44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98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Conoce tu tienda/oficina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Recorre cada rincon. Entiende como fluye la mercaderia desde el anden hasta la gondola.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280160"/>
            <a:ext cx="539496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280160"/>
            <a:ext cx="54864" cy="13716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1417320"/>
            <a:ext cx="411480" cy="4114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4356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3898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Tu opinion importa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737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Walmart valora las ideas frescas. Si ves algo que se puede mejorar, dilo!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834640"/>
            <a:ext cx="539496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834640"/>
            <a:ext cx="54864" cy="13716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2971800"/>
            <a:ext cx="411480" cy="4114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990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9443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Descarga las apps clave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MyWalmart para noticias internas. LiderApp para entender la experiencia del cliente.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389120"/>
            <a:ext cx="539496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389120"/>
            <a:ext cx="54864" cy="13716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92240" y="4526280"/>
            <a:ext cx="411480" cy="41148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544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4988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Aprende los nombres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8463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alibri"/>
              </a:defRPr>
            </a:pPr>
            <a:r>
              <a:t>Saluda a todos. Usa la Regla de los 3 metros tambien con tus companeros.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No te asustes si...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A todos nos paso. Esto es totalmente normal en las primeras semanas.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82296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Situacion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no entiendes una sigla en una reunion... nadie las entendio todas al principio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394960" cy="82296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Situacion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te pierdes en la tienda... hasta los que llevan 10 anos se pierden a veces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5394960" cy="82296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Situacion 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la bodega te parece un laberinto... es porque lo es (pero tiene logica, te lo prometemos)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394960" cy="82296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Situacion #4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escuchas 'apantallar'... no es una broma, es un termino real de reposicion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5394960" cy="82296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5213"/>
                </a:solidFill>
                <a:latin typeface="Calibri"/>
              </a:defRPr>
            </a:pPr>
            <a:r>
              <a:t>Situacion #5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5213"/>
                </a:solidFill>
                <a:latin typeface="Calibri"/>
              </a:defRPr>
            </a:pPr>
            <a:r>
              <a:t>Si te dicen 'Gamma'... no es una pelicula de Marvel, es la entrada de colaboradores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80160"/>
            <a:ext cx="5120640" cy="47548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3E2"/>
                </a:solidFill>
                <a:latin typeface="Calibri"/>
              </a:defRPr>
            </a:pPr>
            <a:r>
              <a:t>Sabias que...?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828800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828800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8836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Walmart es el empleador privado mas grande del mundo con ~2.1 millones de asociados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350007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350007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40487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Sam Walton abrio la primera tienda en 1962 en un pueblito de Arkansas, EE.UU.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871214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2871214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292607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Walmart Chile es el supermercado #1 del pais con ~400 tiendas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92421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392421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447285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filosofia EDLP tardo 9 anos en implementarse completamente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913628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3913628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39684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Spark (la estrellita del logo) nos recuerda que el cliente es lo primero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35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4434835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48969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En Walmart no hay 'empleados', todos somos 'asociados' = socios del negocio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956042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4956042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501090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tarjeta Presto es parte del ecosistema financiero de Walmart Chile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5477249"/>
            <a:ext cx="47548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5477249"/>
            <a:ext cx="54864" cy="43891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5532113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Lider.cl es el #1 en supermercado online de Chile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Que vas a encontrar aqui?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1508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292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Que es Walmart?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37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Historia, Sam Walton y presencia 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5394960" cy="1508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50292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17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Walmart Chile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290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Numeros, estrategia y estructura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5394960" cy="1508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709160"/>
            <a:ext cx="50292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274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709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Formatos de Tienda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206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Lider, Express, SBA, Mayorista, Ekono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188720"/>
            <a:ext cx="5394960" cy="1508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1325880"/>
            <a:ext cx="50292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3441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Marcas Propias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737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Great Value, Equate, Acuenta y mas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880360"/>
            <a:ext cx="5394960" cy="1508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3017520"/>
            <a:ext cx="50292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358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017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KPIs Clave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290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UPLH, JEQ, NPS, NTC, NSG, Comp...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572000"/>
            <a:ext cx="5394960" cy="1508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4709160"/>
            <a:ext cx="502920" cy="5029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7274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709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3E2"/>
                </a:solidFill>
                <a:latin typeface="Calibri"/>
              </a:defRPr>
            </a:pPr>
            <a:r>
              <a:t>Glosario Completo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1206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Tienda, inventario, eComm, logistica, tech, finanzas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Que es Walmart?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La empresa minorista mas grande del mundo. Fundada por Sam Walton en un pueblito de Arkansas.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51760" cy="9144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1962, Rogers, Arkansas, EE.UU.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C220"/>
                </a:solidFill>
                <a:latin typeface="Calibri"/>
              </a:defRPr>
            </a:pPr>
            <a:r>
              <a:t>Fundacion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2651760" cy="9144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~2.1 millones (mayor empleador privado del mundo)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C220"/>
                </a:solidFill>
                <a:latin typeface="Calibri"/>
              </a:defRPr>
            </a:pPr>
            <a:r>
              <a:t>Asociados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651760" cy="9144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#1 Fortune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C220"/>
                </a:solidFill>
                <a:latin typeface="Calibri"/>
              </a:defRPr>
            </a:pPr>
            <a:r>
              <a:t>Fortune 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188720"/>
            <a:ext cx="2651760" cy="9144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234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5,400+ tiendas internacionales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C220"/>
                </a:solidFill>
                <a:latin typeface="Calibri"/>
              </a:defRPr>
            </a:pPr>
            <a:r>
              <a:t>Tiendas Intl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77440"/>
            <a:ext cx="11064240" cy="10972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4231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5213"/>
                </a:solidFill>
                <a:latin typeface="Calibri"/>
              </a:defRPr>
            </a:pPr>
            <a:r>
              <a:t>Nuestro Proposito: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97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5213"/>
                </a:solidFill>
                <a:latin typeface="Calibri"/>
              </a:defRPr>
            </a:pPr>
            <a:r>
              <a:t>"Ahorramos dinero a las personas para que vivan mejor."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530352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5303520" cy="4572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 Creencias Basicas (Sam Walton, 1962)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49377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708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1. Respeto por el Individuo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99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Cada persona es unica y valiosa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83480"/>
            <a:ext cx="49377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98348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10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2. Servicio al Cliente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395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"Solo hay un jefe... el cliente"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23560"/>
            <a:ext cx="49377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62356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6509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3. Busqueda de la Excelencia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795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Superar el miedo al fracaso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749039"/>
            <a:ext cx="530352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17920" y="3749039"/>
            <a:ext cx="5303520" cy="4572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Donde estamos en el mundo?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Mexico &amp; CAM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6 paises centroamericanos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681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Canada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681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Retail + Tech 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Chile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0200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#1 supermercado del pais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358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China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3583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Retail + Sourcing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696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India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696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Flipkart, PhonePe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Sudafrica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035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Massmart, 407+ tiendas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Filosofia y 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Esto es lo que nos hace diferentes. No son solo palabras, se viven en el dia a 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4572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EDLP - Every Day Low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"Piensa en cuan poco puedo cobrar." - Sam Walton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Servimos como agentes del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Presion constante hacia abajo en precios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EDLC impulsa y hace posible EDLP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'Duros pero justos' al negociar costos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Analizar precios de la competencia siempre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5303520" cy="10972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5213"/>
                </a:solidFill>
                <a:latin typeface="Calibri"/>
              </a:defRPr>
            </a:pPr>
            <a:r>
              <a:t>EDLC - Every Day Low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5213"/>
                </a:solidFill>
                <a:latin typeface="Calibri"/>
              </a:defRPr>
            </a:pPr>
            <a:r>
              <a:t>"Controla tus gastos mejor que tu competencia." - Sam Walton. EDLC es lo que HACE POSIBLE ofrecer EDLP.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303520" cy="4023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303520" cy="4572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Asi vivimos la cultura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783080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783080"/>
            <a:ext cx="54864" cy="56692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8105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Regla de los 3 Metros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39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 menos de 3m del cliente: para, sonrie, saluda.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441448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41448"/>
            <a:ext cx="54864" cy="56692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Regla Sundown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Te preguntan algo? Responde HOY, aunque sea 'estoy averiguando'.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099816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099816"/>
            <a:ext cx="54864" cy="56692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1272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Puerta Abierta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355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Puedes hablar con cualquiera, sin miedo. Confidencial.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758184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758184"/>
            <a:ext cx="54864" cy="56692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7856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Hospitalidad Agresiva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014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Sorprender al cliente yendo mas alla.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416552"/>
            <a:ext cx="49377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416552"/>
            <a:ext cx="54864" cy="56692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4439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Somos Asociados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672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 'empleados'. Somos socios del negocio.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394960"/>
            <a:ext cx="11064240" cy="7772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TIP: Estas practicas no son solo para la tienda. En oficina, en tech, en logistica... en TODOS lados se viven. Si ves a alguien practicandolas, reconocelo!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Walmart Chile - Nuestros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En 2008-2009, Walmart adquirio D&amp;S (Distribucion y Servicio), duena de Lider, Ekono y Express. Asi nacio Walmart Chile.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51760" cy="11887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220"/>
                </a:solidFill>
                <a:latin typeface="Calibri"/>
              </a:defRPr>
            </a:pPr>
            <a:r>
              <a:t>Tiendas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CCFF"/>
                </a:solidFill>
                <a:latin typeface="Calibri"/>
              </a:defRPr>
            </a:pPr>
            <a:r>
              <a:t>en todo Chile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51760" cy="11887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~27%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220"/>
                </a:solidFill>
                <a:latin typeface="Calibri"/>
              </a:defRPr>
            </a:pPr>
            <a:r>
              <a:t>Market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CCFF"/>
                </a:solidFill>
                <a:latin typeface="Calibri"/>
              </a:defRPr>
            </a:pPr>
            <a:r>
              <a:t>retail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651760" cy="11887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220"/>
                </a:solidFill>
                <a:latin typeface="Calibri"/>
              </a:defRPr>
            </a:pPr>
            <a:r>
              <a:t>Supermercado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CCFF"/>
                </a:solidFill>
                <a:latin typeface="Calibri"/>
              </a:defRPr>
            </a:pPr>
            <a:r>
              <a:t>del pais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188720"/>
            <a:ext cx="2651760" cy="118872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+1,500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220"/>
                </a:solidFill>
                <a:latin typeface="Calibri"/>
              </a:defRPr>
            </a:pPr>
            <a:r>
              <a:t>Proveedores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CCFF"/>
                </a:solidFill>
                <a:latin typeface="Calibri"/>
              </a:defRPr>
            </a:pPr>
            <a:r>
              <a:t>socios comerciales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51760"/>
            <a:ext cx="53035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697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Posicion de Mercado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Grocery moderno: ~40-47% en grocery moderno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eCommerce: ~18% eCommerce Chile (#1 en supermercado online)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Revenue 2023: CLP ~5.4 billones (2023)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Inversion omnicanal: US$1,300 millones (2023-2025)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Meta online: 20% penetracion online para 2025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Competencia principal: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Cencosud: Jumbo, Santa Isabel, Paris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Falabella: Falabella, Sodimac, Tottus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SMU: Unimarc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- MercadoLibre: Crecimiento explosivo 71% CAGR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651760"/>
            <a:ext cx="530352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E2"/>
                </a:solidFill>
                <a:latin typeface="Calibri"/>
              </a:defRPr>
            </a:pPr>
            <a:r>
              <a:t>4 Unidades de Negocio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Retail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063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Operaciones de tienda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Soporte (HO)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364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Funciones corporativas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66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Logistica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667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Centros de distribucion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Plantas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684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Produccion propia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480560"/>
            <a:ext cx="5303520" cy="2011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26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Codigos SAP (los vas a ver en reportes)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S150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892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Lider (Hipermercado)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84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S151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1846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Express de Lider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4772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S260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4772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Express 400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7698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S107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7698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Bodega / SBA / Acuenta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062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S157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60624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Central Mayorista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Walmart Chile - Estrategia y Dotacion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Hacia donde vamos y como medimos a nuestra gente.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5303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4572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 Prioridades Estrategicas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1. Win in Omni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20% penetracion online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42316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2. Run Great 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791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Simplificar operacion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6324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90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3. Develop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192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Mi Club 3.2M MAU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0332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30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4.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5935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2M SKUs en 3P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34340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708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5. Central Mayorista Digital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994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#2 B2B Chile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8348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98348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109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6. Attract &amp; Develop Talent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395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Mentalidad digital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623560"/>
            <a:ext cx="5120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623560"/>
            <a:ext cx="54864" cy="5486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50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7. Power Tech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795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Reducir deuda tecnica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188720"/>
            <a:ext cx="512064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1188720"/>
            <a:ext cx="5120640" cy="45720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People Analytics - Dotacion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Headcount 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Personas activas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JEQ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148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Jornada Equivalente (176 hrs/mes)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Ingresos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514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Nuevas contrataciones/mes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Rotacion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28803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turnover de asociados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Ausentismo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3246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% ausencias vs planificado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114800"/>
            <a:ext cx="5120640" cy="23774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4160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3E2"/>
                </a:solidFill>
                <a:latin typeface="Calibri"/>
              </a:defRPr>
            </a:pPr>
            <a:r>
              <a:t>Como se segmenta la dotacion?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Formato: Lider, Express, Bodega, Mayorista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818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Unidad: Retail, Soporte, Logistica, Plantas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5111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Mercado (agrupacion geografica)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404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Banda salarial, tipo contrato, jornada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696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Genero, nacionalidad, antiguedad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Por Generacion: Boomers/GenX/Millennials/GenZ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6263640"/>
            <a:ext cx="4754880" cy="22860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6263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5213"/>
                </a:solidFill>
                <a:latin typeface="Calibri"/>
              </a:defRPr>
            </a:pPr>
            <a:r>
              <a:t>Datos en BigQuery y Power BI. Reporte semanal (lunes 7 AM). Contacto: wcspahr@wal-mart.com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Formatos de Tienda - Conocelos!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Cada formato atiende un tipo de cliente diferente. Aprende a diferenciarlos!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38328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Lider (Hiper)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Hipermercado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formato estrella. Tiendas grandes con TODO: alimentos, ropa, electronica, hogar. Es como un universo de productos.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ACP (Alimentos, Consumibles, Pets) | PPS (Perecederos) | GM (Merchandise)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| lider.cl | LiderApp | Click &amp; Collect | Despacho mismo 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SAP: S150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3200400" cy="8686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Banner #1 en Chile (~7.1% share). NPS target &gt;= 65%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06240" y="1097280"/>
            <a:ext cx="338328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Express de Lider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737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Supermercado urbano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Mas chiquito y cerca de tu casa. Ideal para la compra rapida del dia a dia. Piensa en comodidad.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8346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Foco en ACP y 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4290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| SOD online | recetaslider.cl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0233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SAP: S151 / S260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480560"/>
            <a:ext cx="3200400" cy="8686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526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709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Visitas frecuentes, canasta chica. NPS target &gt;= 63%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0" y="1097280"/>
            <a:ext cx="338328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SuperBodega aCuenta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737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Bodega de descuento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Sin lujos pero con los MEJORES precios. Mucha marca propia. El formato para quienes cuidan cada peso.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8346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Foco en precio y marcas propias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4290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| acuenta.cl | Pickup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0233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SAP: S107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80" y="4480560"/>
            <a:ext cx="3200400" cy="8686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526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709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Clientes sensibles al precio. NPS target &gt;= 78% (el mas alto!)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Formatos de Tienda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38328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Central Mayorista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Mayorista B2B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Para negocios: botillerias, kioscos, restaurantes. Compras a granel con descuentos por volumen.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Productos a granel y volumen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Tienda | centralmayorista.cl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SAP: S157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3200400" cy="8686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13 tiendas. Foco B2B. NPS target &gt;= 70%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097280"/>
            <a:ext cx="3383280" cy="5120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1097280"/>
            <a:ext cx="3383280" cy="548640"/>
          </a:xfrm>
          <a:prstGeom prst="round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170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Ekono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7373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Barrio (phase out)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Formato chico de barrio. Actualmente en proceso de cierre o reconversion a otros formatos.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8346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Areas: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Groceries basicos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4290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3E2"/>
                </a:solidFill>
                <a:latin typeface="Calibri"/>
              </a:defRPr>
            </a:pPr>
            <a:r>
              <a:t>Canales: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611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6B6B"/>
                </a:solidFill>
                <a:latin typeface="Calibri"/>
              </a:defRPr>
            </a:pPr>
            <a:r>
              <a:t>Solo tienda fisica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0233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SAP: 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480560"/>
            <a:ext cx="3200400" cy="868680"/>
          </a:xfrm>
          <a:prstGeom prst="roundRect">
            <a:avLst/>
          </a:prstGeom>
          <a:solidFill>
            <a:srgbClr val="FFF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5262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5213"/>
                </a:solidFill>
                <a:latin typeface="Calibri"/>
              </a:defRPr>
            </a:pPr>
            <a:r>
              <a:t>Dato clave: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709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5213"/>
                </a:solidFill>
                <a:latin typeface="Calibri"/>
              </a:defRPr>
            </a:pPr>
            <a:r>
              <a:t>En proceso de phase-out.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Marcas Propias &amp; 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Nuestras marcas son un diferenciador clave. Ofrecen calidad a mejor precio.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99"/>
                </a:solidFill>
                <a:latin typeface="Calibri"/>
              </a:defRPr>
            </a:pPr>
            <a:r>
              <a:t>Marcas Propias (las reconoceras en gondola)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Great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447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Alimentos/hogar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447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LA marca propia. Calidad a precio accesible.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47672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Equate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751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Salud/belleza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97510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Higiene y cuidado personal.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78024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Mainstays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0545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Hogar/deco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50545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Decoracion y ropa de cama.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08376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26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Acuenta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0358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Descuento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0358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Asociada al formato SBA.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38728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57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Lider (marca)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5661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Multi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566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Marca propia multicate.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69080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87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Spark Create Imagine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09651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Bebes/ninos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0965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Juguetes infantiles.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99432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617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HC Just 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6268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Hogar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6268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Coleccion para el hogar.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129784"/>
            <a:ext cx="53035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148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Autodrive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1572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6B6B"/>
                </a:solidFill>
                <a:latin typeface="Calibri"/>
              </a:defRPr>
            </a:pPr>
            <a:r>
              <a:t>Automotriz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15721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Accesorios de auto.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99"/>
                </a:solidFill>
                <a:latin typeface="Calibri"/>
              </a:defRPr>
            </a:pPr>
            <a:r>
              <a:t>Servicios Financieros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1417320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1435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Presto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44475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Tarjeta de credito propia.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1947672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MasterCard Presto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1975104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Co-branded con MasterCard.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2478024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Creditos de Consumo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505456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Financiamiento personal.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3008376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026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Seguros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035808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Productos de seguros.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3538728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557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Pago de Cuentas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566160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Pago servicios basicos.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069080"/>
            <a:ext cx="484632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087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3E2"/>
                </a:solidFill>
                <a:latin typeface="Calibri"/>
              </a:defRPr>
            </a:pPr>
            <a:r>
              <a:t>Mi Club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096512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D2D2D"/>
                </a:solidFill>
                <a:latin typeface="Calibri"/>
              </a:defRPr>
            </a:pPr>
            <a:r>
              <a:t>Fidelizacion. Meta: 3.2M MAU.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577840"/>
            <a:ext cx="1106424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6235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3E2"/>
                </a:solidFill>
                <a:latin typeface="Calibri"/>
              </a:defRPr>
            </a:pPr>
            <a:r>
              <a:t>NPS Targets por Formato (que tan bien nos evaluan los clientes)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D2D2D"/>
                </a:solidFill>
                <a:latin typeface="Calibri"/>
              </a:defRPr>
            </a:pPr>
            <a:r>
              <a:t>Lider &gt;= 65%   |   Express &gt;= 63%   |   SBA &gt;= 78% (el mas alto!)   |   Mayorista &gt;= 70%   |   Lider.cl &gt;= 49%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Tienda &amp; Sala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El vocabulario basico para entender como funciona una tienda por dentro.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Gondola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Shelf/Aisle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Las estanterias donde estan los productos. Son como las 'calles' de la tienda.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Cabecera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Endcap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inicio o final de la gondola. Espacio VIP para promos y exhibiciones especiales.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Planograma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Planogram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'mapa' que dice que producto va en que lugar. Se basa en datos de venta y rentabilidad.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Fleje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Price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etiqueta de precio en la gondola. Tiene PLU, precio y descripcion. Debe estar siempre!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Beta / Gamma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Accesos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Beta = por donde entran los clientes. Gamma = por donde entras tu como asociado.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Apantallar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Facing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Poner los productos 'bonitos' al frente cuando hay poco stock. Que se vea lleno.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Regla 4x1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Revision por metro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En cada metro de gondola revisas: fleje, limpieza, presentacion y quiebres. 4 cosas!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Point of Sale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caja registradora. El dispositivo donde se cobra al cliente.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Inventario &amp;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Como controlamos la mercaderia desde que llega hasta que el cliente la compra.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Price Look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'RUT' del producto. Codigo interno que identifica cada item. En Chile se usa mas que SKU.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Stock Keeping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Otro nombre para identificar productos. Mas usado en contexto global.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Codigo de barra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codigo de barras que se escanea en caja. Lo lleva cada producto.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Bin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Ubicacion bodega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Cada espacio de bodega tiene un codigo. Es como el 'departamento' donde vive el producto.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FIFO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First In First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Lo primero que llego es lo primero que sale. Logica basica de rotacion.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FEFO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First Exp. First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Para frescos: sale primero lo que vence antes. Clave para evitar merma.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RRP/PDQ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Retail Ready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Cajas disenadas para ir directo a gondola. Se abren y listo, ya estan exhibidas.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Anden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Receiving Dock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Donde llegan los camiones. Aqui empieza todo el ciclo de la mercaderia en tienda.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E-Commerce &amp;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El mundo online de Walmart Chile. Cada vez mas clientes compran desde su celular.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Lider.cl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Nuestra tienda online. El Netflix de los supermercados (pero de comida y mas).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Catex (CE)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Catalogo Extendido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que solo se venden online, desde bodegas. No estan en tienda fisica.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Supermercado On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Compras online pero el producto sale de una tienda fisica. Asi de rapido.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DarkStore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Tienda oscura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Una tienda que SOLO atiende pedidos online. No entran clientes. Suena a pelicula, pero es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Sellers 3P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Vendedores externos que ofrecen sus productos a traves de Lider.cl.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Omnicanalidad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Omnichannel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el cliente tenga la misma experiencia comprando en tienda, web o app. Sin fricciones.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1P / 3P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First/Third Party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1P = lo vende Walmart directo. 3P = lo vende un seller externo en nuestro marketplace.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Fulfillment &amp; Logistica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Todo lo que pasa desde que el cliente hace click en 'Comprar' hasta que recibe su pedido.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Fulfillment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Proceso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viaje del pedido: lo recibimos -&gt; lo armamos -&gt; lo empacamos -&gt; lo despachamos -&gt; lo entregamos.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Picking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Armado de pedidos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Ir por la tienda con un carro llenandolo con lo que pidio el cliente. Es como hacer la compra por 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Amida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App de picking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app que usan los pickers para armar pedidos. Les dice que buscar y donde.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Home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Despacho a casa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Te lo llevamos a la puerta de tu casa. Asi de simple.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Pickup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Retiro en tienda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Compras online y lo retiras tu en la tienda. Sin filas.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LAT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Lider al Toque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Despacho el MISMO DIA. Para los que no pueden esperar (osea, todos).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Drop-shipping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Envio directo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proveedor manda el producto directo al cliente. Nosotros no lo tocamos.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Tecnologia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Los sistemas que hacen funcionar todo detras de escena.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GTP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Global Tech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plataforma tecnologica global. Donde viven nuestros sistemas.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IMS (Wakanda)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Inventario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sistema de inventario. Si, se llama Wakanda. Somos asi de cool.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WMS (Dr Strange)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Bodega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Sistema de gestion de bodega. Los nombres de Marvel son tradicion tech.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Pedidos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Gestiona todo el ciclo de vida de los pedidos online.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sistema para finanzas, RRHH y cadena de suministro. El 'cerebro' administrativo.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Seguridad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Cada app tiene su plan de seguridad. Es obligatorio.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Eagle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Red interna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red corporativa de Walmart. Todo lo sensible vive aqui adentro.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4ITB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4 in the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Asi trabajamos en tech: Engineering + Product + UX + Negocio. Juntos.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53E2"/>
                </a:solidFill>
                <a:latin typeface="Calibri"/>
              </a:defRPr>
            </a:pPr>
            <a:r>
              <a:t>Finanzas &amp;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Como decidimos que vender, a que precio y como medimos si funciono.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Category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proceso de elegir QUE productos van en cada tienda. Se hace 1 vez al ano + 3 ajustes.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Fineline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Sub-categoria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Dentro de 'Bebidas' hay 'Aguas', 'Jugos', etc. Cada una es un fineline.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Markdown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Rebaja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Bajar el precio para liquidar stock. Comun en fin de temporada.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Baja temporal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Bajamos el precio regular por un tiempo. Es una movida clasica de Walmart.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Customer Value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tan importante es este producto para el cliente? Un score que lo mide.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04872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404872"/>
            <a:ext cx="54864" cy="1188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Sell-through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Tasa de venta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 lo que recibimos, cuanto vendimos? Mide velocidad de venta.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Personas y Productividad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Estos KPIs miden como estamos en dotacion y eficiencia. Son clave para saber si tenemos la gente correcta en el lugar correcto.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UPLH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Units Per Labor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Cuantas unidades vendemos por cada hora trabajada. Es EL indicador de productividad en tienda. Se mide por marcacion de reloj.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JEQ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Jornada Equivalente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Cuantas 'jornadas completas' tenemos. 1 JEQ = 176 hrs/mes (44 hrs/semana). Si alguien trabaja media jornada = 0.5 JEQ. Se actualiza el dia 15.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Ausentismo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% Ausencias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Cuantos asociados faltan vs los planificados. Semaforo: Verde &lt;= 10%, Amarillo 10-20%, Rojo &gt; 20%. Se mide DIARIO.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Rotacion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Turnover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Cuantos asociados se van vs los activos. Se mide mensualmente. Un indicador clave de salud organizacional.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Jornadas CEC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Jornadas equivalentes de los asociados que estan de cara al cliente (Full y Part Time).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NPS y Voz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Asi medimos si al cliente le gustamos. El NPS es el termometro de la experiencia. Se mide via Medallia.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Net Promoter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Del 0 al 10, cuanto nos recomendaria un cliente? Targets: Lider &gt;= 65%, Express &gt;= 63%, SBA &gt;= 78%, Mayorista &gt;= 70%, Lider.cl &gt;= 49%.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NPS Fisico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En tienda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NPS especifico del canal fisico. Se actualiza semanalmente los martes via Medallia.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NPS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Canal 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NPS del canal digital. Target &gt;= 49%. Si baja de 44% estamos en rojo.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CSAT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Satisfaccion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Satisfaccion por atributo (escala 1-7). Se usa para entender QUE atributos impactan mas el NPS.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Reclamos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Complaints CRM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 cuentan diario desde el CRM. Cada reclamo es una oportunidad de mejora.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Ventas y Finanzas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La salud financiera del negocio. Estos numeros definen si estamos cumpliendo nuestras metas.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Venta Neta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Net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vendimos en pesos. LA metrica reina. Target: &gt;=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Comp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Comparable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crecimos vs el mismo periodo del ano pasado EN LAS MISMAS tiendas. Target: &gt;= 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Ticket Promedio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Average Ticket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gasta en promedio cada cliente por visita. Se actualiza diario.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Cant.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Transacciones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Cuantas compras se hicieron en caja. Es el proxy de trafico de clientes.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ROP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Resultado Operacional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La foto completa: Ingresos + Gastos + Otros. Target: &gt;= Plan.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SG&amp;A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Gastos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Gastos generales y administrativos. Queremos que sea &lt; 20%. Cada peso cuenta!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GMV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Gross Merch.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Venta bruta total (tiendas + eComm + Marketplace) menos descuentos y devoluciones.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Disponibilidad en Gondola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Si el producto no esta en la gondola, no se vende. Estos KPIs aseguran que el cliente encuentre lo que busca.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Nivel Servicio Gondola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El producto esta, esta ordenado, limpio y con fleje? Verde &gt;= 97.5%, Rojo &lt; 95.5%. Se mide DIARIO.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Instock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% En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Tenemos producto para la demanda? Verde &gt;= 96%, Rojo &lt; 93%. Tambien diario.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Days on Hand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Para cuantos dias nos alcanza el stock? Formula: Inventario / Venta diaria. Verde &gt;= 10, Rojo &lt; 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Quiebre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Cap Stockout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Hay stock en bodega pero NO en piso? Eso es un quiebre CAP. Verde &lt; 2%, Rojo &gt; 5%.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Disponota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Score Flujo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Nota del 1 al 10 del proceso de flujo de mercaderia. Verde &gt;= 8, Rojo &lt; 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Merma (Perdidas)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La merma es dinero que se pierde. Cada producto danado, vencido o hurtado impacta directamente el resultado.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Desecho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Waste/Spoilage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que no se pueden vender: vencidos, mal etiquetados. Muy comun en frescos.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Danado (MKD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Damaged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Productos danados en areas retail que ya no se pueden vender.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Fresh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Perdida Frescos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Perdida total en departamentos de costo: (Desecho + Desconocido) / Venta.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Proy. Inventario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Projected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Perdida desconocida estimada (hurto + ajustes) desde el ultimo conteo.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Aporte Merma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Vendor Contrib.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Lo que aporta el proveedor para cubrir la merma. Se negocia.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Fulfillment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Cuando un cliente compra online, estos KPIs miden si le entregamos bien, completo y a tiempo.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Pedido Perfecto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OTIF (Perfect Order)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Llego a tiempo, completo y al lugar correcto? Verde &gt;= 40%, Rojo &lt; 30%. Es LA metrica de eComm.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Completitud c/s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Con sustitucion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Del pedido, que % logramos entregar (contando sustitutos)? Verde &gt;= 98%, Rojo &lt; 95%.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Completitud s/s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Sin sustitucion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del pedido ORIGINAL entregamos sin cambiar nada? Verde &gt;= 90%, Rojo &lt; 85%.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3E2"/>
                </a:solidFill>
                <a:latin typeface="Calibri"/>
              </a:defRPr>
            </a:pPr>
            <a:r>
              <a:t>KPI: Checkout (Zona de Pago)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Nadie quiere esperar en la fila de la caja. Estos KPIs miden la rapidez del proceso de pago.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Nivel Tiempo Caja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Cuanto tiempo espera el cliente? Targets: Lider &gt;= 81%, Express &gt;= 80%, SBA &gt;= 82%. Tiempos max: Lider 7.6 min, Express 6.9 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NSC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Nivel Servicio 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del tiempo las cajas NO tienen cola? Verde &gt;= 80%, Rojo &lt; 70%.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66744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Uso SCO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98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Self-Checkout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 clientes usa cajas de autoservicio? Targets: Lider &gt;= 24%, Express &gt;= 35%, SBA &gt;= 25%.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5303520" cy="1188720"/>
          </a:xfrm>
          <a:prstGeom prst="roundRect">
            <a:avLst/>
          </a:prstGeom>
          <a:solidFill>
            <a:srgbClr val="E8F7E0"/>
          </a:solidFill>
          <a:ln w="12700">
            <a:solidFill>
              <a:srgbClr val="B0DD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28616"/>
            <a:ext cx="54864" cy="11887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3E2"/>
                </a:solidFill>
                <a:latin typeface="Calibri"/>
              </a:defRPr>
            </a:pPr>
            <a:r>
              <a:t>Cajas Abiertas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0017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6B6B"/>
                </a:solidFill>
                <a:latin typeface="Calibri"/>
              </a:defRPr>
            </a:pPr>
            <a:r>
              <a:t>Open Registers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Que % de las cajas fisicas estan abiertas? Debe cumplir el plan.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C22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Ahora ya sabes lo basico.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220"/>
                </a:solidFill>
                <a:latin typeface="Calibri"/>
              </a:defRPr>
            </a:pPr>
            <a:r>
              <a:t>El resto lo aprenderas haciendo. Y preguntando. Mucho.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200" b="1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Recursos que te van a salvar la vida: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MyWalmart (ex WIRE) - Portal interno con todo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Confluence - Documentacion tecnica y glosarios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Slack: #glosario_wt - Pregunta lo que no entiendas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Workday - Tu perfil, vacaciones, recibos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WIC+ - Dashboard de KPIs (tu nuevo mejor amigo)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Medallia - Donde vive el NPS y la voz del cliente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Power BI - Reportes de Headcount y People Analytics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Contacto People Analytics: wcspahr@wal-mart.com</a:t>
            </a: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</a:p>
          <a:p>
            <a:pPr algn="ctr">
              <a:spcBef>
                <a:spcPts val="300"/>
              </a:spcBef>
              <a:defRPr sz="1200" b="0">
                <a:solidFill>
                  <a:srgbClr val="CCDDFF"/>
                </a:solidFill>
                <a:latin typeface="Calibri"/>
              </a:defRPr>
            </a:pPr>
            <a:r>
              <a:t>"Solo hay un jefe... el cliente." - Sam Walton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