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274320"/>
            <a:ext cx="731520" cy="7315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182880"/>
            <a:ext cx="365760" cy="365760"/>
          </a:xfrm>
          <a:prstGeom prst="ellipse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9144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8503920" cy="237744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1031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C220"/>
                </a:solidFill>
                <a:latin typeface="Calibri"/>
              </a:defRPr>
            </a:pPr>
            <a:r>
              <a:t>Bienvenido/a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Walmart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661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FF"/>
                </a:solidFill>
                <a:latin typeface="Calibri"/>
              </a:defRPr>
            </a:pPr>
            <a:r>
              <a:t>Tu guía de onboarding (inducción)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029200"/>
            <a:ext cx="5760720" cy="64008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50749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99"/>
                </a:solidFill>
                <a:latin typeface="Calibri"/>
              </a:defRPr>
            </a:pPr>
            <a:r>
              <a:t>Nuevos colaboradores y alumnos en práctica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Tu primer día empieza aquí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Hoy empiezas una aventura increíble. No te preocupes si al principio suena a sopa de letras... ¡a todos nos pasó!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2651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2651760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2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08483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3E2"/>
                </a:solidFill>
                <a:latin typeface="Calibri"/>
              </a:defRPr>
            </a:pPr>
            <a:r>
              <a:t>Pregunta sin miedo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La Puerta Abierta existe para eso.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828800"/>
            <a:ext cx="2651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828800"/>
            <a:ext cx="2651760" cy="64008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51960" y="205740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08483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8703"/>
                </a:solidFill>
                <a:latin typeface="Calibri"/>
              </a:defRPr>
            </a:pPr>
            <a:r>
              <a:t>Las siglas se aprenden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En 2 semanas ya las manejas.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828800"/>
            <a:ext cx="2651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2651760" cy="640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86600" y="2057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08483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21A8"/>
                </a:solidFill>
                <a:latin typeface="Calibri"/>
              </a:defRPr>
            </a:pPr>
            <a:r>
              <a:t>Recorre tu tienda/oficina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Entiende cómo fluye todo.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828800"/>
            <a:ext cx="2651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828800"/>
            <a:ext cx="2651760" cy="64008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21240" y="205740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08483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6700"/>
                </a:solidFill>
                <a:latin typeface="Calibri"/>
              </a:defRPr>
            </a:pPr>
            <a:r>
              <a:t>Tu opinión importa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Las ideas frescas son bienvenidas.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54880"/>
            <a:ext cx="11155680" cy="182880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00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5213"/>
                </a:solidFill>
                <a:latin typeface="Calibri"/>
              </a:defRPr>
            </a:pPr>
            <a:r>
              <a:t>No te asustes si...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5349240"/>
            <a:ext cx="320040" cy="3200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67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349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5213"/>
                </a:solidFill>
                <a:latin typeface="Calibri"/>
              </a:defRPr>
            </a:pPr>
            <a:r>
              <a:t>No entiendes una sigla en reunión</a:t>
            </a:r>
          </a:p>
        </p:txBody>
      </p:sp>
      <p:sp>
        <p:nvSpPr>
          <p:cNvPr id="40" name="Oval 39"/>
          <p:cNvSpPr/>
          <p:nvPr/>
        </p:nvSpPr>
        <p:spPr>
          <a:xfrm>
            <a:off x="3429000" y="5349240"/>
            <a:ext cx="320040" cy="3200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5367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349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5213"/>
                </a:solidFill>
                <a:latin typeface="Calibri"/>
              </a:defRPr>
            </a:pPr>
            <a:r>
              <a:t>Te pierdes en la tienda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5349240"/>
            <a:ext cx="320040" cy="3200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367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349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5213"/>
                </a:solidFill>
                <a:latin typeface="Calibri"/>
              </a:defRPr>
            </a:pPr>
            <a:r>
              <a:t>La bodega parece un laberinto</a:t>
            </a:r>
          </a:p>
        </p:txBody>
      </p:sp>
      <p:sp>
        <p:nvSpPr>
          <p:cNvPr id="46" name="Oval 45"/>
          <p:cNvSpPr/>
          <p:nvPr/>
        </p:nvSpPr>
        <p:spPr>
          <a:xfrm>
            <a:off x="9006840" y="5349240"/>
            <a:ext cx="320040" cy="3200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5367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349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5213"/>
                </a:solidFill>
                <a:latin typeface="Calibri"/>
              </a:defRPr>
            </a:pPr>
            <a:r>
              <a:t>Escuchas 'apantallar' por primera vez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¿Sabías que...?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Datos curiosos para romper el hielo en tu primera semana.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10332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91440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2011680"/>
            <a:ext cx="548640" cy="5486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0391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116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3E2"/>
                </a:solidFill>
                <a:latin typeface="Calibri"/>
              </a:defRPr>
            </a:pPr>
            <a:r>
              <a:t>Walmart tiene ~2.1 millones de colaboradores en el mundo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17520"/>
            <a:ext cx="10332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017520"/>
            <a:ext cx="91440" cy="100584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3200400"/>
            <a:ext cx="548640" cy="5486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227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20040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6700"/>
                </a:solidFill>
                <a:latin typeface="Calibri"/>
              </a:defRPr>
            </a:pPr>
            <a:r>
              <a:t>Sam Walton abrió la 1era tienda en 1962 en Arkansas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06240"/>
            <a:ext cx="10332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206240"/>
            <a:ext cx="91440" cy="100584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720" y="4389120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416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891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8703"/>
                </a:solidFill>
                <a:latin typeface="Calibri"/>
              </a:defRPr>
            </a:pPr>
            <a:r>
              <a:t>Walmart Chile es el supermercado #1 del país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94960"/>
            <a:ext cx="10332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394960"/>
            <a:ext cx="91440" cy="10058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8720" y="5577840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052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5778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21A8"/>
                </a:solidFill>
                <a:latin typeface="Calibri"/>
              </a:defRPr>
            </a:pPr>
            <a:r>
              <a:t>No hay 'empleados', todos somos 'colaboradores'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¿Qué es Walmart?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La empresa minorista más grande del mundo. Fundada por Sam Walton.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2651760" cy="13716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1962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Fundación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28800"/>
            <a:ext cx="2651760" cy="137160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~2.1M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Colaboradores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2651760" cy="137160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Fortune 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651760" cy="137160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5,400+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Tiendas Intl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11155680" cy="109728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6118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5661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99"/>
                </a:solidFill>
                <a:latin typeface="Calibri"/>
              </a:defRPr>
            </a:pPr>
            <a:r>
              <a:t>Nuestro Propósito: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977639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99"/>
                </a:solidFill>
                <a:latin typeface="Calibri"/>
              </a:defRPr>
            </a:pPr>
            <a:r>
              <a:t>"Ahorramos dinero a las personas para que vivan mejor."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3611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3611880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74520" y="5029200"/>
            <a:ext cx="457200" cy="4572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20" y="50566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5778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220"/>
                </a:solidFill>
                <a:latin typeface="Calibri"/>
              </a:defRPr>
            </a:pPr>
            <a:r>
              <a:t>Respeto por el Individuo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897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Cada persona es única y valiosa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4846320"/>
            <a:ext cx="3611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4846320"/>
            <a:ext cx="3611880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0" y="5029200"/>
            <a:ext cx="457200" cy="4572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50566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5778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8703"/>
                </a:solidFill>
                <a:latin typeface="Calibri"/>
              </a:defRPr>
            </a:pPr>
            <a:r>
              <a:t>Servicio al Cliente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897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"Solo hay un jefe... el cliente"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4846320"/>
            <a:ext cx="3611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4846320"/>
            <a:ext cx="361188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64040" y="5029200"/>
            <a:ext cx="457200" cy="4572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50566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55778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21A8"/>
                </a:solidFill>
                <a:latin typeface="Calibri"/>
              </a:defRPr>
            </a:pPr>
            <a:r>
              <a:t>Búsqueda de la Excelencia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5897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Superar el miedo al fracaso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Cultura y Filosofía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Esto nos hace diferentes. Se vive en el día a día, no son solo palabras.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394960" cy="228600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53E2"/>
                </a:solidFill>
                <a:latin typeface="Calibri"/>
              </a:defRPr>
            </a:pPr>
            <a:r>
              <a:t>EDLP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99"/>
                </a:solidFill>
                <a:latin typeface="Calibri"/>
              </a:defRPr>
            </a:pPr>
            <a:r>
              <a:t>Every Day Low Prices (Precios Bajos Todos los Días)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99"/>
                </a:solidFill>
                <a:latin typeface="Calibri"/>
              </a:defRPr>
            </a:pPr>
            <a:r>
              <a:t>"Piensa en cuán poco puedo cobrar, no en cuánto."</a:t>
            </a:r>
            <a:br/>
            <a:r>
              <a:t>- Sam Walton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5394960" cy="109728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622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99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34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EDLC = Every Day Low Costs (Costos Bajos Todos los Días)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46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5213"/>
                </a:solidFill>
                <a:latin typeface="Calibri"/>
              </a:defRPr>
            </a:pPr>
            <a:r>
              <a:t>EDLC hace POSIBLE ofrecer EDLP.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828800"/>
            <a:ext cx="5303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828800"/>
            <a:ext cx="91440" cy="9144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993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Regla 3 Metros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Para, sonríe, saluda.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926080"/>
            <a:ext cx="5303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26080"/>
            <a:ext cx="91440" cy="91440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20" y="3063240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703"/>
                </a:solidFill>
                <a:latin typeface="Calibri"/>
              </a:defRPr>
            </a:pPr>
            <a:r>
              <a:t>Regla Puesta de Sol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Responde HOY mismo.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23360"/>
            <a:ext cx="5303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023360"/>
            <a:ext cx="91440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Calibri"/>
              </a:defRPr>
            </a:pPr>
            <a:r>
              <a:t>Puerta Abierta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Sin miedo. Sin represalias.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120640"/>
            <a:ext cx="5303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120640"/>
            <a:ext cx="91440" cy="91440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46520" y="5257800"/>
            <a:ext cx="548640" cy="5486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285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6700"/>
                </a:solidFill>
                <a:latin typeface="Calibri"/>
              </a:defRPr>
            </a:pPr>
            <a:r>
              <a:t>Somos Colabora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Socios, no empleados.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669280"/>
            <a:ext cx="5303520" cy="64008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715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8703"/>
                </a:solidFill>
                <a:latin typeface="Calibri"/>
              </a:defRPr>
            </a:pPr>
            <a:r>
              <a:t>TIP: Se viven en tienda, oficina, tech, logística... en TODOS lados.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Walmart Chile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Walmart adquirió D&amp;S en 2008-2009. Así nació Walmart Chile.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2651760" cy="13716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~400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Tiendas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28800"/>
            <a:ext cx="2651760" cy="137160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~27%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Mkt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2651760" cy="137160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Supermercado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651760" cy="137160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+1,500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Proveedores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5394960" cy="30175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5394960" cy="4572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Competencia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1100"/>
                </a:solidFill>
                <a:latin typeface="Calibri"/>
              </a:defRPr>
            </a:pPr>
            <a:r>
              <a:t>Cencosud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Jumbo, Santa Isabel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709160"/>
            <a:ext cx="320040" cy="3200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6700"/>
                </a:solidFill>
                <a:latin typeface="Calibri"/>
              </a:defRPr>
            </a:pPr>
            <a:r>
              <a:t>Falabella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Tottus, Sodimac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257800"/>
            <a:ext cx="320040" cy="32004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94A2"/>
                </a:solidFill>
                <a:latin typeface="Calibri"/>
              </a:defRPr>
            </a:pPr>
            <a:r>
              <a:t>SMU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Unimarc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5806440"/>
            <a:ext cx="320040" cy="3200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8703"/>
                </a:solidFill>
                <a:latin typeface="Calibri"/>
              </a:defRPr>
            </a:pPr>
            <a:r>
              <a:t>MercadoLibre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Crecimiento 71%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474720"/>
            <a:ext cx="5303520" cy="30175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Sociedades SAP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47474"/>
                </a:solidFill>
                <a:latin typeface="Calibri"/>
              </a:defRPr>
            </a:pPr>
            <a:r>
              <a:t>Los verás en todos los reportes: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38912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4074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407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Líder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80060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8188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8188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Express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21208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2303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S260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52303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Express 400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62356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56418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56418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SBA/Acuenta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603504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60533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60533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Mayorista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7 Prioridades Estratégicas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Hacia dónde vamos como compañía. La visión a 5 años.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91440" cy="960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993392"/>
            <a:ext cx="548640" cy="5486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20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920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3E2"/>
                </a:solidFill>
                <a:latin typeface="Calibri"/>
              </a:defRPr>
            </a:pPr>
            <a:r>
              <a:t>Win in Omni (Ganar en Omnicanal)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20% penetración online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71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91440" cy="960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136392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63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063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8703"/>
                </a:solidFill>
                <a:latin typeface="Calibri"/>
              </a:defRPr>
            </a:pPr>
            <a:r>
              <a:t>Run Great Stores (Operar Grandes Tiendas)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474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Simplificar operación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91440" cy="960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279392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06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206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21A8"/>
                </a:solidFill>
                <a:latin typeface="Calibri"/>
              </a:defRPr>
            </a:pPr>
            <a:r>
              <a:t>Develop Ecosystem (Desarrollar Ecosistema)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617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Mi Club 3.2M MAU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57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57800"/>
            <a:ext cx="91440" cy="960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5422392"/>
            <a:ext cx="548640" cy="5486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49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349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6700"/>
                </a:solidFill>
                <a:latin typeface="Calibri"/>
              </a:defRPr>
            </a:pPr>
            <a:r>
              <a:t>Marketplace (Mercado en línea)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760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2M SKUs en 3P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960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1993392"/>
            <a:ext cx="548640" cy="54864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20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1920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94A2"/>
                </a:solidFill>
                <a:latin typeface="Calibri"/>
              </a:defRPr>
            </a:pPr>
            <a:r>
              <a:t>Mayorista Digital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2331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#2 B2B Chile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971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2971800"/>
            <a:ext cx="91440" cy="960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46520" y="3136392"/>
            <a:ext cx="548640" cy="54864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163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063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B2777"/>
                </a:solidFill>
                <a:latin typeface="Calibri"/>
              </a:defRPr>
            </a:pPr>
            <a:r>
              <a:t>Talent (Talento)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3474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Mentalidad digital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114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4114800"/>
            <a:ext cx="91440" cy="960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46520" y="4279392"/>
            <a:ext cx="548640" cy="54864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306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4206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688"/>
                </a:solidFill>
                <a:latin typeface="Calibri"/>
              </a:defRPr>
            </a:pPr>
            <a:r>
              <a:t>Power Tech (Potenciar Tecnología)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617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Reducir deuda técnica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Formatos de Tienda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Cada formato atiende un tipo de cliente diferente. ¡Conócelos!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828800"/>
            <a:ext cx="2148840" cy="6400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Líder (Híper)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06040"/>
            <a:ext cx="1874520" cy="36576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Hipermercado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Tienda grande con TODO. Banner #1 Chile.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3E2"/>
                </a:solidFill>
                <a:latin typeface="Calibri"/>
              </a:defRPr>
            </a:pPr>
            <a:r>
              <a:t>&gt;= 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60320" y="1828800"/>
            <a:ext cx="2148840" cy="64008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2606040"/>
            <a:ext cx="1874520" cy="36576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Supermercado urbano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Compra rápida cerca de casa.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8703"/>
                </a:solidFill>
                <a:latin typeface="Calibri"/>
              </a:defRPr>
            </a:pPr>
            <a:r>
              <a:t>&gt;= 63%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46320" y="1828800"/>
            <a:ext cx="2148840" cy="64008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aCuenta (SBA)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3480" y="2606040"/>
            <a:ext cx="1874520" cy="36576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Bodega descuento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Los MEJORES precios. Sin lujos.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83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21A8"/>
                </a:solidFill>
                <a:latin typeface="Calibri"/>
              </a:defRPr>
            </a:pPr>
            <a:r>
              <a:t>&gt;= 78%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83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S107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132320" y="1828800"/>
            <a:ext cx="2148840" cy="64008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Mayorista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69480" y="2606040"/>
            <a:ext cx="1874520" cy="36576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9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B2B Mayorista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Para negocios. 13 tiendas.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69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6700"/>
                </a:solidFill>
                <a:latin typeface="Calibri"/>
              </a:defRPr>
            </a:pPr>
            <a:r>
              <a:t>&gt;= 70%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69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69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S157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18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74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418320" y="1828800"/>
            <a:ext cx="2148840" cy="640080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Ekono / Express 400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55480" y="2606040"/>
            <a:ext cx="1874520" cy="365760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5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Barrio (phase out / en cierre)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En proceso de cierre.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55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55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47474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55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55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S260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Marcas Propias &amp; Servicios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Nuestras marcas ofrecen calidad a mejor precio. ¡Las reconocerás en góndola!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91440" cy="86868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933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3E2"/>
                </a:solidFill>
                <a:latin typeface="Calibri"/>
              </a:defRPr>
            </a:pPr>
            <a:r>
              <a:t>Great Value (Gran Valor)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04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Alimentos y hogar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91440" cy="8686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449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703"/>
                </a:solidFill>
                <a:latin typeface="Calibri"/>
              </a:defRPr>
            </a:pPr>
            <a:r>
              <a:t>Equate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355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Salud y belleza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91440" cy="8686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965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21A8"/>
                </a:solidFill>
                <a:latin typeface="Calibri"/>
              </a:defRPr>
            </a:pPr>
            <a:r>
              <a:t>Mainstays (Esenciales)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07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Hogar y decoración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182880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1828800"/>
            <a:ext cx="91440" cy="86868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19933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6700"/>
                </a:solidFill>
                <a:latin typeface="Calibri"/>
              </a:defRPr>
            </a:pPr>
            <a:r>
              <a:t>Acuenta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2304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Valor / Descuento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288036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2880360"/>
            <a:ext cx="91440" cy="86868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26280" y="3017520"/>
            <a:ext cx="502920" cy="50292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0449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94A2"/>
                </a:solidFill>
                <a:latin typeface="Calibri"/>
              </a:defRPr>
            </a:pPr>
            <a:r>
              <a:t>Líder (marca)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355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Multicategoría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393192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3931920"/>
            <a:ext cx="91440" cy="8686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40965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B2777"/>
                </a:solidFill>
                <a:latin typeface="Calibri"/>
              </a:defRPr>
            </a:pPr>
            <a:r>
              <a:t>Spark Create Imagine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4407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Bebés y niños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1828800"/>
            <a:ext cx="3566160" cy="31546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1828800"/>
            <a:ext cx="3566160" cy="45720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1856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Servicios Financieros</a:t>
            </a:r>
          </a:p>
        </p:txBody>
      </p:sp>
      <p:sp>
        <p:nvSpPr>
          <p:cNvPr id="50" name="Oval 49"/>
          <p:cNvSpPr/>
          <p:nvPr/>
        </p:nvSpPr>
        <p:spPr>
          <a:xfrm>
            <a:off x="8321040" y="2468880"/>
            <a:ext cx="320040" cy="32004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1100"/>
                </a:solidFill>
                <a:latin typeface="Calibri"/>
              </a:defRPr>
            </a:pPr>
            <a:r>
              <a:t>Presto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Tarjeta de crédito propia</a:t>
            </a:r>
          </a:p>
        </p:txBody>
      </p:sp>
      <p:sp>
        <p:nvSpPr>
          <p:cNvPr id="53" name="Oval 52"/>
          <p:cNvSpPr/>
          <p:nvPr/>
        </p:nvSpPr>
        <p:spPr>
          <a:xfrm>
            <a:off x="8321040" y="3063240"/>
            <a:ext cx="320040" cy="3200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MasterCard Presto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Tarjeta co-branded (marca compartida)</a:t>
            </a:r>
          </a:p>
        </p:txBody>
      </p:sp>
      <p:sp>
        <p:nvSpPr>
          <p:cNvPr id="56" name="Oval 55"/>
          <p:cNvSpPr/>
          <p:nvPr/>
        </p:nvSpPr>
        <p:spPr>
          <a:xfrm>
            <a:off x="8321040" y="3657600"/>
            <a:ext cx="320040" cy="320040"/>
          </a:xfrm>
          <a:prstGeom prst="ellipse">
            <a:avLst/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3611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5213"/>
                </a:solidFill>
                <a:latin typeface="Calibri"/>
              </a:defRPr>
            </a:pPr>
            <a:r>
              <a:t>Mi Club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Fidelización 3.2M MAU (usuarios activos mensuales)</a:t>
            </a:r>
          </a:p>
        </p:txBody>
      </p:sp>
      <p:sp>
        <p:nvSpPr>
          <p:cNvPr id="59" name="Oval 58"/>
          <p:cNvSpPr/>
          <p:nvPr/>
        </p:nvSpPr>
        <p:spPr>
          <a:xfrm>
            <a:off x="8321040" y="4251960"/>
            <a:ext cx="320040" cy="3200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8703"/>
                </a:solidFill>
                <a:latin typeface="Calibri"/>
              </a:defRPr>
            </a:pPr>
            <a:r>
              <a:t>Créditos / Seguros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Financiamiento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212080"/>
            <a:ext cx="11155680" cy="109728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0080" y="5349240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376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5349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703"/>
                </a:solidFill>
                <a:latin typeface="Calibri"/>
              </a:defRPr>
            </a:pPr>
            <a:r>
              <a:t>NPS Targets (Metas) por Formato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0" y="5760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Líder &gt;= 65%   |   Express &gt;= 63%   |   SBA &gt;= 78%   |   Mayorista &gt;= 70%   |   Lider.cl &gt;= 49%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Tienda y Sala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El vocabulario básico para entender cómo funciona una tienda.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Góndola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Las estanterías con productos en los pasillos.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Planograma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El 'mapa' de qué producto va en qué lugar.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Fleje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Etiqueta de precio en góndola. PLU + precio.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Cabecera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Punta de góndola. Espacio VIP para promociones.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Tienda y Sala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Más términos que escucharás en tu día a día.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Apantallar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Poner productos 'bonitos' al frente con bajo stock.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Beta / Gamma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Beta = entrada clientes. Gamma = entrada colaboradores.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Point of Sale (Punto de Venta). La caja registradora.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Regla 4x1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Revisar: fleje, limpieza, presentación, quiebres.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Inventario y Stock (Existencias)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Cómo controlamos la mercadería de principio a fin.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PLU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Price Look-Up (Código de Precio). El 'RUT' del producto.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SKU / UPC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Stock Keeping Unit / Universal Product Code (Código de Producto / Código de Barra).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FIFO / FEFO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First In First Out / First Expired First Out (Primero en Entrar, Primero en Salir / Primero en Vencer, Primero en Salir).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Bin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Ubicación codificada en bodega.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E-Commerce y Digital (Comercio Electrónico)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El mundo online. Cada vez más clientes compran desde el celular.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Lider.cl / LiderApp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Nuestra tienda online (en línea) y app móvil.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SOD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Supermercado On Demand (Bajo Demanda). Online con stock de tienda.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DarkStore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Tienda Oscura: solo para pedidos online. Sin clientes.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1P / 3P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1P = Walmart vende. 3P = Seller externo (vendedor externo).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Fulfillment y Logística (Cumplimiento de Pedidos)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Desde que el cliente hace click hasta que recibe su pedido.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6700"/>
                </a:solidFill>
                <a:latin typeface="Calibri"/>
              </a:defRPr>
            </a:pPr>
            <a:r>
              <a:t>Picking (Recolección)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Armar el pedido recorriendo la tienda.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6700"/>
                </a:solidFill>
                <a:latin typeface="Calibri"/>
              </a:defRPr>
            </a:pPr>
            <a:r>
              <a:t>Home Delivery (Despacho a Domicilio)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Despacho a la puerta de tu casa.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6700"/>
                </a:solidFill>
                <a:latin typeface="Calibri"/>
              </a:defRPr>
            </a:pPr>
            <a:r>
              <a:t>Pickup (Retiro en Tienda)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Compras online, retiras en tienda.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6700"/>
                </a:solidFill>
                <a:latin typeface="Calibri"/>
              </a:defRPr>
            </a:pPr>
            <a:r>
              <a:t>LAT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Líder al Toque. Despacho MISMO DÍA.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Tecnología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Los sistemas que hacen funcionar todo detrás de escena.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IMS (Wakanda)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Inventory Management System (Sistema de Inventario). Sí, se llama Wakanda.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WMS (Dr Strange)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Warehouse Management System (Sistema de Bodega). Los nombres Marvel son tradición.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OMS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Order Management System (Sistema de Gestión de Pedidos). Ciclo de vida de pedidos online.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El cerebro administrativo: finanzas, RRHH, supply chain (cadena de suministro).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Finanzas y Compras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Cómo decidimos qué vender, a qué precio y si funcionó.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688"/>
                </a:solidFill>
                <a:latin typeface="Calibri"/>
              </a:defRPr>
            </a:pPr>
            <a:r>
              <a:t>CATMAN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Category Management (Gestión de Categorías). Qué productos van en tienda.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688"/>
                </a:solidFill>
                <a:latin typeface="Calibri"/>
              </a:defRPr>
            </a:pPr>
            <a:r>
              <a:t>Rollback (Rebaja Temporal)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Baja temporal de precio. Clásico de Walmart.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688"/>
                </a:solidFill>
                <a:latin typeface="Calibri"/>
              </a:defRPr>
            </a:pPr>
            <a:r>
              <a:t>Markdown (Rebaja)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Rebaja para liquidar stock (existencias).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688"/>
                </a:solidFill>
                <a:latin typeface="Calibri"/>
              </a:defRPr>
            </a:pPr>
            <a:r>
              <a:t>Sell-through (Venta Efectiva)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% vendido vs recibido. Velocidad de venta.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Personas y Productividad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Miden si tenemos la gente correcta en el lugar correcto y cuán eficientes somos.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B2777"/>
                </a:solidFill>
                <a:latin typeface="Calibri"/>
              </a:defRPr>
            </a:pPr>
            <a:r>
              <a:t>UPLH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Units Per Labor Hour (Unidades por Hora Trabajada)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Unidades vendidas por hora trabajada. EL indicador de productividad.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B2777"/>
                </a:solidFill>
                <a:latin typeface="Calibri"/>
              </a:defRPr>
            </a:pPr>
            <a:r>
              <a:t>JEQ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Jornada Equivalente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1 JEQ = 176 hrs/mes. Media jornada = 0.5 JEQ.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B2777"/>
                </a:solidFill>
                <a:latin typeface="Calibri"/>
              </a:defRPr>
            </a:pPr>
            <a:r>
              <a:t>Ausentismo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% Ausencias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Verde &lt;= 10% | Amarillo 10-20% | Rojo &gt; 20%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B2777"/>
                </a:solidFill>
                <a:latin typeface="Calibri"/>
              </a:defRPr>
            </a:pPr>
            <a:r>
              <a:t>Rotación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Turnover (Tasa de Salida)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% colaboradores que se van vs activos. Mensual.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NPS y Satisfacción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El termómetro de la experiencia del cliente. Se mide vía Medallia.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Net Promoter Score (Índice de Recomendación)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Cuánto nos recomienda el cliente (0-10).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NPS Físico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En tienda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Se actualiza semanalmente, los martes.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NPS Digital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Canal online (en línea)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Target &gt;= 49%. Rojo &lt; 44%.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CSAT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Customer Satisfaction (Satisfacción del Cliente)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Por atributo (1-7). Explica el NPS.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Ventas y Finanzas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La salud financiera del negocio. Estos números definen si cumplimos metas.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8703"/>
                </a:solidFill>
                <a:latin typeface="Calibri"/>
              </a:defRPr>
            </a:pPr>
            <a:r>
              <a:t>Venta Neta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Net Sales (Ventas Netas)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Cuánto vendimos. LA métrica reina.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8703"/>
                </a:solidFill>
                <a:latin typeface="Calibri"/>
              </a:defRPr>
            </a:pPr>
            <a:r>
              <a:t>Comp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Comparable Sales (Ventas Comparables)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Crecimiento vs mismo período año anterior.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8703"/>
                </a:solidFill>
                <a:latin typeface="Calibri"/>
              </a:defRPr>
            </a:pPr>
            <a:r>
              <a:t>Ticket Promedio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Avg Ticket (Boleta Promedio)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Cuánto gasta cada cliente por visita.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8703"/>
                </a:solidFill>
                <a:latin typeface="Calibri"/>
              </a:defRPr>
            </a:pPr>
            <a:r>
              <a:t>GMV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Gross Merch. Value (Valor Bruto de Mercancía)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Venta bruta tiendas + eComm + MKP.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Góndola e Instock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Si no está en góndola, no se vende. Aseguran que el cliente encuentre lo que busca.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NSG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Nivel Servicio Góndola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Disponible, ordenado, limpio, con fleje. Verde &gt;= 97.5%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Instock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% En Stock (% en Existencia)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Producto vs demanda. Verde &gt;= 96%.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DOH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Days on Hand (Días de Inventario)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Días de stock. Verde &gt;= 10, Rojo &lt; 6.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Quiebre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Stockout (Falta de Stock)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No hay producto en góndola. Enemigo #1.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Merma y Pérdidas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Cada producto dañado, vencido o hurtado impacta el resultado directo.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FEBE8"/>
          </a:solidFill>
          <a:ln w="1905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1100"/>
                </a:solidFill>
                <a:latin typeface="Calibri"/>
              </a:defRPr>
            </a:pPr>
            <a:r>
              <a:t>Desecho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Waste (Desperdicio)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Productos vencidos o mal etiquetados.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FEBE8"/>
          </a:solidFill>
          <a:ln w="1905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1100"/>
                </a:solidFill>
                <a:latin typeface="Calibri"/>
              </a:defRPr>
            </a:pPr>
            <a:r>
              <a:t>Dañado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Damaged (Producto Dañado)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Productos que ya no se pueden vender.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FEBE8"/>
          </a:solidFill>
          <a:ln w="1905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1100"/>
                </a:solidFill>
                <a:latin typeface="Calibri"/>
              </a:defRPr>
            </a:pPr>
            <a:r>
              <a:t>Fresh 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Pérdida Frescos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(Desecho + Desconocido) / Venta.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FEBE8"/>
          </a:solidFill>
          <a:ln w="1905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1100"/>
                </a:solidFill>
                <a:latin typeface="Calibri"/>
              </a:defRPr>
            </a:pPr>
            <a:r>
              <a:t>Proy. Inventario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Projected Loss (Pérdida Proyectada)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Pérdida estimada desde último conteo.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Checkout y Pago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Nadie quiere esperar en la fila. Miden la rapidez del proceso de pago.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NTC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Nivel Tiempo Caja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Líder &gt;= 81% | Express &gt;= 80% | SBA &gt;= 82%.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Uso SCO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Self-Checkout (Caja de Autoservicio)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Líder &gt;= 24% | Express &gt;= 35% | SBA &gt;= 25%.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NSC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Nivel Serv. Checkout (Nivel Servicio Caja)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% tiempo sin cola. Verde &gt;= 80%.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Pedido Perfecto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OTIF: On-Time, In-Full (A Tiempo y Completo)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Verde &gt;= 40%.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274320"/>
            <a:ext cx="548640" cy="54864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645920"/>
            <a:ext cx="8503920" cy="137160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Ahora ya sabes lo básico.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220"/>
                </a:solidFill>
                <a:latin typeface="Calibri"/>
              </a:defRPr>
            </a:pPr>
            <a:r>
              <a:t>El resto lo aprenderás haciendo. Y preguntando.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00400"/>
            <a:ext cx="8503920" cy="219456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2461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220"/>
                </a:solidFill>
                <a:latin typeface="Calibri"/>
              </a:defRPr>
            </a:pPr>
            <a:r>
              <a:t>Recursos útiles: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MyWalmart - Portal interno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Confluence - Glosarios y documentación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Slack: #glosario_wt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Workday - RRHH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WIC+ - Dashboard KPIs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Medallia - NPS y CSAT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5669280"/>
            <a:ext cx="6675120" cy="59436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569671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3399"/>
                </a:solidFill>
                <a:latin typeface="Calibri"/>
              </a:defRPr>
            </a:pPr>
            <a:r>
              <a:t>"Solo hay un jefe... el cliente." - Sam Walton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