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03520" y="457200"/>
            <a:ext cx="731520" cy="7315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0" y="274320"/>
            <a:ext cx="365760" cy="36576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5669280"/>
            <a:ext cx="457200" cy="45720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03120"/>
            <a:ext cx="7589520" cy="201168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19456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220"/>
                </a:solidFill>
                <a:latin typeface="Calibri"/>
              </a:defRPr>
            </a:pPr>
            <a:r>
              <a:t>Bienvenido/a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747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Calibri"/>
              </a:defRPr>
            </a:pPr>
            <a:r>
              <a:t>Tu guia de onboarding para entender todo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754880"/>
            <a:ext cx="5760720" cy="64008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8006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Para nuevos asociados y alumnos en practica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457200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16768" y="457200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17936" y="457200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19104" y="457200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20272" y="457200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658368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16768" y="658368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17936" y="658368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19104" y="658368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20272" y="658368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859536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16768" y="859536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17936" y="859536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19104" y="859536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20272" y="859536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0" y="1060704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16768" y="1060704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7936" y="1060704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19104" y="1060704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20272" y="1060704"/>
            <a:ext cx="54864" cy="54864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Hola! Tu primer dia empieza aqui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Hoy empiezas una aventura increible. Walmart Chile es una empresa enorme, pero somos una gran familia. No te preocupes si al principio todo suena a sopa de letras... a todos nos paso!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2801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Pregunta sin miedo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17830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Aqui nadie nace sabiendo. La politica de Puerta Abierta existe para eso. Pregunta todo lo que necesites.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9260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127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090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8703"/>
                </a:solidFill>
                <a:latin typeface="Calibri"/>
              </a:defRPr>
            </a:pPr>
            <a:r>
              <a:t>Aprende las siglas de a poco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429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UPLH, JEQ, NSG, NTC... suena a otro idioma, pero en 2 semanas ya las vas a manejar como un pro.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572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572000"/>
            <a:ext cx="73152" cy="1417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4754880"/>
            <a:ext cx="457200" cy="4572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773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7365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Calibri"/>
              </a:defRPr>
            </a:pPr>
            <a:r>
              <a:t>Conoce tu tienda/oficina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0749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Recorre cada rincon. Entiende como fluye la mercaderia desde el anden hasta la gondola.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2801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280160"/>
            <a:ext cx="73152" cy="14173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1444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6700"/>
                </a:solidFill>
                <a:latin typeface="Calibri"/>
              </a:defRPr>
            </a:pPr>
            <a:r>
              <a:t>Tu opinion importa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17830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Walmart valora las ideas frescas. Si ves algo que se puede mejorar, dilo!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29260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2926080"/>
            <a:ext cx="73152" cy="14173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46520" y="3108960"/>
            <a:ext cx="457200" cy="45720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127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3090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94A2"/>
                </a:solidFill>
                <a:latin typeface="Calibri"/>
              </a:defRPr>
            </a:pPr>
            <a:r>
              <a:t>Descarga las apps clave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3429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MyWalmart para noticias internas. LiderApp para entender la experiencia del cliente.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572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572000"/>
            <a:ext cx="73152" cy="14173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46520" y="475488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773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47365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Aprende los nombres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50749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Saluda a todos. Usa la Regla de los 3 metros tambien con tus companeros.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5488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6656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59436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61447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63459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No te asustes si...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A todos nos paso. Esto es totalmente normal las primeras semanas.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280160"/>
            <a:ext cx="5486400" cy="7772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435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13898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no entiendes una sigla en una reunion... nadie las entendio todas al principio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194560"/>
            <a:ext cx="5486400" cy="7772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350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23042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te pierdes en la tienda... hasta los que llevan 10 anos se pierden a veces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08960"/>
            <a:ext cx="5486400" cy="7772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264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2186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la bodega te parece un laberinto... es porque lo es (pero tiene logica, te lo prometemos)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023360"/>
            <a:ext cx="5486400" cy="7772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1788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1330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escuchas 'apantallar'... no es una broma, es un termino real de reposicion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37760"/>
            <a:ext cx="5486400" cy="77724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093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0474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te dicen 'Gamma'... no es una pelicula de Marvel, es la entrada de colaboradores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280160"/>
            <a:ext cx="5303520" cy="47548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92240" y="1371600"/>
            <a:ext cx="457200" cy="4572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3E2"/>
                </a:solidFill>
                <a:latin typeface="Calibri"/>
              </a:defRPr>
            </a:pPr>
            <a:r>
              <a:t>Sabias que...?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192024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83680" y="1993392"/>
            <a:ext cx="274320" cy="2743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197510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Walmart es el empleador privado mas grande del mundo con ~2.1 millones de asociados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242316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83680" y="2496312"/>
            <a:ext cx="274320" cy="2743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47802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Sam Walton abrio la primera tienda en 1962 en un pueblito de Arkansas, EE.UU.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292608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583680" y="2999232"/>
            <a:ext cx="274320" cy="2743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29809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Walmart Chile es el supermercado #1 del pais con ~400 tiendas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342900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3680" y="3502152"/>
            <a:ext cx="274320" cy="2743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0" y="348386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filosofia EDLP tardo 9 anos en implementarse completamente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2240" y="393192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4005072"/>
            <a:ext cx="274320" cy="2743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398678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Spark (la estrellita del logo) nos recuerda que el cliente es lo primero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92240" y="443484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83680" y="4507992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448970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 Walmart no hay 'empleados', todos somos 'asociados' = socios del negocio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493776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83680" y="5010912"/>
            <a:ext cx="274320" cy="27432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99262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tarjeta Presto es parte del ecosistema financiero de Walmart Chile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2240" y="5440680"/>
            <a:ext cx="4937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83680" y="5513832"/>
            <a:ext cx="274320" cy="27432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0" y="54955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Lider.cl es el #1 en supermercado online de Chile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548640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73968" y="548640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75136" y="548640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76304" y="548640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7472" y="548640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68756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73968" y="568756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75136" y="568756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568756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7472" y="568756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588873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73968" y="588873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75136" y="588873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76304" y="588873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7472" y="588873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0" y="6089904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73968" y="6089904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75136" y="6089904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76304" y="6089904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7472" y="6089904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Que vas a encontrar aqui?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Un resumen completo para tu primera semana (y las que vienen)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2801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15270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53E2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1874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Historia y presencia global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9260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926080"/>
            <a:ext cx="73152" cy="1417320"/>
          </a:xfrm>
          <a:prstGeom prst="rect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1729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108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95213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520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Numeros, estrategia y estructura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572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572000"/>
            <a:ext cx="73152" cy="14173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818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8703"/>
                </a:solidFill>
                <a:latin typeface="Calibri"/>
              </a:defRPr>
            </a:pPr>
            <a:r>
              <a:t>Formatos de Tienda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1663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Lider, Express, SBA, Mayorista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2801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280160"/>
            <a:ext cx="73152" cy="1417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15270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21A8"/>
                </a:solidFill>
                <a:latin typeface="Calibri"/>
              </a:defRPr>
            </a:pPr>
            <a:r>
              <a:t>Marcas Propias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1874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Great Value, Equate y mas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29260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2926080"/>
            <a:ext cx="73152" cy="141732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92240" y="3154680"/>
            <a:ext cx="548640" cy="54864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1729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3108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A6700"/>
                </a:solidFill>
                <a:latin typeface="Calibri"/>
              </a:defRPr>
            </a:pPr>
            <a:r>
              <a:t>KPIs Clave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3520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UPLH, JEQ, NPS, NTC, NSG...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572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572000"/>
            <a:ext cx="73152" cy="1417320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92240" y="4800600"/>
            <a:ext cx="548640" cy="54864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818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4754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94A2"/>
                </a:solidFill>
                <a:latin typeface="Calibri"/>
              </a:defRPr>
            </a:pPr>
            <a:r>
              <a:t>Glosario Completo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1663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Todo el vocabulario retail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La empresa minorista mas grande del mundo. Todo empezo con un hombre y una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606040" cy="105156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16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CC"/>
                </a:solidFill>
                <a:latin typeface="Calibri"/>
              </a:defRPr>
            </a:pPr>
            <a:r>
              <a:t>Fundacion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606040" cy="105156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16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~2.1M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CC"/>
                </a:solidFill>
                <a:latin typeface="Calibri"/>
              </a:defRPr>
            </a:pPr>
            <a:r>
              <a:t>Asociados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188720"/>
            <a:ext cx="2606040" cy="10515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216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CC"/>
                </a:solidFill>
                <a:latin typeface="Calibri"/>
              </a:defRPr>
            </a:pPr>
            <a:r>
              <a:t>Fortune 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188720"/>
            <a:ext cx="2606040" cy="105156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216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5,400+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CC"/>
                </a:solidFill>
                <a:latin typeface="Calibri"/>
              </a:defRPr>
            </a:pPr>
            <a:r>
              <a:t>Tiendas Intl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11155680" cy="100584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06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51460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99"/>
                </a:solidFill>
                <a:latin typeface="Calibri"/>
              </a:defRPr>
            </a:pPr>
            <a:r>
              <a:t>Nuestro Proposito: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27889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99"/>
                </a:solidFill>
                <a:latin typeface="Calibri"/>
              </a:defRPr>
            </a:pPr>
            <a:r>
              <a:t>"Ahorramos dinero a las personas para que vivan mejor."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49039"/>
            <a:ext cx="5303520" cy="2743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5303520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Creencias Basicas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4416552"/>
            <a:ext cx="365760" cy="36576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389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Respeto por el Individuo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617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Cada persona es unica y valiosa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01768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5074920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093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0474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Servicio al Cliente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2760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"Solo hay un jefe... el cliente"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660136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5733288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7515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7058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Busqueda de la Excelencia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9344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Superar el miedo al fracaso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3749039"/>
            <a:ext cx="5486400" cy="2743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3749039"/>
            <a:ext cx="5486400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Donde estamos en el mundo?</a:t>
            </a:r>
          </a:p>
        </p:txBody>
      </p:sp>
      <p:sp>
        <p:nvSpPr>
          <p:cNvPr id="48" name="Oval 47"/>
          <p:cNvSpPr/>
          <p:nvPr/>
        </p:nvSpPr>
        <p:spPr>
          <a:xfrm>
            <a:off x="6309360" y="4379976"/>
            <a:ext cx="228600" cy="22860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Mexico &amp; CAM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6 paises centroamericanos</a:t>
            </a:r>
          </a:p>
        </p:txBody>
      </p:sp>
      <p:sp>
        <p:nvSpPr>
          <p:cNvPr id="51" name="Oval 50"/>
          <p:cNvSpPr/>
          <p:nvPr/>
        </p:nvSpPr>
        <p:spPr>
          <a:xfrm>
            <a:off x="6309360" y="4718304"/>
            <a:ext cx="228600" cy="2286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Canada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681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Retail + Tech Hub</a:t>
            </a:r>
          </a:p>
        </p:txBody>
      </p:sp>
      <p:sp>
        <p:nvSpPr>
          <p:cNvPr id="54" name="Oval 53"/>
          <p:cNvSpPr/>
          <p:nvPr/>
        </p:nvSpPr>
        <p:spPr>
          <a:xfrm>
            <a:off x="6309360" y="5056632"/>
            <a:ext cx="228600" cy="2286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Chile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0200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#1 supermercado del pais</a:t>
            </a:r>
          </a:p>
        </p:txBody>
      </p:sp>
      <p:sp>
        <p:nvSpPr>
          <p:cNvPr id="57" name="Oval 56"/>
          <p:cNvSpPr/>
          <p:nvPr/>
        </p:nvSpPr>
        <p:spPr>
          <a:xfrm>
            <a:off x="6309360" y="5394960"/>
            <a:ext cx="228600" cy="2286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5358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53583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Retail + Sourcing</a:t>
            </a:r>
          </a:p>
        </p:txBody>
      </p:sp>
      <p:sp>
        <p:nvSpPr>
          <p:cNvPr id="60" name="Oval 59"/>
          <p:cNvSpPr/>
          <p:nvPr/>
        </p:nvSpPr>
        <p:spPr>
          <a:xfrm>
            <a:off x="6309360" y="5733288"/>
            <a:ext cx="228600" cy="2286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5696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India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696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Flipkart, PhonePe</a:t>
            </a:r>
          </a:p>
        </p:txBody>
      </p:sp>
      <p:sp>
        <p:nvSpPr>
          <p:cNvPr id="63" name="Oval 62"/>
          <p:cNvSpPr/>
          <p:nvPr/>
        </p:nvSpPr>
        <p:spPr>
          <a:xfrm>
            <a:off x="6309360" y="6071616"/>
            <a:ext cx="228600" cy="2286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Calibri"/>
              </a:defRPr>
            </a:pPr>
            <a:r>
              <a:t>Sudafrica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Massmart, 407+ tiendas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58016" y="4572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59184" y="4572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960352" y="45720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6583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56848" y="6583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58016" y="6583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59184" y="6583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60352" y="65836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8595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8595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8595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8595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60352" y="85953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0" y="106070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56848" y="106070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58016" y="106070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59184" y="106070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60352" y="106070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Filosofia y Cultura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Esto nos hace diferentes. No son solo palabras, se viven en el dia a dia.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188720"/>
            <a:ext cx="5394960" cy="26517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1280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EDLP - Every Day Low Prices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99"/>
                </a:solidFill>
                <a:latin typeface="Calibri"/>
              </a:defRPr>
            </a:pPr>
            <a:r>
              <a:t>"Piensa en cuan poco puedo cobrar." - Sam Walton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2249424"/>
            <a:ext cx="137160" cy="1371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2194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Servimos como agentes del cliente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2542032"/>
            <a:ext cx="137160" cy="1371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4871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Presion constante hacia abajo en precios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27797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EDLC impulsa y hace posible EDLP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" y="3127248"/>
            <a:ext cx="137160" cy="1371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30723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'Duros pero justos' al negociar costos</a:t>
            </a:r>
          </a:p>
        </p:txBody>
      </p:sp>
      <p:sp>
        <p:nvSpPr>
          <p:cNvPr id="41" name="Oval 40"/>
          <p:cNvSpPr/>
          <p:nvPr/>
        </p:nvSpPr>
        <p:spPr>
          <a:xfrm>
            <a:off x="731520" y="3419856"/>
            <a:ext cx="137160" cy="1371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3364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Analizar precios de la competencia siempre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23360"/>
            <a:ext cx="539496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399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114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5213"/>
                </a:solidFill>
                <a:latin typeface="Calibri"/>
              </a:defRPr>
            </a:pPr>
            <a:r>
              <a:t>EDLC - Every Day Low Costs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434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EDLC hace POSIBLE ofrecer EDLP. Cuidamos cada peso.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1188720"/>
            <a:ext cx="5486400" cy="3749039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99"/>
                </a:solidFill>
                <a:latin typeface="Calibri"/>
              </a:defRPr>
            </a:pPr>
            <a:r>
              <a:t>Asi vivimos la cultura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1783080"/>
            <a:ext cx="5120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46520" y="1856232"/>
            <a:ext cx="347472" cy="347472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18745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182880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Regla de los 3 Metros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203911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Para, sonrie, saluda.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2404872"/>
            <a:ext cx="5120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46520" y="2478024"/>
            <a:ext cx="347472" cy="347472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249631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245059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8703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266090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Responde HOY, aunque sea 'estoy averiguando'.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3026664"/>
            <a:ext cx="5120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46520" y="3099816"/>
            <a:ext cx="347472" cy="347472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11810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3072384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21A8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328269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Habla con quien quieras. Sin miedo.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648456"/>
            <a:ext cx="5120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446520" y="3721608"/>
            <a:ext cx="347472" cy="347472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373989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3720" y="36941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6700"/>
                </a:solidFill>
                <a:latin typeface="Calibri"/>
              </a:defRPr>
            </a:pPr>
            <a:r>
              <a:t>Hospitalidad Agresiva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390448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Sorprender al cliente yendo mas alla.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270248"/>
            <a:ext cx="51206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46520" y="4343400"/>
            <a:ext cx="347472" cy="34747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43616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03720" y="431596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B2777"/>
                </a:solidFill>
                <a:latin typeface="Calibri"/>
              </a:defRPr>
            </a:pPr>
            <a:r>
              <a:t>Somos Asociados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452628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 empleados. Somos socios del negocio.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120640"/>
            <a:ext cx="11155680" cy="91440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239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2120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8703"/>
                </a:solidFill>
                <a:latin typeface="Calibri"/>
              </a:defRPr>
            </a:pPr>
            <a:r>
              <a:t>Estas practicas no son solo para la tienda. En oficina, tech, logistica... en TODOS lados se viven. Si ves a alguien practicandolas, reconocelo!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5943600"/>
            <a:ext cx="1097280" cy="109728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Walmart Chile - Nuestros Numeros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En 2008-2009, Walmart adquirio D&amp;S (Distribucion y Servicio), duena de Lider, Ekono y Express. Asi nacio Walmart Chile.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2606040" cy="11887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CC"/>
                </a:solidFill>
                <a:latin typeface="Calibri"/>
              </a:defRPr>
            </a:pPr>
            <a:r>
              <a:t>Tiendas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alibri"/>
              </a:defRPr>
            </a:pPr>
            <a:r>
              <a:t>en todo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606040" cy="118872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CC"/>
                </a:solidFill>
                <a:latin typeface="Calibri"/>
              </a:defRPr>
            </a:pPr>
            <a:r>
              <a:t>Market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965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alibri"/>
              </a:defRPr>
            </a:pPr>
            <a:r>
              <a:t>retail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606040" cy="118872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CC"/>
                </a:solidFill>
                <a:latin typeface="Calibri"/>
              </a:defRPr>
            </a:pPr>
            <a:r>
              <a:t>Supermercado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65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alibri"/>
              </a:defRPr>
            </a:pPr>
            <a:r>
              <a:t>del pais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188720"/>
            <a:ext cx="2606040" cy="118872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CC"/>
                </a:solidFill>
                <a:latin typeface="Calibri"/>
              </a:defRPr>
            </a:pPr>
            <a:r>
              <a:t>Proveedores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965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DFF"/>
                </a:solidFill>
                <a:latin typeface="Calibri"/>
              </a:defRPr>
            </a:pPr>
            <a:r>
              <a:t>socios comerciales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651760"/>
            <a:ext cx="5394960" cy="38404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651760"/>
            <a:ext cx="5394960" cy="4114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79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Posicion de Mercado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Grocery moderno: ~40-47% en grocery moderno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eCommerce: ~18% eCommerce Chile (#1 en supermercado online)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Revenue 2023: CLP ~5.4 billones (2023)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Inversion omnicanal: US$1,300 millones (2023-2025)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Meta online: 20% penetracion online para 2025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Competencia: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Cencosud: Jumbo, Santa Isabel, Paris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Falabella: Falabella, Sodimac, Tottus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SMU: Unimarc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MercadoLibre: Crecimiento explosivo 71% CAGR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651760"/>
            <a:ext cx="5486400" cy="16459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651760"/>
            <a:ext cx="5486400" cy="4114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679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 Unidades de Negocio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3227832"/>
            <a:ext cx="182880" cy="1828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00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Retail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00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Operaciones de tienda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3483864"/>
            <a:ext cx="182880" cy="1828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4564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Soporte (HO)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564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Funciones corporativas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3739896"/>
            <a:ext cx="182880" cy="1828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71246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Logistica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7124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Centros de distribucion</a:t>
            </a:r>
          </a:p>
        </p:txBody>
      </p:sp>
      <p:sp>
        <p:nvSpPr>
          <p:cNvPr id="42" name="Oval 41"/>
          <p:cNvSpPr/>
          <p:nvPr/>
        </p:nvSpPr>
        <p:spPr>
          <a:xfrm>
            <a:off x="6309360" y="3995928"/>
            <a:ext cx="182880" cy="1828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96849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Plantas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684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Produccion propia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480560"/>
            <a:ext cx="5486400" cy="2011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09360" y="4572000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5902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Codigos SAP (los veras en reportes)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5029200"/>
            <a:ext cx="512064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029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029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Lider (Hipermercado)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5321808"/>
            <a:ext cx="512064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3218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321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Express de Lider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5614416"/>
            <a:ext cx="512064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6144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S260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6144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Express 400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5907024"/>
            <a:ext cx="512064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9070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59070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Bodega / SBA / Acuenta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6199632"/>
            <a:ext cx="5120640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61996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61996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Central Mayorista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566928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73968" y="566928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75136" y="566928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76304" y="566928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7472" y="5669280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87044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73968" y="587044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75136" y="587044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587044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7472" y="5870448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607161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73968" y="607161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75136" y="607161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76304" y="607161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7472" y="6071616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0" y="627278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73968" y="627278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75136" y="627278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76304" y="627278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7472" y="6272784"/>
            <a:ext cx="54864" cy="54864"/>
          </a:xfrm>
          <a:prstGeom prst="ellipse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Estrategia y Dotacion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Hacia donde vamos y como medimos a nuestra gente.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188720"/>
            <a:ext cx="557784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1188720"/>
            <a:ext cx="5577840" cy="4114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2161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 Prioridades Estrategicas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173736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1810512"/>
            <a:ext cx="347472" cy="347472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18288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178308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Win in Omni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19933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20% penetracion online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37744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2450592"/>
            <a:ext cx="347472" cy="347472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24688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242316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8703"/>
                </a:solidFill>
                <a:latin typeface="Calibri"/>
              </a:defRPr>
            </a:pPr>
            <a:r>
              <a:t>Run Great Stores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263347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Simplificar operacion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01752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1520" y="3090672"/>
            <a:ext cx="347472" cy="347472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1089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306324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21A8"/>
                </a:solidFill>
                <a:latin typeface="Calibri"/>
              </a:defRPr>
            </a:pPr>
            <a:r>
              <a:t>Develop Ecosystem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32735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Mi Club 3.2M MAU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65760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" y="3730752"/>
            <a:ext cx="347472" cy="347472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74904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370332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6700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391363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2M SKUs en 3P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29768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1520" y="4370832"/>
            <a:ext cx="347472" cy="347472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3891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434340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94A2"/>
                </a:solidFill>
                <a:latin typeface="Calibri"/>
              </a:defRPr>
            </a:pPr>
            <a:r>
              <a:t>Central Mayorista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455371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#2 B2B Chile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493776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31520" y="5010912"/>
            <a:ext cx="347472" cy="34747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0292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498348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B2777"/>
                </a:solidFill>
                <a:latin typeface="Calibri"/>
              </a:defRPr>
            </a:pPr>
            <a:r>
              <a:t>Attract &amp; Develop Talent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1937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Mentalidad digital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577840"/>
            <a:ext cx="5212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31520" y="5650992"/>
            <a:ext cx="347472" cy="347472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6692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562356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688"/>
                </a:solidFill>
                <a:latin typeface="Calibri"/>
              </a:defRPr>
            </a:pPr>
            <a:r>
              <a:t>Power Tech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583387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Reducir deuda tecnica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1188720"/>
            <a:ext cx="5303520" cy="25603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1216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People Analytics</a:t>
            </a:r>
          </a:p>
        </p:txBody>
      </p:sp>
      <p:sp>
        <p:nvSpPr>
          <p:cNvPr id="69" name="Oval 68"/>
          <p:cNvSpPr/>
          <p:nvPr/>
        </p:nvSpPr>
        <p:spPr>
          <a:xfrm>
            <a:off x="6492240" y="1773936"/>
            <a:ext cx="228600" cy="2286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Headcount Total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Personas activas</a:t>
            </a:r>
          </a:p>
        </p:txBody>
      </p:sp>
      <p:sp>
        <p:nvSpPr>
          <p:cNvPr id="72" name="Oval 71"/>
          <p:cNvSpPr/>
          <p:nvPr/>
        </p:nvSpPr>
        <p:spPr>
          <a:xfrm>
            <a:off x="6492240" y="2139696"/>
            <a:ext cx="228600" cy="2286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Jornada Equivalente (176 hrs/mes)</a:t>
            </a:r>
          </a:p>
        </p:txBody>
      </p:sp>
      <p:sp>
        <p:nvSpPr>
          <p:cNvPr id="75" name="Oval 74"/>
          <p:cNvSpPr/>
          <p:nvPr/>
        </p:nvSpPr>
        <p:spPr>
          <a:xfrm>
            <a:off x="6492240" y="2505456"/>
            <a:ext cx="228600" cy="2286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Ingresos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Nuevas contrataciones/mes</a:t>
            </a:r>
          </a:p>
        </p:txBody>
      </p:sp>
      <p:sp>
        <p:nvSpPr>
          <p:cNvPr id="78" name="Oval 77"/>
          <p:cNvSpPr/>
          <p:nvPr/>
        </p:nvSpPr>
        <p:spPr>
          <a:xfrm>
            <a:off x="6492240" y="2871216"/>
            <a:ext cx="228600" cy="22860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Rotacion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% turnover de asociados</a:t>
            </a:r>
          </a:p>
        </p:txBody>
      </p:sp>
      <p:sp>
        <p:nvSpPr>
          <p:cNvPr id="81" name="Oval 80"/>
          <p:cNvSpPr/>
          <p:nvPr/>
        </p:nvSpPr>
        <p:spPr>
          <a:xfrm>
            <a:off x="6492240" y="3236976"/>
            <a:ext cx="228600" cy="2286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47474"/>
                </a:solidFill>
                <a:latin typeface="Calibri"/>
              </a:defRPr>
            </a:pPr>
            <a:r>
              <a:t>% ausencias vs planificado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09360" y="3931920"/>
            <a:ext cx="5303520" cy="24688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492240" y="4023360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4041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49440" y="4023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Como se segmenta la dotacion?</a:t>
            </a:r>
          </a:p>
        </p:txBody>
      </p:sp>
      <p:sp>
        <p:nvSpPr>
          <p:cNvPr id="88" name="Oval 87"/>
          <p:cNvSpPr/>
          <p:nvPr/>
        </p:nvSpPr>
        <p:spPr>
          <a:xfrm>
            <a:off x="6583680" y="4562856"/>
            <a:ext cx="164592" cy="164592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800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Formato: Lider, Express, Bodega, Mayorista</a:t>
            </a:r>
          </a:p>
        </p:txBody>
      </p:sp>
      <p:sp>
        <p:nvSpPr>
          <p:cNvPr id="90" name="Oval 89"/>
          <p:cNvSpPr/>
          <p:nvPr/>
        </p:nvSpPr>
        <p:spPr>
          <a:xfrm>
            <a:off x="6583680" y="4882896"/>
            <a:ext cx="164592" cy="164592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Unidad: Retail, Soporte, Logistica, Plantas</a:t>
            </a:r>
          </a:p>
        </p:txBody>
      </p:sp>
      <p:sp>
        <p:nvSpPr>
          <p:cNvPr id="92" name="Oval 91"/>
          <p:cNvSpPr/>
          <p:nvPr/>
        </p:nvSpPr>
        <p:spPr>
          <a:xfrm>
            <a:off x="6583680" y="5202936"/>
            <a:ext cx="164592" cy="164592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Mercado (agrupacion geografica)</a:t>
            </a:r>
          </a:p>
        </p:txBody>
      </p:sp>
      <p:sp>
        <p:nvSpPr>
          <p:cNvPr id="94" name="Oval 93"/>
          <p:cNvSpPr/>
          <p:nvPr/>
        </p:nvSpPr>
        <p:spPr>
          <a:xfrm>
            <a:off x="6583680" y="5522976"/>
            <a:ext cx="164592" cy="164592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Banda salarial, tipo contrato, jornada</a:t>
            </a:r>
          </a:p>
        </p:txBody>
      </p:sp>
      <p:sp>
        <p:nvSpPr>
          <p:cNvPr id="96" name="Oval 95"/>
          <p:cNvSpPr/>
          <p:nvPr/>
        </p:nvSpPr>
        <p:spPr>
          <a:xfrm>
            <a:off x="6583680" y="5843016"/>
            <a:ext cx="164592" cy="16459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8580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Genero, nacionalidad, antiguedad</a:t>
            </a:r>
          </a:p>
        </p:txBody>
      </p:sp>
      <p:sp>
        <p:nvSpPr>
          <p:cNvPr id="98" name="Oval 97"/>
          <p:cNvSpPr/>
          <p:nvPr/>
        </p:nvSpPr>
        <p:spPr>
          <a:xfrm>
            <a:off x="6583680" y="6163056"/>
            <a:ext cx="164592" cy="164592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580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Por Generacion: Boomers / GenX / Millennials / GenZ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92240" y="6126480"/>
            <a:ext cx="4937760" cy="2286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83680" y="6126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5213"/>
                </a:solidFill>
                <a:latin typeface="Calibri"/>
              </a:defRPr>
            </a:pPr>
            <a:r>
              <a:t>Datos en BigQuery y Power BI. Reporte semanal (lunes 7 AM). Contacto: wcspahr@wal-mart.com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Formatos de Tienda - Conocelos!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Cada formato atiende un tipo de cliente diferente.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38328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Lider (Hiper)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828800" cy="2743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formato estrella. Tiendas grandes con TODO: alimentos, ropa, electronica, hogar. Es como un universo de productos.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71799"/>
            <a:ext cx="228600" cy="2286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799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ACP (Alimentos, Consumibles, Pets) | PPS (Perecederos) | GM (Merchandise)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611880"/>
            <a:ext cx="228600" cy="22860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Tienda | lider.cl | LiderApp | Click &amp; Collect | Despacho mismo 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SAP: S150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320040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663440"/>
            <a:ext cx="274320" cy="2743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Banner #1 en Chile (~7.1% share). NPS target &gt;= 65%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1097280"/>
            <a:ext cx="338328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69080" y="1097280"/>
            <a:ext cx="3383280" cy="54864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Express de Lider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1737360"/>
            <a:ext cx="1828800" cy="274320"/>
          </a:xfrm>
          <a:prstGeom prst="round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Supermercado urbano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Mas chiquito y cerca de tu casa. Ideal para la compra rapida del dia a dia. Piensa en comodidad.</a:t>
            </a:r>
          </a:p>
        </p:txBody>
      </p:sp>
      <p:sp>
        <p:nvSpPr>
          <p:cNvPr id="32" name="Oval 31"/>
          <p:cNvSpPr/>
          <p:nvPr/>
        </p:nvSpPr>
        <p:spPr>
          <a:xfrm>
            <a:off x="4206240" y="2971799"/>
            <a:ext cx="228600" cy="2286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2971799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A8703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Foco en ACP y PPS</a:t>
            </a:r>
          </a:p>
        </p:txBody>
      </p:sp>
      <p:sp>
        <p:nvSpPr>
          <p:cNvPr id="35" name="Oval 34"/>
          <p:cNvSpPr/>
          <p:nvPr/>
        </p:nvSpPr>
        <p:spPr>
          <a:xfrm>
            <a:off x="4206240" y="3611880"/>
            <a:ext cx="228600" cy="2286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611880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A8703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Tienda | SOD online | recetaslider.cl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2519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SAP: S151 / S260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4572000"/>
            <a:ext cx="320040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51960" y="4663440"/>
            <a:ext cx="274320" cy="2743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4681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6634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Visitas frecuentes, canasta chica. NPS target &gt;= 63%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1097280"/>
            <a:ext cx="338328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80960" y="1097280"/>
            <a:ext cx="3383280" cy="54864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SuperBodega aCuenta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1737360"/>
            <a:ext cx="1828800" cy="27432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Bodega de descuento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Sin lujos pero con los MEJORES precios. Mucha marca propia. El formato para quienes cuidan cada peso.</a:t>
            </a:r>
          </a:p>
        </p:txBody>
      </p:sp>
      <p:sp>
        <p:nvSpPr>
          <p:cNvPr id="50" name="Oval 49"/>
          <p:cNvSpPr/>
          <p:nvPr/>
        </p:nvSpPr>
        <p:spPr>
          <a:xfrm>
            <a:off x="7818120" y="2971799"/>
            <a:ext cx="228600" cy="2286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971799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21A8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Foco en precio y marcas propias</a:t>
            </a:r>
          </a:p>
        </p:txBody>
      </p:sp>
      <p:sp>
        <p:nvSpPr>
          <p:cNvPr id="53" name="Oval 52"/>
          <p:cNvSpPr/>
          <p:nvPr/>
        </p:nvSpPr>
        <p:spPr>
          <a:xfrm>
            <a:off x="7818120" y="3611880"/>
            <a:ext cx="228600" cy="2286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3611880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21A8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Tienda | acuenta.cl | Pickup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42519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SAP: S107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4572000"/>
            <a:ext cx="320040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3840" y="4663440"/>
            <a:ext cx="274320" cy="2743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4681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6634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Clientes sensibles al precio. NPS target &gt;= 78% (el mas alto!)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Formatos de Tienda (cont.)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38328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383280" cy="54864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Central Mayorista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1828800" cy="274320"/>
          </a:xfrm>
          <a:prstGeom prst="round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Mayorista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negocios: botillerias, kioscos, restaurantes. Compras a granel con descuentos por volumen.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971799"/>
            <a:ext cx="228600" cy="2286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799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A6700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Productos a granel y volumen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611880"/>
            <a:ext cx="228600" cy="22860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A6700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Tienda | centralmayorista.cl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SAP: S157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320040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663440"/>
            <a:ext cx="274320" cy="2743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634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13 tiendas. Foco B2B. NPS target &gt;= 70%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1097280"/>
            <a:ext cx="3383280" cy="52120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69080" y="1097280"/>
            <a:ext cx="3383280" cy="54864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Ekono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737360"/>
            <a:ext cx="1828800" cy="274320"/>
          </a:xfrm>
          <a:prstGeom prst="round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Barrio (phase out)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chico de barrio. Actualmente en proceso de cierre o reconversion a otros formatos.</a:t>
            </a:r>
          </a:p>
        </p:txBody>
      </p:sp>
      <p:sp>
        <p:nvSpPr>
          <p:cNvPr id="31" name="Oval 30"/>
          <p:cNvSpPr/>
          <p:nvPr/>
        </p:nvSpPr>
        <p:spPr>
          <a:xfrm>
            <a:off x="4206240" y="2971799"/>
            <a:ext cx="228600" cy="228600"/>
          </a:xfrm>
          <a:prstGeom prst="ellipse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971799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Groceries basicos</a:t>
            </a:r>
          </a:p>
        </p:txBody>
      </p:sp>
      <p:sp>
        <p:nvSpPr>
          <p:cNvPr id="34" name="Oval 33"/>
          <p:cNvSpPr/>
          <p:nvPr/>
        </p:nvSpPr>
        <p:spPr>
          <a:xfrm>
            <a:off x="4206240" y="3611880"/>
            <a:ext cx="228600" cy="228600"/>
          </a:xfrm>
          <a:prstGeom prst="ellipse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611880"/>
            <a:ext cx="2788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47474"/>
                </a:solidFill>
                <a:latin typeface="Calibri"/>
              </a:defRPr>
            </a:pPr>
            <a:r>
              <a:t>Solo tienda fisica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2519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SAP: -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572000"/>
            <a:ext cx="3200400" cy="91440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51960" y="4663440"/>
            <a:ext cx="274320" cy="27432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681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66344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892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En proceso de phase-out.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45720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73968" y="45720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75136" y="45720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76304" y="45720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7472" y="45720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65836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73968" y="65836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75136" y="65836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65836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7472" y="65836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0" y="85953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73968" y="85953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75136" y="85953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76304" y="85953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7472" y="85953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0" y="1060704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73968" y="1060704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75136" y="1060704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76304" y="1060704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7472" y="1060704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Marcas Propias &amp; Servicios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Nuestras marcas ofrecen calidad a mejor precio. Las reconoceras en gondola!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234440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8640" y="1307592"/>
            <a:ext cx="274320" cy="27432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1325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261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127101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Alimentos/hogar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127101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LA marca propia. Calidad a precio accesible.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764792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8640" y="1837944"/>
            <a:ext cx="274320" cy="27432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56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79222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8703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180136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Salud/belleza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18013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Higiene y cuidado personal.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295144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8640" y="2368296"/>
            <a:ext cx="274320" cy="2743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238658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3225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21A8"/>
                </a:solidFill>
                <a:latin typeface="Calibri"/>
              </a:defRPr>
            </a:pPr>
            <a:r>
              <a:t>Mainstays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23317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Hogar/deco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233172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Decoracion y ropa de cama.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825496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8640" y="2898648"/>
            <a:ext cx="274320" cy="27432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2916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2852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6700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Descuento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286207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Asociada al formato SBA.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355848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447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94A2"/>
                </a:solidFill>
                <a:latin typeface="Calibri"/>
              </a:defRPr>
            </a:pPr>
            <a:r>
              <a:t>Lider (marca)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339242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Multi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0" y="339242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propia multicate.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886200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48640" y="3959352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39136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B2777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0" y="3922776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Bebes/ninos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39227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Juguetes infantiles.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416552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8640" y="4489704"/>
            <a:ext cx="274320" cy="27432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5079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44439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688"/>
                </a:solidFill>
                <a:latin typeface="Calibri"/>
              </a:defRPr>
            </a:pPr>
            <a:r>
              <a:t>HC Just Home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0" y="445312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Hogar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0" y="44531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Coleccion para el hogar.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946904"/>
            <a:ext cx="5486400" cy="4572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8640" y="5020056"/>
            <a:ext cx="274320" cy="274320"/>
          </a:xfrm>
          <a:prstGeom prst="ellipse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0383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497433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47474"/>
                </a:solidFill>
                <a:latin typeface="Calibri"/>
              </a:defRPr>
            </a:pPr>
            <a:r>
              <a:t>Autodrive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60320" y="49834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47474"/>
                </a:solidFill>
                <a:latin typeface="Calibri"/>
              </a:defRPr>
            </a:pPr>
            <a:r>
              <a:t>Automotriz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74720" y="498348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Accesorios de auto.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1234440"/>
            <a:ext cx="5486400" cy="411480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Servicios Financieros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173736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309360" y="1810512"/>
            <a:ext cx="256032" cy="256032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17739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1100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17830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Tarjeta de credito propia.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224028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09360" y="2313432"/>
            <a:ext cx="256032" cy="256032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22768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0" y="22860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Co-branded con MasterCard.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274320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09360" y="2816352"/>
            <a:ext cx="256032" cy="256032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5120" y="27797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8703"/>
                </a:solidFill>
                <a:latin typeface="Calibri"/>
              </a:defRPr>
            </a:pPr>
            <a:r>
              <a:t>Creditos de Consumo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03920" y="27889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Financiamiento personal.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0" y="324612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09360" y="3319272"/>
            <a:ext cx="256032" cy="256032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75120" y="32826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21A8"/>
                </a:solidFill>
                <a:latin typeface="Calibri"/>
              </a:defRPr>
            </a:pPr>
            <a:r>
              <a:t>Seguros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03920" y="3291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Productos de seguros.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17920" y="374904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09360" y="3822192"/>
            <a:ext cx="256032" cy="256032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37856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94A2"/>
                </a:solidFill>
                <a:latin typeface="Calibri"/>
              </a:defRPr>
            </a:pPr>
            <a:r>
              <a:t>Pago de Cuentas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03920" y="3794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Pago servicios basicos.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17920" y="4251960"/>
            <a:ext cx="5486400" cy="438912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309360" y="4325112"/>
            <a:ext cx="256032" cy="256032"/>
          </a:xfrm>
          <a:prstGeom prst="ellipse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75120" y="42885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5213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03920" y="4297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Fidelizacion. Meta: 3.2M MAU.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7200" y="5486400"/>
            <a:ext cx="11155680" cy="91440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5605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" y="557784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NPS Targets por Formato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88720" y="58978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Lider &gt;= 65%  |  Express &gt;= 63%  |  SBA &gt;= 78% (el mas alto!)  |  Mayorista &gt;= 70%  |  Lider.cl &gt;= 49%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Tienda &amp; Sala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El vocabulario basico para entender como funciona una tienda por dentro.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Gondola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Shelf/Aisle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Las estanterias donde estan los productos. Son como las 'calles' de la tienda.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Cabecera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Endcap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inicio o final de la gondola. Espacio VIP para promos y exhibiciones especiales.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Planogram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'mapa' que dice que producto va en que lugar. Se basa en datos de venta y rentabilidad.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Price 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etiqueta de precio en la gondola. Tiene PLU, precio y descripcion. Debe estar siempre!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Accesos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Beta = por donde entran los clientes. Gamma = por donde entras tu como asociado.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Facing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Poner los productos 'bonitos' al frente cuando hay poco stock. Que se vea lleno.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Regla 4x1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Revision por metro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 cada metro de gondola revisas: fleje, limpieza, presentacion y quiebres. 4 cosas!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4873752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873752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2240" y="4946904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Point of Sale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caja registradora. El dispositivo donde se cobra al cliente.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Inventario &amp;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Como controlamos la mercaderia desde que llega hasta que el cliente la compra.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Price Look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'RUT' del producto. Codigo interno que identifica cada item. En Chile se usa mas que SKU.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SKU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Stock Keeping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Otro nombre para identificar productos. Mas usado en contexto global.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UPC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Codigo de barra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codigo de barras que se escanea en caja. Lo lleva cada producto.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Ubicacion bodega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Cada espacio de bodega tiene un codigo. Es como el 'departamento' donde vive el producto.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FIFO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First In First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Lo primero que llego es lo primero que sale. Logica basica de rotacion.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FEFO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First Exp. First 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frescos: sale primero lo que vence antes. Clave para evitar merma.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RRP/PDQ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Retail Ready Pack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Cajas disenadas para ir directo a gondola. Se abren y listo, ya estan exhibidas.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4873752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873752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2240" y="4946904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Anden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Receiving Dock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Donde llegan los camiones. Aqui empieza todo el ciclo de la mercaderia en tienda.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E-Commerce &amp;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El mundo online de Walmart Chile. Cada vez mas clientes compran desde su celular.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Lider.cl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Nuestra tienda online. El Netflix de los supermercados (pero de comida y mas).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Catex (CE)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Catalogo Extendido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que solo se venden online, desde bodegas. No estan en tienda fisica.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Supermercado On 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Compras online pero el producto sale de una tienda fisica. Asi de rapido.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Tienda oscura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Una tienda que SOLO atiende pedidos online. No entran clientes. Suena a pelicula, pero es real.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Sellers 3P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Vendedores externos que ofrecen sus productos a traves de Lider.cl.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Omnicanalidad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Omnichannel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el cliente tenga la misma experiencia comprando en tienda, web o app. Sin fricciones.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First/Third Party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1P = lo vende Walmart directo. 3P = lo vende un seller externo en nuestro marketplace.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Fulfillment &amp; Logistica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Todo lo que pasa desde que el cliente hace click en 'Comprar' hasta que recibe su pedido.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Proceso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viaje del pedido: lo recibimos -&gt; lo armamos -&gt; lo empacamos -&gt; lo despachamos -&gt; lo entregamos.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Picking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Armado de 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Ir por la tienda con un carro llenandolo con lo que pidio el cliente. Es como hacer la compra por 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Amida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App de picking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app que usan los pickers para armar pedidos. Les dice que buscar y donde.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Home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Despacho a casa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Te lo llevamos a la puerta de tu casa. Asi de simple.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Pickup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Retiro en tienda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Compras online y lo retiras tu en la tienda. Sin filas.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Lider al Toque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Despacho el MISMO DIA. Para los que no pueden esperar (osea, todos).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Drop-shipping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Envio directo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proveedor manda el producto directo al cliente. Nosotros no lo tocamos.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Tecnologia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Los sistemas que hacen funcionar todo detras de escena.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GTP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Global Tech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plataforma tecnologica global. Donde viven nuestros sistemas.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IMS (Wakanda)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Inventario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sistema de inventario. Si, se llama Wakanda. Somos asi de cool.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WMS (Dr Strange)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Bodega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Sistema de gestion de bodega. Los nombres de Marvel son tradicion tech.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Pedidos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Gestiona todo el ciclo de vida de los pedidos online.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sistema para finanzas, RRHH y cadena de suministro. El 'cerebro' administrativo.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SSP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Seguridad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Cada app tiene su plan de seguridad. Es obligatorio.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Eagle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Red interna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red corporativa de Walmart. Todo lo sensible vive aqui adentro.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0" y="4873752"/>
            <a:ext cx="5349240" cy="1170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9360" y="4873752"/>
            <a:ext cx="64008" cy="1170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2240" y="4946904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4ITB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4 in the Box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Asi trabajamos en tech: Engineering + Product + UX + Negocio. Juntos.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Finanzas &amp; Compras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Como decidimos que vender, a que precio y como medimos si funciono.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Category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proceso de elegir QUE productos van en cada tienda. Se hace 1 vez al ano + 3 ajustes.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Fineline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Sub-categoria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Dentro de 'Bebidas' hay 'Aguas', 'Jugos', etc. Cada una es un fineline.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Rebaja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Bajar el precio para liquidar stock. Comun en fin de temporada.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Baja temporal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Bajamos el precio regular por un tiempo. Es una movida clasica de Walmart.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CVI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Customer Value Index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tan importante es este producto para el cliente? Un score que lo mide.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D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688"/>
                </a:solidFill>
                <a:latin typeface="Calibri"/>
              </a:defRPr>
            </a:pPr>
            <a:r>
              <a:t>Sell-through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Tasa de venta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 lo que recibimos, cuanto vendimos? Mide velocidad de venta.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Personas y Productividad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Estos KPIs miden como estamos en dotacion y eficiencia. Son clave para saber si tenemos la gente correcta en el lugar correcto.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2777"/>
                </a:solidFill>
                <a:latin typeface="Calibri"/>
              </a:defRPr>
            </a:pPr>
            <a:r>
              <a:t>UPLH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Units Per Labor Hour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unidades vendemos por cada hora trabajada. Es EL indicador de productividad en tienda. Se mide por marcacion de reloj.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2777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Jornada Equivalente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'jornadas completas' tenemos. 1 JEQ = 176 hrs/mes (44 hrs/semana). Si alguien trabaja media jornada = 0.5 JEQ. Se actualiza el dia 15.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2777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% Ausencias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Cuantos asociados faltan vs los planificados. Semaforo: Verde &lt;= 10%, Amarillo 10-20%, Rojo &gt; 20%. Se mide DIARIO.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2777"/>
                </a:solidFill>
                <a:latin typeface="Calibri"/>
              </a:defRPr>
            </a:pPr>
            <a:r>
              <a:t>Rotacion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Turnover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Cuantos asociados se van vs los activos. Se mide mensualmente. Un indicador clave de salud organizacional.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2777"/>
                </a:solidFill>
                <a:latin typeface="Calibri"/>
              </a:defRPr>
            </a:pPr>
            <a:r>
              <a:t>CEC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Jornadas CEC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Jornadas equivalentes de los asociados que estan de cara al cliente (Full y Part Time).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NPS y Voz del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Asi medimos si al cliente le gustamos. El NPS es el termometro de la experiencia. Se mide via Medallia.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Net Promoter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Del 0 al 10, cuanto nos recomendaria un cliente? Targets: Lider &gt;= 65%, Express &gt;= 63%, SBA &gt;= 78%, Mayorista &gt;= 70%, Lider.cl &gt;= 49%.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NPS Fisico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En tienda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especifico del canal fisico. Se actualiza semanalmente los martes via Medallia.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NPS Digital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Canal online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del canal digital. Target &gt;= 49%. Si baja de 44% estamos en rojo.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Satisfaccion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Satisfaccion por atributo (escala 1-7). Se usa para entender QUE atributos impactan mas el NPS.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99"/>
                </a:solidFill>
                <a:latin typeface="Calibri"/>
              </a:defRPr>
            </a:pPr>
            <a:r>
              <a:t>Reclamos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Complaints CRM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 cuentan diario desde el CRM. Cada reclamo es una oportunidad de mejora.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Ventas y Finanzas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La salud financiera del negocio. Estos numeros definen si estamos cumpliendo nuestras metas.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E8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Venta Neta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Net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vendimos en pesos. LA metrica reina. Target: &gt;= Plan.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Comparable 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crecimos vs el mismo periodo del ano pasado EN LAS MISMAS tiendas. Target: &gt;= 0%.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Average Ticket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gasta en promedio cada cliente por visita. Se actualiza diario.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Cant. Ticket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compras se hicieron en caja. Es el proxy de trafico de clientes.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ROP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Resultado Operacional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foto completa: Ingresos + Gastos + Otros. Target: &gt;= Plan.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2386584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2386584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92240" y="2459736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SG&amp;A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Gastos Admin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Gastos generales y administrativos. Queremos que sea &lt; 20%. Cada peso cuenta!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3630168"/>
            <a:ext cx="5349240" cy="1170432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3630168"/>
            <a:ext cx="64008" cy="117043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92240" y="3703320"/>
            <a:ext cx="365760" cy="365760"/>
          </a:xfrm>
          <a:prstGeom prst="ellipse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8703"/>
                </a:solidFill>
                <a:latin typeface="Calibri"/>
              </a:defRPr>
            </a:pPr>
            <a:r>
              <a:t>GMV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Gross Merch. Value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Venta bruta total (tiendas + eComm + Marketplace) menos descuentos y devoluciones.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Disponibilidad en Gondola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Si el producto no esta en la gondola, no se vende. Estos KPIs aseguran que el cliente encuentre lo que busca.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Nivel Servicio Gondola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producto esta, esta ordenado, limpio y con fleje? Verde &gt;= 97.5%, Rojo &lt; 95.5%. Se mide DIARIO.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% En 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Tenemos producto para la demanda? Verde &gt;= 96%, Rojo &lt; 93%. Tambien diario.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Days on Hand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cuantos dias nos alcanza el stock? Formula: Inventario / Venta diaria. Verde &gt;= 10, Rojo &lt; 6.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Quiebre CAP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Cap Stockout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Hay stock en bodega pero NO en piso? Eso es un quiebre CAP. Verde &lt; 2%, Rojo &gt; 5%.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1A8"/>
                </a:solidFill>
                <a:latin typeface="Calibri"/>
              </a:defRPr>
            </a:pPr>
            <a:r>
              <a:t>Disponota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Score Flujo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Nota del 1 al 10 del proceso de flujo de mercaderia. Verde &gt;= 8, Rojo &lt; 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Merma (Perdidas)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La merma es dinero que se pierde. Cada producto danado, vencido o hurtado impacta directamente el resultado.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F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FEBE8"/>
          </a:solidFill>
          <a:ln w="1270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1100"/>
                </a:solidFill>
                <a:latin typeface="Calibri"/>
              </a:defRPr>
            </a:pPr>
            <a:r>
              <a:t>Desecho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Waste/Spoilage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que no se pueden vender: vencidos, mal etiquetados. Muy comun en frescos.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FEBE8"/>
          </a:solidFill>
          <a:ln w="1270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1100"/>
                </a:solidFill>
                <a:latin typeface="Calibri"/>
              </a:defRPr>
            </a:pPr>
            <a:r>
              <a:t>Danado (MKD 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Damaged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danados en areas retail que ya no se pueden vender.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FEBE8"/>
          </a:solidFill>
          <a:ln w="1270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1100"/>
                </a:solidFill>
                <a:latin typeface="Calibri"/>
              </a:defRPr>
            </a:pPr>
            <a:r>
              <a:t>Fresh 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Perdida Frescos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Perdida total en departamentos de costo: (Desecho + Desconocido) / Venta.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FFEBE8"/>
          </a:solidFill>
          <a:ln w="1270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1100"/>
                </a:solidFill>
                <a:latin typeface="Calibri"/>
              </a:defRPr>
            </a:pPr>
            <a:r>
              <a:t>Proy. Inventario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Projected Loss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Perdida desconocida estimada (hurto + ajustes) desde el ultimo conteo.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143000"/>
            <a:ext cx="5349240" cy="1170432"/>
          </a:xfrm>
          <a:prstGeom prst="roundRect">
            <a:avLst/>
          </a:prstGeom>
          <a:solidFill>
            <a:srgbClr val="FFEBE8"/>
          </a:solidFill>
          <a:ln w="12700">
            <a:solidFill>
              <a:srgbClr val="EA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143000"/>
            <a:ext cx="64008" cy="1170432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2240" y="1216152"/>
            <a:ext cx="365760" cy="365760"/>
          </a:xfrm>
          <a:prstGeom prst="ellipse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1100"/>
                </a:solidFill>
                <a:latin typeface="Calibri"/>
              </a:defRPr>
            </a:pPr>
            <a:r>
              <a:t>Aporte Merma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Vendor Contrib.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Lo que aporta el proveedor para cubrir la merma. Se negocia.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Fulfillment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Cuando un cliente compra online, estos KPIs miden si le entregamos bien, completo y a tiempo.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Pedido Perfecto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OTIF (Perfect Order)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Llego a tiempo, completo y al lugar correcto? Verde &gt;= 40%, Rojo &lt; 30%. Es LA metrica de eComm.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Completitud c/s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Con sustitucion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Del pedido, que % logramos entregar (contando sustitutos)? Verde &gt;= 98%, Rojo &lt; 95%.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E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E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6700"/>
                </a:solidFill>
                <a:latin typeface="Calibri"/>
              </a:defRPr>
            </a:pPr>
            <a:r>
              <a:t>Completitud s/s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Sin sustitucion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del pedido ORIGINAL entregamos sin cambiar nada? Verde &gt;= 90%, Rojo &lt; 85%.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KPI: Checkout (Zona de Pago)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47474"/>
                </a:solidFill>
                <a:latin typeface="Calibri"/>
              </a:defRPr>
            </a:pPr>
            <a:r>
              <a:t>Nadie quiere esperar en la fila de la caja. Estos KPIs miden la rapidez del proceso de pago.</a:t>
            </a:r>
          </a:p>
        </p:txBody>
      </p:sp>
      <p:sp>
        <p:nvSpPr>
          <p:cNvPr id="8" name="Oval 7"/>
          <p:cNvSpPr/>
          <p:nvPr/>
        </p:nvSpPr>
        <p:spPr>
          <a:xfrm>
            <a:off x="11155680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58016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9184" y="5669280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0" y="5870448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5870448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58016" y="5870448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59184" y="5870448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0" y="6071616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56848" y="6071616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58016" y="6071616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59184" y="6071616"/>
            <a:ext cx="54864" cy="54864"/>
          </a:xfrm>
          <a:prstGeom prst="ellipse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1143000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143000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11978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216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Nivel Tiempo Caja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527048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tiempo espera el cliente? Targets: Lider &gt;= 81%, Express &gt;= 80%, SBA &gt;= 82%. Tiempos max: Lider 7.6 min, Express 6.9 min.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386584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386584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4780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NSC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4597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Nivel Servicio Checkout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7063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del tiempo las cajas NO tienen cola? Verde &gt;= 80%, Rojo &lt; 70%.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30168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30168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685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Uso SCO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Self-Checkout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14216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 clientes usa cajas de autoservicio? Targets: Lider &gt;= 24%, Express &gt;= 35%, SBA &gt;= 25%.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73752"/>
            <a:ext cx="5349240" cy="117043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69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873752"/>
            <a:ext cx="64008" cy="1170432"/>
          </a:xfrm>
          <a:prstGeom prst="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928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94A2"/>
                </a:solidFill>
                <a:latin typeface="Calibri"/>
              </a:defRPr>
            </a:pPr>
            <a:r>
              <a:t>Cajas Abiertas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469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47474"/>
                </a:solidFill>
                <a:latin typeface="Calibri"/>
              </a:defRPr>
            </a:pPr>
            <a:r>
              <a:t>Open Registers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 las cajas fisicas estan abiertas? Debe cumplir el plan.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27432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182880"/>
            <a:ext cx="274320" cy="27432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5943600"/>
            <a:ext cx="365760" cy="365760"/>
          </a:xfrm>
          <a:prstGeom prst="ellipse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63040"/>
            <a:ext cx="7589520" cy="118872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50876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Ahora ya sabes lo basico.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220"/>
                </a:solidFill>
                <a:latin typeface="Calibri"/>
              </a:defRPr>
            </a:pPr>
            <a:r>
              <a:t>El resto lo aprenderas haciendo. Y preguntando. Mucho.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017520"/>
            <a:ext cx="8503920" cy="3017520"/>
          </a:xfrm>
          <a:prstGeom prst="roundRect">
            <a:avLst/>
          </a:prstGeom>
          <a:solidFill>
            <a:srgbClr val="00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1089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100" b="1">
                <a:solidFill>
                  <a:srgbClr val="CCDDFF"/>
                </a:solidFill>
                <a:latin typeface="Calibri"/>
              </a:defRPr>
            </a:pPr>
            <a:r>
              <a:t>Recursos que te van a salvar la vida: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MyWalmart (ex WIRE) - Portal interno con todo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Confluence - Documentacion tecnica y glosarios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Slack: #glosario_wt - Pregunta lo que no entiendas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Workday - Tu perfil, vacaciones, recibos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WIC+ - Dashboard de KPIs (tu nuevo mejor amigo)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Medallia - NPS y voz del cliente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Power BI - Reportes de Headcount</a:t>
            </a: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100" b="0">
                <a:solidFill>
                  <a:srgbClr val="CCDDFF"/>
                </a:solidFill>
                <a:latin typeface="Calibri"/>
              </a:defRPr>
            </a:pPr>
            <a:r>
              <a:t>People Analytics: wcspahr@wal-mart.com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6126480"/>
            <a:ext cx="5760720" cy="502920"/>
          </a:xfrm>
          <a:prstGeom prst="round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615391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  <a:latin typeface="Calibri"/>
              </a:defRPr>
            </a:pPr>
            <a:r>
              <a:t>"Solo hay un jefe... el cliente." - Sam Walton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