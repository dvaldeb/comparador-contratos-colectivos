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Glosario Walmart Chile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C220"/>
                </a:solidFill>
                <a:latin typeface="Calibri"/>
              </a:defRPr>
            </a:pPr>
            <a:r>
              <a:t>Todo lo que necesitas saber en tu primer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FF"/>
                </a:solidFill>
                <a:latin typeface="Calibri"/>
              </a:defRPr>
            </a:pPr>
            <a:r>
              <a:t>Guia de Onboarding para Nuevos Asociados y Alumnos en Practica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AAEE"/>
                </a:solidFill>
                <a:latin typeface="Calibri"/>
              </a:defRPr>
            </a:pPr>
            <a:r>
              <a:t>Walmart Chile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53E2"/>
                </a:solidFill>
                <a:latin typeface="Calibri"/>
              </a:defRPr>
            </a:pPr>
            <a:r>
              <a:t>Indice del Glosario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1.  Que es Walmart? - Historia y Presencia Global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2.  Walmart Chile - Contexto, Numeros y Estrategia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3.  Formatos de Tienda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4.  Marcas Propias y Servicios Financieros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5.  Cultura y Valores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6.  Tienda y Sala de Ventas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7.  Inventario y Stock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8.  E-Commerce y Digital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9.  Fulfillment y Logistica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10. KPIs Clave (UPLH, JEQ, NPS, NTC, NSG...)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11. Tecnologia</a:t>
            </a:r>
          </a:p>
          <a:p>
            <a:pPr algn="l">
              <a:spcBef>
                <a:spcPts val="1000"/>
              </a:spcBef>
              <a:defRPr sz="1700" b="0">
                <a:solidFill>
                  <a:srgbClr val="2D2D2D"/>
                </a:solidFill>
                <a:latin typeface="Calibri"/>
              </a:defRPr>
            </a:pPr>
            <a:r>
              <a:t>12. Finanzas y Compras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53E2"/>
                </a:solidFill>
                <a:latin typeface="Calibri"/>
              </a:defRPr>
            </a:pPr>
            <a:r>
              <a:t>Que es Walmart?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La empresa minorista mas grande del mundo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3657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Datos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Fundador:  Sam Walton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Fundacion:  1962, Rogers, Arkansas, EE.UU.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Sede:  Bentonville, Arkansas (Home Office)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Asociados:  ~2.1 millones (mayor empleador privado del mundo)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Presencia:  19 países con operaciones retail + hubs de sourcing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Tiendas Intl:  5,400+ tiendas internacionales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Fortune 500:  #1 Fortune 500 (la mayoría de los últimos 20 años)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16459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220"/>
                </a:solidFill>
                <a:latin typeface="Calibri"/>
              </a:defRPr>
            </a:pPr>
            <a:r>
              <a:t>Proposito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"Ahorramos dinero a las personas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para que vivan mejor."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91840"/>
            <a:ext cx="5303520" cy="256032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5213"/>
                </a:solidFill>
                <a:latin typeface="Calibri"/>
              </a:defRPr>
            </a:pPr>
            <a:r>
              <a:t>3 Creencias Basicas (Sam Walton, 1962)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9476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100" b="0">
                <a:solidFill>
                  <a:srgbClr val="995213"/>
                </a:solidFill>
                <a:latin typeface="Calibri"/>
              </a:defRPr>
            </a:pPr>
            <a:r>
              <a:t>1. Respeto por el Individuo: Valorar la singularidad de cada persona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995213"/>
                </a:solidFill>
                <a:latin typeface="Calibri"/>
              </a:defRPr>
            </a:pPr>
            <a:r>
              <a:t>2. Servicio al Cliente: "Solo hay un jefe... el cliente" - Sam Walton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995213"/>
                </a:solidFill>
                <a:latin typeface="Calibri"/>
              </a:defRPr>
            </a:pPr>
            <a:r>
              <a:t>3. Búsqueda de la Excelencia: Superar el miedo al fracaso, tomar riesgos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99521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100" b="0">
                <a:solidFill>
                  <a:srgbClr val="995213"/>
                </a:solidFill>
                <a:latin typeface="Calibri"/>
              </a:defRPr>
            </a:pPr>
            <a:r>
              <a:t>+ Actuar con Integridad: Decir la verdad, ser justo, ser objetivo.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03520"/>
            <a:ext cx="11064240" cy="11887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3 Segmentos de Negocio: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Walmart U.S.  |  Walmart International  |  Sam's Club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Mercados Internacionales: Mexico &amp; CAM | Canada | Chile | China | India (Flipkart) | Sudafrica (Massmart)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Que es Walmart? - Filosofia y Cultura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03520" cy="5486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EDLP - Every Day Low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"Piensa en cuan poco puedo cobrar, no en cuanto." - Sam Walton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Principios clave: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Servimos como agentes del cliente: precios para ellos, no para nosotros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Presión constante hacia abajo en precios y costos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EDLC impulsa y hace posible EDLP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Ser 'duros pero justos' al negociar menores costos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Analizar precios de la competencia constantemente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4937760" cy="100584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5213"/>
                </a:solidFill>
                <a:latin typeface="Calibri"/>
              </a:defRPr>
            </a:pPr>
            <a:r>
              <a:t>EDLC - Every Day Low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5213"/>
                </a:solidFill>
                <a:latin typeface="Calibri"/>
              </a:defRPr>
            </a:pPr>
            <a:r>
              <a:t>"Controla tus gastos mejor que tu competencia. Ahi siempre encontraras ventaja competitiva." - Sam Walton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097280"/>
            <a:ext cx="5303520" cy="5486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Practicas Culturales Iconicas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4937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54864" cy="7772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874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Regla de los 3 Metros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48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 menos de 3m del cliente: detenerse, sonreir, saludar.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697480"/>
            <a:ext cx="4937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697480"/>
            <a:ext cx="54864" cy="7772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743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Regla Sundown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17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Responder ESE MISMO DIA, aunque no tengas respuesta final.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566160"/>
            <a:ext cx="4937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566160"/>
            <a:ext cx="54864" cy="7772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611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Puerta Abierta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86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Discutir preocupaciones de forma confidencial, sin represalias.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434840"/>
            <a:ext cx="4937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434840"/>
            <a:ext cx="54864" cy="7772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480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Hospitalidad Agresiva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Ir mas alla para superar expectativas del cliente.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03520"/>
            <a:ext cx="4937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5303520"/>
            <a:ext cx="54864" cy="7772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349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Asociado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623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No somos empleados, somos asociados: socios en el negocio.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Walmart Chile - Contexto y Numeros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Walmart adquirió D&amp;S (Distribución y Servicio) en 2008-2009. D&amp;S era dueña de Líder, Ekono, Express y otros.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51760" cy="10058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~400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C220"/>
                </a:solidFill>
                <a:latin typeface="Calibri"/>
              </a:defRPr>
            </a:pPr>
            <a:r>
              <a:t>Tiendas fisicas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88720"/>
            <a:ext cx="2651760" cy="10058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~27%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C220"/>
                </a:solidFill>
                <a:latin typeface="Calibri"/>
              </a:defRPr>
            </a:pPr>
            <a:r>
              <a:t>Market share retail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651760" cy="10058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C220"/>
                </a:solidFill>
                <a:latin typeface="Calibri"/>
              </a:defRPr>
            </a:pPr>
            <a:r>
              <a:t>Supermercado Chile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188720"/>
            <a:ext cx="2651760" cy="10058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+1,500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C220"/>
                </a:solidFill>
                <a:latin typeface="Calibri"/>
              </a:defRPr>
            </a:pPr>
            <a:r>
              <a:t>Proveedores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468880"/>
            <a:ext cx="53035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60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Posicion de Mercado y Finanzas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Market share grocery moderno: ~40-47% en grocery moderno (líder absoluto)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Market share eCommerce: ~18% eCommerce Chile (4to lugar, #1 en supermercado online)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Revenue (2023): CLP ~5.4 billones (2023)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Inversion omnicanal (2023-2025): US$1,300 millones (2023-2025)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Meta penetracion online: 20% penetración online para 2025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Crecimiento eCommerce 2024: +12% (2024)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Competencia: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Cencosud: Jumbo, Santa Isabel, Paris - 8.2% share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Falabella: Falabella, Sodimac, Tottus - 6.9% share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SMU: Unimarc - 5.8% share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MercadoLibre: 2.2% share pero crecimiento 71% CAGR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68880"/>
            <a:ext cx="530352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60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Unidades de Negocio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Retail: Operaciones de tienda (Líder, Express, SBA, Mayorista)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Soporte (Home Office): Funciones corporativas: Finanzas, RRHH, Legal, Tech, Marketing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Logística: Centros de distribución y transporte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Plantas: Alimentos y Servicios - Producción propia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80560"/>
            <a:ext cx="5303520" cy="18288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526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Codigos de Sociedad (SAP)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S150: Líder (Hipermercado)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S151: Express de Líder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S260: Express 400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S107: Bodega / SBA / Acuenta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S157: Central Mayorista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Walmart Chile - Estrategia y Dotacion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5303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486400" cy="5029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 Prioridades Estrategicas (Vision 5 anos)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4864" cy="5943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1. Win in Omni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20% penetración online, 92% alcance poblacional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95728"/>
            <a:ext cx="5120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54864" cy="5943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231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2. Run Great 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700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Simplificar operación, mejorar CX en tienda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54096"/>
            <a:ext cx="5120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54096"/>
            <a:ext cx="54864" cy="5943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815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3. Develop Ecosystem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2841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Mi Club 3.2M MAU, monetización de datos, 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12464"/>
            <a:ext cx="5120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12464"/>
            <a:ext cx="54864" cy="5943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398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4. Marketplace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867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2M SKUs en 3P, Cross Border Trade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70832"/>
            <a:ext cx="5120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370832"/>
            <a:ext cx="54864" cy="5943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9826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5. Central Mayorista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4515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Meta #2 en eCommerce B2B Chile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29200"/>
            <a:ext cx="5120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029200"/>
            <a:ext cx="54864" cy="5943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566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6. Attract &amp; Develop Talent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035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Mentalidad digital, reducir turnover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687568"/>
            <a:ext cx="5120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687568"/>
            <a:ext cx="54864" cy="5943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15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7. Power Tech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9618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Arquitectura flexible, reducir deuda técnica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097280"/>
            <a:ext cx="512064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1097280"/>
            <a:ext cx="5120640" cy="5029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1143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Dotacion y People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Headcount Total: Personas activas en la compañía</a:t>
            </a:r>
          </a:p>
          <a:p>
            <a:pPr algn="l">
              <a:spcBef>
                <a:spcPts val="5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JEQ: Jornada Equivalente (FTE basado en 176 hrs/mes = 44 hrs/semana)</a:t>
            </a:r>
          </a:p>
          <a:p>
            <a:pPr algn="l">
              <a:spcBef>
                <a:spcPts val="5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Ingresos: Nuevas contrataciones mensuales</a:t>
            </a:r>
          </a:p>
          <a:p>
            <a:pPr algn="l">
              <a:spcBef>
                <a:spcPts val="5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Rotación: % de turnover de asociados</a:t>
            </a:r>
          </a:p>
          <a:p>
            <a:pPr algn="l">
              <a:spcBef>
                <a:spcPts val="5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Ausentismo: % de ausencias vs. planificado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337560"/>
            <a:ext cx="4754880" cy="82296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383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900" b="1">
                <a:solidFill>
                  <a:srgbClr val="995213"/>
                </a:solidFill>
                <a:latin typeface="Calibri"/>
              </a:defRPr>
            </a:pPr>
            <a:r>
              <a:t>Nota: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995213"/>
                </a:solidFill>
                <a:latin typeface="Calibri"/>
              </a:defRPr>
            </a:pPr>
            <a:r>
              <a:t>Los datos de dotación se gestionan vía BigQuery (wmt-cl-wic-prod.KPI_PERSONAS.Vista_Headcount) y Power BI. Reporte actualizado semanalmente (lunes 7 AM).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480560"/>
            <a:ext cx="5120640" cy="19202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526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Segmentaciones de Headcount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8920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Unidad de Negocio: Retail, Soporte, Logistica, Plantas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Formato: Lider, Express, Bodega, Mayorista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Mercado (agrupacion geografica)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Banda salarial, tipo contrato, jornada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Genero, nacionalidad, antiguedad, generacion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D2D2D"/>
                </a:solidFill>
                <a:latin typeface="Calibri"/>
              </a:defRPr>
            </a:pPr>
            <a:r>
              <a:t>  (Boomers / Gen X / Millennials / Gen Z)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Formatos de Tienda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3832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383280" cy="59436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[H] Líder (Hiper Líder)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Hipermercado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Formato principal de gran superficie. Surtido completo: alimentos, electrónica, vestuario, hogar. Alta rotación, bajo margen.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ACP (Alimentos, Consumibles, Pets) | PPS (Perecederos) | GM (General Merchandise)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Tienda física | lider.cl | Líder App | Click &amp; Collect | Despacho mismo día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Codigo SAP: S150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3200400" cy="91440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19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Banner #1 en Chile con ~7.1% de participación de mercado total (2023)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097280"/>
            <a:ext cx="33832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1097280"/>
            <a:ext cx="3383280" cy="59436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188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[E] Express de Líder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Supermercado de proximidad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Formato más pequeño, urbano, enfocado en compras rápidas y cercanas al hogar.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9260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Foco en ACP y 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5661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749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Tienda física | SOD online | recetaslider.cl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2062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Codigo SAP: S151 / S260 (Express 400)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572000"/>
            <a:ext cx="3200400" cy="91440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6177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846319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Mayor frecuencia de visita, canasta más chica. NPS target &gt;= 63%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1097280"/>
            <a:ext cx="33832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63840" y="1097280"/>
            <a:ext cx="3383280" cy="59436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1188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[B] SuperBodega aCuenta (SBA)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Bodega de descuento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Formato no-frills/sin lujos. Productos de calidad a los precios más bajos de Chile.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9260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Foco en precio y marcas propias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5661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3749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Tienda física | acuenta.cl | Pickup habilitado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2062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Codigo SAP: S107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80" y="4572000"/>
            <a:ext cx="3200400" cy="91440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6177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4846319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Apunta a clientes sensibles al precio. NPS target &gt;= 78%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Formatos de Tienda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3832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383280" cy="59436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[M] Central Mayorista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Mayorista / B2B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Formato mayorista para negocios: botillerías, kioscos, hoteles, restaurantes.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Productos a granel y volumen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Tienda física | centralmayorista.cl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Codigo SAP: S157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3200400" cy="91440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19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13 tiendas. Foco B2B. NPS target &gt;= 70%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097280"/>
            <a:ext cx="33832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1097280"/>
            <a:ext cx="3383280" cy="59436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188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[K] Ekono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Tienda de barrio (en phase 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Formato pequeño de barrio con productos básicos. Actualmente en cierre/reconversión.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9260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Groceries básicos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5661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749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Solo tienda física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2062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Codigo SAP: -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572000"/>
            <a:ext cx="3200400" cy="91440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6177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846319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Formato en proceso de phase-out.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Marcas Propias &amp; Servicios Financieros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99"/>
                </a:solidFill>
                <a:latin typeface="Calibri"/>
              </a:defRPr>
            </a:pPr>
            <a:r>
              <a:t>Marcas Propias (Private Labels)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Great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904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Alimentos y hogar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Marca propia principal. Productos esenciales de calidad a precio accesible.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29968"/>
            <a:ext cx="53035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482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Equate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574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Salud y cuidado personal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Marca propia de salud, belleza e higiene personal.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96896"/>
            <a:ext cx="53035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151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Mainstays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243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Hogar y decoración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34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Marca propia de decoración, ropa de cama y productos para el hogar.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63824"/>
            <a:ext cx="53035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821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Acuenta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1912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Valor/Descuento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015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Marca de valor asociada al formato SBA. Los precios más bajos.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30752"/>
            <a:ext cx="53035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490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Líder (marca)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581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Multi-categoría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684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Productos con marca Líder en diversas categorías.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53035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159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Spark Create Imagine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3251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Bebés y niños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354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Juguetes y productos infantiles de marca propia.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64608"/>
            <a:ext cx="53035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8828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HC Just Home 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892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Hogar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023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Colección de productos para el hogar.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431536"/>
            <a:ext cx="53035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4498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Autodrive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4589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Automotriz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669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Accesorios automotrices de marca propia.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99"/>
                </a:solidFill>
                <a:latin typeface="Calibri"/>
              </a:defRPr>
            </a:pPr>
            <a:r>
              <a:t>Servicios Financieros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1463040"/>
            <a:ext cx="48463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148132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Presto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17007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Tarjeta de crédito propia de Walmart Chile.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2029968"/>
            <a:ext cx="48463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20482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MasterCard Presto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2677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Tarjeta co-branded con MasterCard.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2596896"/>
            <a:ext cx="48463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26151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Créditos de Consumo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2834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Financiamiento personal para clientes.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3163824"/>
            <a:ext cx="48463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31821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Seguros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34015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Productos de seguros varios.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3730752"/>
            <a:ext cx="48463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37490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Pago de Cuentas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39684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Servicio de pago de servicios básicos.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4297680"/>
            <a:ext cx="48463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0" y="43159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Mi Club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45354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Programa de fidelización. Meta: 3.2M usuarios activos mensuales.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0" y="5029200"/>
            <a:ext cx="4846320" cy="13716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084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NPS Targets por Formato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5349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Walmart Global: &gt;= 66%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Lider: &gt;= 65%   |   Express: &gt;= 63%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SBA: &gt;= 78%     |   C. Mayorista: &gt;= 70%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Lider.cl: &gt;= 49%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Cultura &amp; Valores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EDLP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Every Day Low 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Filosofía central: precios bajos TODOS los días, no solo en promos.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EDLC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Every Day Low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Costos operativos bajos siempre. Es lo que hace posible el EDLP.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Asociado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Associate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Así nos llamamos en Walmart. No somos empleados, somos socios.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Regla Sundown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Sundown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Responder al cliente/asociado ESE MISMO DIA.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Puerta Abierta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Open Door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Discutir preocupaciones sin represalias.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Regla de los 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10-Foot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 menos de 3m de un cliente: detenerse, sonreír, saludar.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Hospitalidad Agresiva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Aggressive Hospitality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Superar las expectativas del cliente.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Tienda &amp; Sala de Ventas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Góndola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Shelf/Aisle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Estanterías en pasillos donde se exhiben productos.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Cabecera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Endcap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Inicio/término de góndola. Area premium para exhibiciones.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Planograma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Planogram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Planificación de productos según rentabilidad y preferencia.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Fleje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Price Tag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Etiqueta en góndola con precio, descripción y PLU.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Beta / Gamma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Accesos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Beta = clientes. Gamma = colaboradores.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Apantallar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Facing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Producto al frente de góndola ante bajo stock.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Regla 4x1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Revisión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Flejes, limpieza, presentación, quiebres por metro.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493776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Point of Sale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Dispositivo de caja para registrar ventas.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Inventario &amp; Stock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Price Look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Código interno del producto en Walmart Chile.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Stock Keeping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Identificador único de producto.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UPC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Universal Product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Código de barra del producto.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Bin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Ubicación bodega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Ubicación codificada en bodega.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FIFO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First In, First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Los más antiguos salen primero.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FEFO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First Expired, First 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Sale primero el de vencimiento más cercano.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RRP/PDQ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Retail Ready 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Empaque listo para góndola.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493776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Andén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Receiving Dock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Zona de descarga de camiones.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E-Commerce &amp; 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Lider.cl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Plataforma online principal.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Catex (CE)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Catálogo Extendido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Productos online desde bodegas.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Supermercado On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Online con inventario de tiendas.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DarkStore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Tienda oscura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Solo para operaciones e-commerce.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Sellers 3P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Vendedores externos en Lider.cl.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Omnicanalidad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Omnichannel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Experiencia integrada física + digital.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1P / 3P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First/Third Party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1P = Walmart vende. 3P = Seller externo.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Fulfillment &amp; Logística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Fulfillment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Proceso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Pedido -&gt; picking -&gt; packing -&gt; despacho -&gt; entrega.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Picking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Armado de 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Seleccionar productos del pedido del cliente.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Amida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App de picking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App para armado de pedidos Pickup y HD.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Home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Despacho domicilio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Pedido entregado en dirección del cliente.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Pickup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Retiro en tienda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Cliente retira pedido online en local.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LAT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Líder al Toque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Despacho el mismo día.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Drop-shipping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Envío directo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Proveedor despacha directo al cliente.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Tecnología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GTP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Global Tech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Plataforma tecnológica global de Walmart.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Inventory Mgmt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Sistema de gestión de inventario (Wakanda).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WMS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Warehouse Mgmt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Gestión de bodega (Dr Strange).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OMS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Order Mgmt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Ciclo de vida de pedidos.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Finanzas, RRHH y cadena de suministro.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Solution Security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Seguridad para cada solución/app.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Eagle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Red corporativa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Red interna. Datos sensibles dentro de Eagle.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493776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4ITB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4 in the Box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Engineering + Product + UX + Business.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Finanzas &amp; Compras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CATMAN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Category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Selección de surtido por categoría. 1 vez/año + 3 ajustes.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Fineline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Sub-categoría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Nivel granular (ej: 'Aguas' en 'Bebidas').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Markdown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Rebaja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Reducción de precio para liquidar.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Reducción temporal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Baja temporal del precio regular.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Customer Value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Score de importancia del producto.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37744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Sell-through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Tasa de venta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vendido vs recibido en un período.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Personas: Dotación y Productividad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UPLH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Units Per Labor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Unidades vendidas por hora trabajada por asociado. Se trackea por marcación de reloj. Asociados EST = 7.5 hrs.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JEQ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Jornada Equivalente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Total de jornadas equivalentes de asociados. FTE basado en 176 hrs/mes (44 hrs/semana). Se actualiza el día 15 de cada 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Ausentismo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% Ausencias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ausencias vs asociados planificados. Verde &lt;= 10%, Amarillo 10-20%, Rojo &gt; 20%. Se mide diariamente.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Rotación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Turnover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Tasa de rotación de asociados vs headcount activo. Se mide mensualmente.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CEC Full/Part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Jornadas CEC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Jornadas equivalentes para asociados de cara al cliente (Full Time y Part Time).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NPS y Satisfacción del Cliente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Net Promoter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Lealtad y recomendación del cliente (0-10). Targets: Walmart &gt;=66%, Líder &gt;=65%, Express &gt;=63%, SBA &gt;=78%, Mayorista &gt;=70%, Lider.cl &gt;=49%.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NPS Físico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NPS en tienda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NPS específico del canal físico. Se actualiza semanalmente (martes) vía Medallia.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NPS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NPS canal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NPS del canal online. Target: &gt;= 49%. Amarillo 44-49%, Rojo &lt; 44%.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CSAT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Customer Satisfaction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Satisfacción por atributo, escala 1-7. Se usa en análisis de NPS. Via plataforma Medallia.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Reclamos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Complaints CRM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Reclamos diarios del CRM (físico + digital).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Ventas y Finanzas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Venta Neta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Net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Ventas netas en MM. Target: &gt;=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Comp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Comparable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Ventas comparables YoY (mismas tiendas). Target: &gt;= 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Ticket Promedio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Average Ticket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Monto promedio por transacción. Se actualiza diariamente.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Cantidad de 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Traffic/Transactions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Número de transacciones en caja. Proxy de tráfico.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Resultado Operacional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Total Ingresos + SG&amp;A + Otros Ingresos. Target: &gt;= Plan.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37744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SG&amp;A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Gastos Generales y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Gastos generales y administrativos. Target: &lt;= Plan. Meta: debajo del 20%.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6576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GMV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Gross Merchandise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GMV Stores + GMV eComm + GMV MKP. Ventas brutas - descuentos - devoluciones.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Disponibilidad en Góndola (Instock)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Nivel Servicio Góndola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items que cumplen presentación en góndola (disponibilidad, orden, limpieza, fleje). Verde &gt;= 97.5%, Rojo &lt; 95.5%.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Instock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% En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productos disponibles vs demanda proyectada. Verde &gt;= 96%, Rojo &lt; 93%.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DOH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Days on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Días de stock para cubrir ventas proyectadas. Verde &gt;= 10, Rojo &lt; 6.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Quiebre CAP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Cap Stockout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items con stock en bodega pero cero en piso. Verde &lt; 2%, Rojo &gt; 5%.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Disponota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Score Flujo Mercadería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Puntaje ponderado de calidad del proceso de flujo. Verde &gt;= 8, Rojo &lt; 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Merma y Pérdidas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Desecho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Waste/Spoilage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Pérdida por productos no vendibles (vencidos, mal etiquetados) en dptos de costo.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Dañado (MKD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Damaged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Reducción de inventario por productos no vendibles en dptos retail.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Fresh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Pérdida Frescos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Pérdida total en dptos de costo: (Desecho + Desconocido) / Venta Retail.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Proyección Inventario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Projected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Pérdida desconocida proyectada (hurto + ajustes) desde último inventario.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Aporte Merma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Vendor Contribution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Contribución del proveedor hacia merma (para negociaciones).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Fulfillment Digital (OTIF)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Pedido Perfecto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Perfect Order / OTIF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entregas On-Time, In-Full, ubicación correcta. Verde &gt;= 40%, Rojo &lt; 30%.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Completitud c/s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Con sustitución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unidades completadas después de sustitución. Verde &gt;= 98%, Rojo &lt; 95%.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Completitud s/s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Sin sustitución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unidades completadas sin cambios. Verde &gt;= 90%, Rojo &lt; 85%.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Checkout / Zona de Pago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Nivel Tiempo en Caja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tiempo que caja cumple umbral de espera. Líder &gt;= 81%, Express &gt;= 80%, SBA &gt;= 82%.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Nivel Servicio Checkout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tiempo que cajas no tienen cola. Verde &gt;= 80%, Rojo &lt; 70%.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Uso SCO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Self-Checkout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transacciones vía self-checkout. Líder &gt;= 24%, Express &gt;= 35%, SBA &gt;= 25%.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Cajas Abiertas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1091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Open Registers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de cajas abiertas vs cajas físicas disponibles.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9728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152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Tiempos de Espera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1704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Wait Time Thresholds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Líder 7.62 min, Express 6.91 min, Exp400 3.32 min, SBA 8.47 min, Mayorista 24.93 min.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Bienvenido/a a Walmart Chile!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220"/>
                </a:solidFill>
                <a:latin typeface="Calibri"/>
              </a:defRPr>
            </a:pPr>
            <a:r>
              <a:t>"Solo hay un jefe... el cliente." - Sam Walton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7589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>
                <a:solidFill>
                  <a:srgbClr val="CCDDFF"/>
                </a:solidFill>
                <a:latin typeface="Calibri"/>
              </a:defRPr>
            </a:pPr>
            <a:r>
              <a:t>Recursos Utiles: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MyWalmart (ex OneWalmart/WIRE) - Portal interno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Confluence - Glosarios Tech, El Arca, Indicadores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Slack: #glosario_wt - Canal del glosario Walmart Tech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Workday - Plataforma de RRHH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WIC+ - Dashboard de KPIs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Medallia - Plataforma NPS y CSAT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Power BI - Reportes de Headcount y People Analytics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Contacto People Analytics: wcspahr@wal-mart.com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Creado con Code Puppy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