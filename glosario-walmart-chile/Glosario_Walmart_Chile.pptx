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C22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Glosario Walmart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C220"/>
                </a:solidFill>
                <a:latin typeface="Calibri"/>
              </a:defRPr>
            </a:pPr>
            <a:r>
              <a:t>Todo lo que necesitas saber en tu primer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Calibri"/>
              </a:defRPr>
            </a:pPr>
            <a:r>
              <a:t>Guía de Onboarding para Nuevos Asociados y Alumnos en Práctica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53E2"/>
                </a:solidFill>
                <a:latin typeface="Calibri"/>
              </a:defRPr>
            </a:pPr>
            <a:r>
              <a:t>✦ Índice del Glosario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🏪  Formatos de Tienda (Líder, Express, SBA, Mayorista, Ekono)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🏷️  Marcas Propias &amp; Servicios Financieros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💛  Cultura &amp; Valores de Walmart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🏪  Tienda &amp; Sala de Ventas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📦  Inventario &amp; Stock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🌐  E-Commerce &amp; Digital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🚚  Fulfillment &amp; Logística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📉  Merma &amp; Pérdidas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📊  KPIs &amp; Métricas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💻  Tecnología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💰  Finanzas &amp; Compras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🏪 Formatos de Tienda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38328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🛒 Líder (Hiper Líder)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Hipermercado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Formato principal de gran superficie. Surtido completo: alimentos, electrónica, vestuario, hogar. Alta rotación, bajo margen.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Áreas: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ACP (Alimentos, Consumibles, Pets) • PPS (Perecederos) • GM (General Merchandise)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Tienda física • lider.cl • Líder App • Click &amp; Collect • Despacho mismo día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29200"/>
            <a:ext cx="3108960" cy="100584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💡 Dato clave: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Banner #1 en Chile con ~7.1% de participación de mercado total (2023)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188720"/>
            <a:ext cx="338328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1188720"/>
            <a:ext cx="338328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🏬 Express de Líder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Supermercado de proximidad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Formato más pequeño, urbano, enfocado en compras rápidas y cercanas al hogar. Groceries y esenciales diarios.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91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Áreas: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Foco en ACP y 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Tienda física • SOD online • recetaslider.cl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029200"/>
            <a:ext cx="3108960" cy="100584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0749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💡 Dato clave: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Mayor frecuencia de visita, canasta más chica. Experiencia rápida y conveniente.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188720"/>
            <a:ext cx="338328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0" y="1188720"/>
            <a:ext cx="338328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📦 SuperBodega aCuenta (SBA)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Bodega de descuento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Formato no-frills/sin lujos. Productos de calidad a los precios más bajos de Chile. Gran variedad de marcas propias.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91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Áreas: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Foco en precio y marcas propias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Tienda física • acuenta.cl • Pickup habilitado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5029200"/>
            <a:ext cx="3108960" cy="100584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50749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💡 Dato clave: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Apunta a clientes sensibles al precio. Todos los locales con Pick Up habilitado.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🏪 Formatos de Tienda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38328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🏭 Central Mayorista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Mayorista /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Formato mayorista para negocios: botillerías, kioscos, hoteles, restaurantes, empresas de foodservice.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Áreas: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Productos a granel y volumen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Tienda física • centralmayorista.cl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29200"/>
            <a:ext cx="3108960" cy="100584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💡 Dato clave: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Foco B2B con descuentos por volumen. CRM para gestión de clientes.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188720"/>
            <a:ext cx="338328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1188720"/>
            <a:ext cx="338328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🏪 Ekono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Tienda de barrio (en fase out)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Formato pequeño de barrio con productos básicos y esenciales. Actualmente en proceso de cierre/reconversión.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91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Áreas: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Groceries básicos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Solo tienda física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029200"/>
            <a:ext cx="3108960" cy="100584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0749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💡 Dato clave: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Formato en proceso de phase-out.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🏷️ Marcas Propias &amp; Servicios Financieros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99"/>
                </a:solidFill>
                <a:latin typeface="Calibri"/>
              </a:defRPr>
            </a:pPr>
            <a:r>
              <a:t>Marcas Propias (Private Labels)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Great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733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Alimentos y hogar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Marca propia principal. Productos esenciales de calidad a precio accesible.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Equate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67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Salud y cuidado 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Marca propia de salud, belleza e higiene personal.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620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Mainstays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62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Hogar y decoración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90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Marca propia de decoración, ropa de cama y productos para el hogar.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Acuenta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56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Valor/Descuento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85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Marca de valor asociada al formato SBA. Los precios más bajos.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507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Lider (marca)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50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Multi-categoría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793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con marca Líder en diversas categorías.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1772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45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Spark Create Imagine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6451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Bebés y niños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73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Juguetes y productos infantiles de marca propia.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HC Just Home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239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Hogar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681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Colección de productos para el hogar.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06440"/>
            <a:ext cx="53035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Autodrive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8338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Automotriz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624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Accesorios automotrices de marca propia.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99"/>
                </a:solidFill>
                <a:latin typeface="Calibri"/>
              </a:defRPr>
            </a:pPr>
            <a:r>
              <a:t>Servicios Financieros &amp; Ecosistema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1645920"/>
            <a:ext cx="48463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16733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Presto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1901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Tarjeta de crédito propia de Walmart Chile.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2240280"/>
            <a:ext cx="48463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267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MasterCard Presto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4963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Tarjeta de crédito co-branded con MasterCard.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2834640"/>
            <a:ext cx="48463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2862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Créditos de Consumo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906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Financiamiento personal para clientes.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3429000"/>
            <a:ext cx="48463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3456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Seguros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3685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de seguros varios.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4023360"/>
            <a:ext cx="48463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4050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Pago de Cuentas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279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Servicio de pago de servicios básicos.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4617720"/>
            <a:ext cx="4846320" cy="5303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4645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Mi Club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48737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Programa de fidelización. Meta: 3.2M usuarios activos mensuales.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5303520"/>
            <a:ext cx="4846320" cy="11887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5376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🏆 Posición de Mercado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56692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Walmart Chile es #1 en supermercados en Chile</a:t>
            </a:r>
            <a:br/>
            <a:r>
              <a:t>~11.4% participación total retail (2023)</a:t>
            </a:r>
            <a:br/>
            <a:r>
              <a:t>~5.0% participación e-commerce</a:t>
            </a:r>
            <a:br/>
            <a:r>
              <a:t>Revenue ~CLP 5.4 billones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💛 Cultura &amp; Valores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EDLP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Every Day Low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Filosofía central: precios bajos TODOS los días, no solo en promos.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EDLC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Every Day Low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Costos operativos bajos siempre. Es lo que hace posible el EDLP.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Spark 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Símbolo Walmart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Representa el propósito: 'Ahorramos dinero para que vivan mejor'.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3 Creencias Básicas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Sam Walton 1962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1) Respeto por el individuo 2) Servicio al cliente 3) Búsqueda de la excelencia.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Regla Sundown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Sundown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Responder al cliente/asociado ESE MISMO DÍA, aunque no tengas la respuesta final.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Open Door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Discutir preocupaciones de forma confidencial y sin represalias.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Regla de los 3 Metros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10-Foot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 menos de 3m de un cliente: detenerse, sonreír, saludar.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Hospitalidad Agresiva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Aggressive Hospitality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Ir más allá para superar las expectativas del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💛 Cultura &amp; Valores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Asociado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Así nos llamamos en Walmart. Somos socios, no empleados.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🏪 Tienda &amp; Sala de Ventas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Góndola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Shelf/Aisle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Estanterías en los pasillos donde se exhiben los productos.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Cabecera de Góndola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Endcap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Inicio/término de góndola. Área premium para exhibiciones especiales.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Planograma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Planogram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Planificación de productos en góndola según rentabilidad y preferencia.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Fleje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Price 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Etiqueta en góndola con precio, descripción y PLU del producto.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Disposición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Distribución general de los productos en la sala de venta.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Beta / Gamma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Accesos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Beta = acceso clientes. Gamma = acceso colaboradores.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Apantallar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Facing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Colocar producto al frente de la góndola ante bajo stock.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Regla del 4x1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Revisión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4 puntos por metro: flejes, limpieza, presentación, quiebres.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🏪 Tienda &amp; Sala de Ventas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Point of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Dispositivo electrónico en caja para registrar ventas.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Espacio Flex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Flex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Espacio para productos suprimidos o no planogramados.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Exhibición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Promoción de producto destacado a precio atractivo.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Duchetas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Price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Soportes metálicos para reforzar precio (solo Líder).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📦 Inventario &amp; Stock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Price Look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Código interno del producto. El 'DNI' de cada ítem en Walmart Chile.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Stock Keeping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Identificador único de producto. En Chile se usa más PLU.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UPC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Universal Product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Código de barra del producto.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Ubicación bodega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Ubicación codificada en bodega para almacenar mercadería.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Bodega PAR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Alto Riesgo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Bodega para productos de alto riesgo, cerrada con 2 candados.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Estantería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Estantería metálica de bodega para guardar productos.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First In, First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Salida por orden de llegada. Los más antiguos salen primero.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FEFO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First Expired, First 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Perecederos: sale primero el de vencimiento más cercano.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📦 Inventario &amp; Stock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RRP/PDQ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Retail Ready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Empaque listo para exhibir directo en góndola.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Andén de Recepción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Receiving Dock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Zona de descarga de camiones. Inicio del ciclo de mercadería.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🌐 E-Commerce &amp;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Lider.cl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Plataforma online principal de Walmart Chile.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LiderApp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App móvil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Aplicación de Lider.cl para compras de supermercado.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Catex (CE)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Catálogo Extendido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Productos online que se venden desde bodegas, no en tienda.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Supermercado On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Productos online usando inventario de tiendas físicas.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DarkStore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Tienda oscura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Tienda cerrada al público, solo para operaciones e-commerce.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Grey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Tienda gris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Modelo con surtido reducido para 'Compra Simple'.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Sellers externos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Vendedores 3P ofrecen productos a través de Lider.cl.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Omnicanalidad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Omnichannel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Experiencia integrada física + digital, sin fricciones.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🌐 E-Commerce &amp; 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Available to 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% del surtido disponible en IMS habilitado para Lider.cl.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1P / 3P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First/Third Party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1P = Walmart vende. 3P = Marketplace (seller externo).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🚚 Fulfillment &amp; Logística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Fulfillment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Proceso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Recepción pedido → picking → packing → despacho → entrega.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Picking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Armado de 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Recorrer sala y seleccionar productos del pedido del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Picker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Armador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Colaborador interno o externo que arma pedidos en sala.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Amida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App de picking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App para armado de pedidos Pickup y Home Delivery.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Home Delivery (HD)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Despacho a domicilio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El pedido se entrega en la dirección del cliente.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Pickup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Retiro en tienda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El cliente retira su pedido online en el local.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Líder al Toque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Despacho el mismo día para compras online.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Staging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Zona temporal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Espacio donde se almacenan pedidos antes de entregar.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🚚 Fulfillment &amp; Logística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Drop-shipping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Envío directo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Proveedor despacha directo desde su almacén al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3PL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Third Party Logistics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Empresa externa que maneja la logística.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📉 Merma &amp; Pérdidas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Merma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Shrinkage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Mercadería que pierde capacidad de venta.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Merma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Pérdida por manipulación inadecuada, hurtos o consumo.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Merma Operacional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Pérdida por colaboradores, proveedores o distribución.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Merma Vencimiento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Expiry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Pérdida por expiración o próxima fecha de vencimiento.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Total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Pérdida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Cálculo total desde último conteo hasta fecha actual.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📊 KPIs &amp; Métricas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Quiebre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Out of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Falta de producto en góndola. El enemigo #1 de las ventas.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NSG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Nivel Servicio Góndola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% productos disponibles según planograma. Meta: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DOH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Days on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Días de inventario = Inventario / Venta diaria promedio.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Instock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% en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% ítems por tienda con inventario para ≥1 día de venta.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NTC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Nivel Tiempo en Caja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Mide cuánto espera un cliente para pagar.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WIC / WIC+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Intelligence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Dashboard de KPIs de Walmart Chile.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Venta Comp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Comparable Sales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Ventas vs mismo período año anterior, mismas tiendas.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Completitud s/s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Sin sustitución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% unidades pickeadas sin cambios / unidades solicitadas.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📊 KPIs &amp; Métricas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Completitud c/s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Con sustitución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% unidades pickeadas (con alternativas) / solicitadas.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💻 Tecnología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GTP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Global Tech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Plataforma tecnológica global de Walmart.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Inventory Mgmt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Sistema de gestión de inventario ('IMS Wakanda').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WMS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Warehouse Mgmt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Sistema de gestión de bodega ('Dr Strange').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Order Mgmt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Gestiona ciclo de vida de pedidos.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Sistema para finanzas, RRHH y cadena de suministro.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Solution Security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Revisión de seguridad para cada solución/aplicación.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WCNP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Cloud Native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Plataforma cloud basada en Kubernetes.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Eagle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Red corporativa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Red interna de Walmart. Datos sensibles dentro de Eagle.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💻 Tecnología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Element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LLM/IA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Gateway de IA interno. Datos seguros dentro de Eagle.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4ITB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4 in the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Engineering + Product + UX + Business juntos.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BYOD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Bring Your Own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Política para usar dispositivos personales en el trabajo.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GNFR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Goods Not For Resale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Compras internas (oficina, equipos, limpieza).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💰 Finanzas &amp; Compras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CATMAN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Category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Selección de surtido por categoría. 1 vez al año + 3 ajustes.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Fineline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Sub-categoría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Nivel granular de clasificación (ej: 'Aguas' dentro de 'Bebidas').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31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Rebaja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Reducción de precio para liquidar stock.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Reducción temporal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Baja temporal del precio regular. Distintivo de Walmart.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CVI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Customer Value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Score de importancia del producto para el cliente.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30352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2514600"/>
            <a:ext cx="54864" cy="12344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Sell-through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6B"/>
                </a:solidFill>
                <a:latin typeface="Calibri"/>
              </a:defRPr>
            </a:pPr>
            <a:r>
              <a:t>Tasa de venta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% unidades vendidas vs recibidas en un período.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C22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¡Bienvenido/a a Walmart Chile!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220"/>
                </a:solidFill>
                <a:latin typeface="Calibri"/>
              </a:defRPr>
            </a:pPr>
            <a:r>
              <a:t>"Solo hay un jefe... el cliente." — Sam Walton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DDFF"/>
                </a:solidFill>
                <a:latin typeface="Calibri"/>
              </a:defRPr>
            </a:pPr>
            <a:r>
              <a:t>📚 Recursos Útiles:</a:t>
            </a: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  <a:r>
              <a:t>• MyWalmart (ex OneWalmart/WIRE) — Portal interno con políticas y noticias</a:t>
            </a: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  <a:r>
              <a:t>• Confluence — Glosarios Tech, El Arca, Indicadores</a:t>
            </a: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  <a:r>
              <a:t>• Slack: #glosario_wt — Canal del glosario Walmart Tech</a:t>
            </a: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  <a:r>
              <a:t>• Workday — Plataforma de RRHH</a:t>
            </a: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  <a:r>
              <a:t>• WIC+ — Dashboard de KPIs</a:t>
            </a: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CCDDFF"/>
                </a:solidFill>
                <a:latin typeface="Calibri"/>
              </a:defRPr>
            </a:pPr>
            <a:r>
              <a:t>Creado con 🐶 Code Puppy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