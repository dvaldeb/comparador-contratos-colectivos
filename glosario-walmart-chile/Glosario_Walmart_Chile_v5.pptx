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274320"/>
            <a:ext cx="731520" cy="7315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182880"/>
            <a:ext cx="365760" cy="365760"/>
          </a:xfrm>
          <a:prstGeom prst="ellipse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91440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8503920" cy="2377440"/>
          </a:xfrm>
          <a:prstGeom prst="roundRect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1031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C220"/>
                </a:solidFill>
                <a:latin typeface="Calibri"/>
              </a:defRPr>
            </a:pPr>
            <a:r>
              <a:t>Bienvenido/a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Walmart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661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FF"/>
                </a:solidFill>
                <a:latin typeface="Calibri"/>
              </a:defRPr>
            </a:pPr>
            <a:r>
              <a:t>Tu guia de onboarding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029200"/>
            <a:ext cx="5760720" cy="640080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50749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99"/>
                </a:solidFill>
                <a:latin typeface="Calibri"/>
              </a:defRPr>
            </a:pPr>
            <a:r>
              <a:t>Nuevos asociados y alumnos en practica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Tu primer dia empieza aqui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Hoy empiezas una aventura increible. No te preocupes si al principio suena a sopa de letras... a todos nos paso!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26517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2651760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20" y="2057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08483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3E2"/>
                </a:solidFill>
                <a:latin typeface="Calibri"/>
              </a:defRPr>
            </a:pPr>
            <a:r>
              <a:t>Pregunta sin miedo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La Puerta Abierta existe para eso.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828800"/>
            <a:ext cx="26517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828800"/>
            <a:ext cx="2651760" cy="64008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51960" y="2057400"/>
            <a:ext cx="640080" cy="6400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08483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8703"/>
                </a:solidFill>
                <a:latin typeface="Calibri"/>
              </a:defRPr>
            </a:pPr>
            <a:r>
              <a:t>Las siglas se aprenden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383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En 2 semanas ya las manejas.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828800"/>
            <a:ext cx="26517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1828800"/>
            <a:ext cx="2651760" cy="6400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86600" y="205740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08483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21A8"/>
                </a:solidFill>
                <a:latin typeface="Calibri"/>
              </a:defRPr>
            </a:pPr>
            <a:r>
              <a:t>Recorre tu tienda/oficina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83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Entiende como fluye todo.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1828800"/>
            <a:ext cx="26517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1828800"/>
            <a:ext cx="2651760" cy="64008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21240" y="2057400"/>
            <a:ext cx="640080" cy="6400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08483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6700"/>
                </a:solidFill>
                <a:latin typeface="Calibri"/>
              </a:defRPr>
            </a:pPr>
            <a:r>
              <a:t>Tu opinion importa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383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Las ideas frescas son bienvenidas.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754880"/>
            <a:ext cx="11155680" cy="182880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800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5213"/>
                </a:solidFill>
                <a:latin typeface="Calibri"/>
              </a:defRPr>
            </a:pPr>
            <a:r>
              <a:t>No te asustes si...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5349240"/>
            <a:ext cx="320040" cy="3200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67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349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5213"/>
                </a:solidFill>
                <a:latin typeface="Calibri"/>
              </a:defRPr>
            </a:pPr>
            <a:r>
              <a:t>No entiendes una sigla en reunion</a:t>
            </a:r>
          </a:p>
        </p:txBody>
      </p:sp>
      <p:sp>
        <p:nvSpPr>
          <p:cNvPr id="40" name="Oval 39"/>
          <p:cNvSpPr/>
          <p:nvPr/>
        </p:nvSpPr>
        <p:spPr>
          <a:xfrm>
            <a:off x="3429000" y="5349240"/>
            <a:ext cx="320040" cy="3200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5367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349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5213"/>
                </a:solidFill>
                <a:latin typeface="Calibri"/>
              </a:defRPr>
            </a:pPr>
            <a:r>
              <a:t>Te pierdes en la tienda</a:t>
            </a:r>
          </a:p>
        </p:txBody>
      </p:sp>
      <p:sp>
        <p:nvSpPr>
          <p:cNvPr id="43" name="Oval 42"/>
          <p:cNvSpPr/>
          <p:nvPr/>
        </p:nvSpPr>
        <p:spPr>
          <a:xfrm>
            <a:off x="6217920" y="5349240"/>
            <a:ext cx="320040" cy="32004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367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5349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5213"/>
                </a:solidFill>
                <a:latin typeface="Calibri"/>
              </a:defRPr>
            </a:pPr>
            <a:r>
              <a:t>La bodega parece un laberinto</a:t>
            </a:r>
          </a:p>
        </p:txBody>
      </p:sp>
      <p:sp>
        <p:nvSpPr>
          <p:cNvPr id="46" name="Oval 45"/>
          <p:cNvSpPr/>
          <p:nvPr/>
        </p:nvSpPr>
        <p:spPr>
          <a:xfrm>
            <a:off x="9006840" y="5349240"/>
            <a:ext cx="320040" cy="3200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5367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5349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5213"/>
                </a:solidFill>
                <a:latin typeface="Calibri"/>
              </a:defRPr>
            </a:pPr>
            <a:r>
              <a:t>Escuchas 'apantallar' por primera vez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Sabias que...?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Datos curiosos para romper el hielo en tu primera semana.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10332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91440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2011680"/>
            <a:ext cx="548640" cy="5486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0391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01168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3E2"/>
                </a:solidFill>
                <a:latin typeface="Calibri"/>
              </a:defRPr>
            </a:pPr>
            <a:r>
              <a:t>Walmart tiene ~2.1 millones de asociados en el mundo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17520"/>
            <a:ext cx="10332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017520"/>
            <a:ext cx="91440" cy="100584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8720" y="3200400"/>
            <a:ext cx="548640" cy="5486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227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20040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6700"/>
                </a:solidFill>
                <a:latin typeface="Calibri"/>
              </a:defRPr>
            </a:pPr>
            <a:r>
              <a:t>Sam Walton abrio la 1era tienda en 1962 en Arkansas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06240"/>
            <a:ext cx="10332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206240"/>
            <a:ext cx="91440" cy="100584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8720" y="4389120"/>
            <a:ext cx="548640" cy="5486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416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3891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8703"/>
                </a:solidFill>
                <a:latin typeface="Calibri"/>
              </a:defRPr>
            </a:pPr>
            <a:r>
              <a:t>Walmart Chile es el supermercado #1 del pais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394960"/>
            <a:ext cx="10332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394960"/>
            <a:ext cx="91440" cy="10058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8720" y="5577840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052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5778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21A8"/>
                </a:solidFill>
                <a:latin typeface="Calibri"/>
              </a:defRPr>
            </a:pPr>
            <a:r>
              <a:t>No hay 'empleados', todos somos 'asociados'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Que es Walmart?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La empresa minorista mas grande del mundo. Fundada por Sam Walton.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2651760" cy="13716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1962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Fundacion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828800"/>
            <a:ext cx="2651760" cy="137160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~2.1M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Asociados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2651760" cy="137160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Fortune 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828800"/>
            <a:ext cx="2651760" cy="137160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5,400+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Tiendas Intl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11155680" cy="1097280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6118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57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56616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99"/>
                </a:solidFill>
                <a:latin typeface="Calibri"/>
              </a:defRPr>
            </a:pPr>
            <a:r>
              <a:t>Nuestro Proposito: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977639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3399"/>
                </a:solidFill>
                <a:latin typeface="Calibri"/>
              </a:defRPr>
            </a:pPr>
            <a:r>
              <a:t>"Ahorramos dinero a las personas para que vivan mejor."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46320"/>
            <a:ext cx="3611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3611880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74520" y="5029200"/>
            <a:ext cx="457200" cy="4572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20" y="505663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5778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220"/>
                </a:solidFill>
                <a:latin typeface="Calibri"/>
              </a:defRPr>
            </a:pPr>
            <a:r>
              <a:t>Respeto por el Individuo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8978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Cada persona es unica y valiosa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4846320"/>
            <a:ext cx="3611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4846320"/>
            <a:ext cx="3611880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69280" y="5029200"/>
            <a:ext cx="457200" cy="45720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505663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5778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8703"/>
                </a:solidFill>
                <a:latin typeface="Calibri"/>
              </a:defRPr>
            </a:pPr>
            <a:r>
              <a:t>Servicio al Cliente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8978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"Solo hay un jefe... el cliente"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4846320"/>
            <a:ext cx="3611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4846320"/>
            <a:ext cx="361188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64040" y="5029200"/>
            <a:ext cx="457200" cy="4572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4040" y="505663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55778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21A8"/>
                </a:solidFill>
                <a:latin typeface="Calibri"/>
              </a:defRPr>
            </a:pPr>
            <a:r>
              <a:t>Busqueda de la Excelencia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58978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Superar el miedo al fracaso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Cultura y Filosofia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Esto nos hace diferentes. Se vive en el dia a dia, no son solo palabras.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394960" cy="228600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53E2"/>
                </a:solidFill>
                <a:latin typeface="Calibri"/>
              </a:defRPr>
            </a:pPr>
            <a:r>
              <a:t>EDLP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99"/>
                </a:solidFill>
                <a:latin typeface="Calibri"/>
              </a:defRPr>
            </a:pPr>
            <a:r>
              <a:t>Every Day Low Prices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99"/>
                </a:solidFill>
                <a:latin typeface="Calibri"/>
              </a:defRPr>
            </a:pPr>
            <a:r>
              <a:t>"Piensa en cuan poco puedo cobrar, no en cuanto."</a:t>
            </a:r>
            <a:br/>
            <a:r>
              <a:t>- Sam Walton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5394960" cy="109728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434840"/>
            <a:ext cx="548640" cy="54864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622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3399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34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EDLC = Every Day Low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463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5213"/>
                </a:solidFill>
                <a:latin typeface="Calibri"/>
              </a:defRPr>
            </a:pPr>
            <a:r>
              <a:t>EDLC hace POSIBLE ofrecer EDLP.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828800"/>
            <a:ext cx="5303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828800"/>
            <a:ext cx="91440" cy="9144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993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Regla 3 Metros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Para, sonrie, saluda.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926080"/>
            <a:ext cx="5303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26080"/>
            <a:ext cx="91440" cy="91440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20" y="3063240"/>
            <a:ext cx="548640" cy="5486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703"/>
                </a:solidFill>
                <a:latin typeface="Calibri"/>
              </a:defRPr>
            </a:pPr>
            <a:r>
              <a:t>Regla Sundown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Responde HOY mismo.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23360"/>
            <a:ext cx="5303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023360"/>
            <a:ext cx="91440" cy="9144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160520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187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1A8"/>
                </a:solidFill>
                <a:latin typeface="Calibri"/>
              </a:defRPr>
            </a:pPr>
            <a:r>
              <a:t>Puerta Abierta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Sin miedo. Sin represalias.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120640"/>
            <a:ext cx="5303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120640"/>
            <a:ext cx="91440" cy="91440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46520" y="5257800"/>
            <a:ext cx="548640" cy="5486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285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6700"/>
                </a:solidFill>
                <a:latin typeface="Calibri"/>
              </a:defRPr>
            </a:pPr>
            <a:r>
              <a:t>Somos Asociados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623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Socios, no empleados.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669280"/>
            <a:ext cx="5303520" cy="64008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715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8703"/>
                </a:solidFill>
                <a:latin typeface="Calibri"/>
              </a:defRPr>
            </a:pPr>
            <a:r>
              <a:t>TIP: Se viven en tienda, oficina, tech, logistica... en TODOS lados.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Walmart Chile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Walmart adquirio D&amp;S en 2008-2009. Asi nacio Walmart Chile.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2651760" cy="13716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~400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Tiendas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828800"/>
            <a:ext cx="2651760" cy="137160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~27%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Mkt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2651760" cy="137160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Supermercado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828800"/>
            <a:ext cx="2651760" cy="137160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87451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+1,500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CC"/>
                </a:solidFill>
                <a:latin typeface="Calibri"/>
              </a:defRPr>
            </a:pPr>
            <a:r>
              <a:t>Proveedores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5394960" cy="30175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474720"/>
            <a:ext cx="5394960" cy="4572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Competencia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160520"/>
            <a:ext cx="320040" cy="32004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1100"/>
                </a:solidFill>
                <a:latin typeface="Calibri"/>
              </a:defRPr>
            </a:pPr>
            <a:r>
              <a:t>Cencosud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Jumbo, Santa Isabel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709160"/>
            <a:ext cx="320040" cy="3200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6700"/>
                </a:solidFill>
                <a:latin typeface="Calibri"/>
              </a:defRPr>
            </a:pPr>
            <a:r>
              <a:t>Falabella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Tottus, Sodimac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257800"/>
            <a:ext cx="320040" cy="32004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94A2"/>
                </a:solidFill>
                <a:latin typeface="Calibri"/>
              </a:defRPr>
            </a:pPr>
            <a:r>
              <a:t>SMU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Unimarc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5806440"/>
            <a:ext cx="320040" cy="3200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8703"/>
                </a:solidFill>
                <a:latin typeface="Calibri"/>
              </a:defRPr>
            </a:pPr>
            <a:r>
              <a:t>MercadoLibre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Crecimiento 71%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474720"/>
            <a:ext cx="5303520" cy="30175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Codigos SAP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931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47474"/>
                </a:solidFill>
                <a:latin typeface="Calibri"/>
              </a:defRPr>
            </a:pPr>
            <a:r>
              <a:t>Los veras en todos los reportes: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389120"/>
            <a:ext cx="4937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4074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4074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Lider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800600"/>
            <a:ext cx="4937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8188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8188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Express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212080"/>
            <a:ext cx="4937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2303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S260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52303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Express 400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623560"/>
            <a:ext cx="4937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56418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56418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SBA/Acuenta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6035040"/>
            <a:ext cx="49377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60533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60533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Mayorista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7 Prioridades Estrategicas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Hacia donde vamos como compania. La vision a 5 anos.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91440" cy="960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1993392"/>
            <a:ext cx="548640" cy="5486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20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920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3E2"/>
                </a:solidFill>
                <a:latin typeface="Calibri"/>
              </a:defRPr>
            </a:pPr>
            <a:r>
              <a:t>Win in Omni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20% penetracion online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71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91440" cy="9601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136392"/>
            <a:ext cx="548640" cy="5486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63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063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8703"/>
                </a:solidFill>
                <a:latin typeface="Calibri"/>
              </a:defRPr>
            </a:pPr>
            <a:r>
              <a:t>Run Great Stores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474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Simplificar operacion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91440" cy="960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279392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06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206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21A8"/>
                </a:solidFill>
                <a:latin typeface="Calibri"/>
              </a:defRPr>
            </a:pPr>
            <a:r>
              <a:t>Develop Ecosystem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617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Mi Club 3.2M MAU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57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257800"/>
            <a:ext cx="91440" cy="9601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5422392"/>
            <a:ext cx="548640" cy="5486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449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349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6700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760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2M SKUs en 3P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960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1993392"/>
            <a:ext cx="548640" cy="54864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20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1920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94A2"/>
                </a:solidFill>
                <a:latin typeface="Calibri"/>
              </a:defRPr>
            </a:pPr>
            <a:r>
              <a:t>Mayorista Digital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2331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#2 B2B Chile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971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2971800"/>
            <a:ext cx="91440" cy="9601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46520" y="3136392"/>
            <a:ext cx="548640" cy="54864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163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3063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B2777"/>
                </a:solidFill>
                <a:latin typeface="Calibri"/>
              </a:defRPr>
            </a:pPr>
            <a:r>
              <a:t>Talent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3474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Mentalidad digital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114800"/>
            <a:ext cx="54864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4114800"/>
            <a:ext cx="91440" cy="9601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46520" y="4279392"/>
            <a:ext cx="548640" cy="54864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30682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4206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688"/>
                </a:solidFill>
                <a:latin typeface="Calibri"/>
              </a:defRPr>
            </a:pPr>
            <a:r>
              <a:t>Power Tech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4617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Reducir deuda tecnica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Formatos de Tienda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Cada formato atiende un tipo de cliente diferente.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828800"/>
            <a:ext cx="2148840" cy="43891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828800"/>
            <a:ext cx="2148840" cy="6400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9019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Lider (Hiper)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606040"/>
            <a:ext cx="1874520" cy="36576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243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Hipermercado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54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Tienda grande con TODO. Banner #1 Chile.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1874520" cy="6400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16052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5213"/>
                </a:solidFill>
                <a:latin typeface="Calibri"/>
              </a:defRPr>
            </a:pPr>
            <a:r>
              <a:t>NPS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891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3E2"/>
                </a:solidFill>
                <a:latin typeface="Calibri"/>
              </a:defRPr>
            </a:pPr>
            <a:r>
              <a:t>&gt;= 65%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937760"/>
            <a:ext cx="1874520" cy="4572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956048"/>
            <a:ext cx="187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13892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1828800"/>
            <a:ext cx="2148840" cy="43891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60320" y="1828800"/>
            <a:ext cx="2148840" cy="64008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19019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2606040"/>
            <a:ext cx="1874520" cy="36576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26243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Supermercado urbano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154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Compra rapida cerca de casa.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4114800"/>
            <a:ext cx="1874520" cy="6400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416052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5213"/>
                </a:solidFill>
                <a:latin typeface="Calibri"/>
              </a:defRPr>
            </a:pPr>
            <a:r>
              <a:t>NPS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3891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A8703"/>
                </a:solidFill>
                <a:latin typeface="Calibri"/>
              </a:defRPr>
            </a:pPr>
            <a:r>
              <a:t>&gt;= 63%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97480" y="4937760"/>
            <a:ext cx="1874520" cy="4572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4956048"/>
            <a:ext cx="187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13892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1828800"/>
            <a:ext cx="2148840" cy="43891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46320" y="1828800"/>
            <a:ext cx="2148840" cy="64008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19019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aCuenta (SBA)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83480" y="2606040"/>
            <a:ext cx="1874520" cy="36576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26243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Bodega descuento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3154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Los MEJORES precios. Sin lujos.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83480" y="4114800"/>
            <a:ext cx="1874520" cy="6400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416052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5213"/>
                </a:solidFill>
                <a:latin typeface="Calibri"/>
              </a:defRPr>
            </a:pPr>
            <a:r>
              <a:t>NPS Target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43891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21A8"/>
                </a:solidFill>
                <a:latin typeface="Calibri"/>
              </a:defRPr>
            </a:pPr>
            <a:r>
              <a:t>&gt;= 78%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83480" y="4937760"/>
            <a:ext cx="1874520" cy="4572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4956048"/>
            <a:ext cx="187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3480" y="513892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S107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1828800"/>
            <a:ext cx="2148840" cy="43891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132320" y="1828800"/>
            <a:ext cx="2148840" cy="64008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0" y="19019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Mayorista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69480" y="2606040"/>
            <a:ext cx="1874520" cy="36576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69480" y="26243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B2B Mayorista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3154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Para negocios. 13 tiendas.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69480" y="4114800"/>
            <a:ext cx="1874520" cy="6400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416052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5213"/>
                </a:solidFill>
                <a:latin typeface="Calibri"/>
              </a:defRPr>
            </a:pPr>
            <a:r>
              <a:t>NPS Target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43891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6700"/>
                </a:solidFill>
                <a:latin typeface="Calibri"/>
              </a:defRPr>
            </a:pPr>
            <a:r>
              <a:t>&gt;= 70%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69480" y="4937760"/>
            <a:ext cx="1874520" cy="4572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69480" y="4956048"/>
            <a:ext cx="187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9480" y="513892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E2"/>
                </a:solidFill>
                <a:latin typeface="Calibri"/>
              </a:defRPr>
            </a:pPr>
            <a:r>
              <a:t>S157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18320" y="1828800"/>
            <a:ext cx="2148840" cy="43891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74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418320" y="1828800"/>
            <a:ext cx="2148840" cy="640080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760" y="19019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Ekono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55480" y="2606040"/>
            <a:ext cx="1874520" cy="365760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55480" y="262432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Barrio (phase out)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315468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En proceso de cierre.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55480" y="4114800"/>
            <a:ext cx="1874520" cy="6400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55480" y="416052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5213"/>
                </a:solidFill>
                <a:latin typeface="Calibri"/>
              </a:defRPr>
            </a:pPr>
            <a:r>
              <a:t>NPS Target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43891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47474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55480" y="4937760"/>
            <a:ext cx="1874520" cy="45720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5480" y="4956048"/>
            <a:ext cx="187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55480" y="513892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3E2"/>
                </a:solidFill>
                <a:latin typeface="Calibri"/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914400" cy="9144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0" y="6035040"/>
            <a:ext cx="914400" cy="9144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Marcas Propias &amp; Servicios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Nuestras marcas ofrecen calidad a mejor precio. Las reconoceras en gondola!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91440" cy="86868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933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3E2"/>
                </a:solidFill>
                <a:latin typeface="Calibri"/>
              </a:defRPr>
            </a:pPr>
            <a:r>
              <a:t>Great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04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Alimentos y hogar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8036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80360"/>
            <a:ext cx="91440" cy="8686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17520"/>
            <a:ext cx="502920" cy="50292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449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8703"/>
                </a:solidFill>
                <a:latin typeface="Calibri"/>
              </a:defRPr>
            </a:pPr>
            <a:r>
              <a:t>Equate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355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Salud y belleza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91440" cy="8686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069080"/>
            <a:ext cx="502920" cy="5029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965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21A8"/>
                </a:solidFill>
                <a:latin typeface="Calibri"/>
              </a:defRPr>
            </a:pPr>
            <a:r>
              <a:t>Mainstays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07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Hogar y deco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182880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1828800"/>
            <a:ext cx="91440" cy="86868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19933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6700"/>
                </a:solidFill>
                <a:latin typeface="Calibri"/>
              </a:defRPr>
            </a:pPr>
            <a:r>
              <a:t>Acuenta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2304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Valor/Descuento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288036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2880360"/>
            <a:ext cx="91440" cy="86868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26280" y="3017520"/>
            <a:ext cx="502920" cy="50292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0449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94A2"/>
                </a:solidFill>
                <a:latin typeface="Calibri"/>
              </a:defRPr>
            </a:pPr>
            <a:r>
              <a:t>Lider (marca)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355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Multi-categoria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3931920"/>
            <a:ext cx="3657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3931920"/>
            <a:ext cx="91440" cy="8686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26280" y="4069080"/>
            <a:ext cx="502920" cy="5029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40965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B2777"/>
                </a:solidFill>
                <a:latin typeface="Calibri"/>
              </a:defRPr>
            </a:pPr>
            <a:r>
              <a:t>Spark Create Imagine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4407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Bebes y ninos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1828800"/>
            <a:ext cx="3566160" cy="315468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1828800"/>
            <a:ext cx="3566160" cy="45720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1856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Servicios Financieros</a:t>
            </a:r>
          </a:p>
        </p:txBody>
      </p:sp>
      <p:sp>
        <p:nvSpPr>
          <p:cNvPr id="50" name="Oval 49"/>
          <p:cNvSpPr/>
          <p:nvPr/>
        </p:nvSpPr>
        <p:spPr>
          <a:xfrm>
            <a:off x="8321040" y="2468880"/>
            <a:ext cx="320040" cy="32004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1100"/>
                </a:solidFill>
                <a:latin typeface="Calibri"/>
              </a:defRPr>
            </a:pPr>
            <a:r>
              <a:t>Presto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Tarjeta de credito propia</a:t>
            </a:r>
          </a:p>
        </p:txBody>
      </p:sp>
      <p:sp>
        <p:nvSpPr>
          <p:cNvPr id="53" name="Oval 52"/>
          <p:cNvSpPr/>
          <p:nvPr/>
        </p:nvSpPr>
        <p:spPr>
          <a:xfrm>
            <a:off x="8321040" y="3063240"/>
            <a:ext cx="320040" cy="3200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MasterCard Presto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Co-branded</a:t>
            </a:r>
          </a:p>
        </p:txBody>
      </p:sp>
      <p:sp>
        <p:nvSpPr>
          <p:cNvPr id="56" name="Oval 55"/>
          <p:cNvSpPr/>
          <p:nvPr/>
        </p:nvSpPr>
        <p:spPr>
          <a:xfrm>
            <a:off x="8321040" y="3657600"/>
            <a:ext cx="320040" cy="320040"/>
          </a:xfrm>
          <a:prstGeom prst="ellipse">
            <a:avLst/>
          </a:prstGeom>
          <a:solidFill>
            <a:srgbClr val="995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0" y="3611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5213"/>
                </a:solidFill>
                <a:latin typeface="Calibri"/>
              </a:defRPr>
            </a:pPr>
            <a:r>
              <a:t>Mi Club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Fidelizacion 3.2M MAU</a:t>
            </a:r>
          </a:p>
        </p:txBody>
      </p:sp>
      <p:sp>
        <p:nvSpPr>
          <p:cNvPr id="59" name="Oval 58"/>
          <p:cNvSpPr/>
          <p:nvPr/>
        </p:nvSpPr>
        <p:spPr>
          <a:xfrm>
            <a:off x="8321040" y="4251960"/>
            <a:ext cx="320040" cy="3200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8703"/>
                </a:solidFill>
                <a:latin typeface="Calibri"/>
              </a:defRPr>
            </a:pPr>
            <a:r>
              <a:t>Creditos / Seguros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Financiamiento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212080"/>
            <a:ext cx="11155680" cy="109728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0080" y="5349240"/>
            <a:ext cx="548640" cy="5486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376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5349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703"/>
                </a:solidFill>
                <a:latin typeface="Calibri"/>
              </a:defRPr>
            </a:pPr>
            <a:r>
              <a:t>NPS Targets por Formato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600" y="5760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Lider &gt;= 65%   |   Express &gt;= 63%   |   SBA &gt;= 78%   |   Mayorista &gt;= 70%   |   Lider.cl &gt;= 49%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Tienda y Sala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El vocabulario basico para entender como funciona una tienda.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Gondola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Las estanterias con productos en los pasillos.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Planograma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El 'mapa' de que producto va en que lugar.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Fleje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Etiqueta de precio en gondola. PLU + precio.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Cabecera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Punta de gondola. Espacio VIP para promos.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Tienda y Sala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Mas terminos que escucharas en tu dia a dia.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Apantallar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Poner productos 'bonitos' al frente con bajo stock.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Beta / Gamma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Beta = entrada clientes. Gamma = entrada asociados.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La caja registradora. Dispositivo de cobro.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Regla 4x1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Revisar: fleje, limpieza, presentacion, quiebres.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Inventario y Stock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Como controlamos la mercaderia de principio a fin.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PLU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El 'RUT' del producto. Codigo interno unico.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SKU / UPC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Identificador de producto / Codigo de barra.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FIFO / FEFO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Sale primero lo mas antiguo / lo que vence antes.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Bin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Ubicacion codificada en bodega.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E-Commerce y Digital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El mundo online. Cada vez mas clientes compran desde el celular.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Lider.cl / LiderApp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Nuestra tienda online y app movil.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SOD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Supermercado On Demand. Online con stock de tienda.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DarkStore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Tienda solo para pedidos online. Sin clientes.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1P / 3P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1P = Walmart vende. 3P = Seller externo.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Fulfillment y Logistica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Desde que el cliente hace click hasta que recibe su pedido.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6700"/>
                </a:solidFill>
                <a:latin typeface="Calibri"/>
              </a:defRPr>
            </a:pPr>
            <a:r>
              <a:t>Picking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Armar el pedido recorriendo la tienda.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6700"/>
                </a:solidFill>
                <a:latin typeface="Calibri"/>
              </a:defRPr>
            </a:pPr>
            <a:r>
              <a:t>Home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Despacho a la puerta de tu casa.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6700"/>
                </a:solidFill>
                <a:latin typeface="Calibri"/>
              </a:defRPr>
            </a:pPr>
            <a:r>
              <a:t>Pickup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Compras online, retiras en tienda.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6700"/>
                </a:solidFill>
                <a:latin typeface="Calibri"/>
              </a:defRPr>
            </a:pPr>
            <a:r>
              <a:t>LAT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Lider al Toque. Despacho MISMO 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Tecnologia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Los sistemas que hacen funcionar todo detras de escena.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IMS (Wakanda)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Sistema de inventario. Si, se llama Wakanda.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WMS (Dr Strange)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Sistema de bodega. Los nombres Marvel son tradicion.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OMS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Gestiona el ciclo de vida de pedidos online.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El cerebro admin: finanzas, RRHH, supply chain.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Finanzas y Compras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Como decidimos que vender, a que precio y si funciono.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688"/>
                </a:solidFill>
                <a:latin typeface="Calibri"/>
              </a:defRPr>
            </a:pPr>
            <a:r>
              <a:t>CATMAN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Category Management. Que productos van en tienda.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389120"/>
            <a:ext cx="640080" cy="64008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688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Baja temporal de precio. Clasico de Walmart.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84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688"/>
                </a:solidFill>
                <a:latin typeface="Calibri"/>
              </a:defRPr>
            </a:pPr>
            <a:r>
              <a:t>Markdown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97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Rebaja para liquidar stock.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165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688"/>
                </a:solidFill>
                <a:latin typeface="Calibri"/>
              </a:defRPr>
            </a:pPr>
            <a:r>
              <a:t>Sell-through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% vendido vs recibido. Velocidad de venta.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Personas y Productividad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Miden si tenemos la gente correcta en el lugar correcto y cuan eficientes somos.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B2777"/>
                </a:solidFill>
                <a:latin typeface="Calibri"/>
              </a:defRPr>
            </a:pPr>
            <a:r>
              <a:t>UPLH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Units Per Labor Hour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Unidades vendidas por hora trabajada. EL indicador de productividad.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B2777"/>
                </a:solidFill>
                <a:latin typeface="Calibri"/>
              </a:defRPr>
            </a:pPr>
            <a:r>
              <a:t>JEQ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Jornada Equivalente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1 JEQ = 176 hrs/mes. Media jornada = 0.5 JEQ.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B2777"/>
                </a:solidFill>
                <a:latin typeface="Calibri"/>
              </a:defRPr>
            </a:pPr>
            <a:r>
              <a:t>Ausentismo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% Ausencias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Verde &lt;= 10% | Amarillo 10-20% | Rojo &gt; 20%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B2777"/>
                </a:solidFill>
                <a:latin typeface="Calibri"/>
              </a:defRPr>
            </a:pPr>
            <a:r>
              <a:t>Rotacion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Turnover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% asociados que se van vs activos. Mensual.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NPS y Satisfaccion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El termometro de la experiencia del cliente. Se mide via Medallia.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Net Promoter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Cuanto nos recomienda el cliente (0-10).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NPS Fisico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En tienda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Se actualiza semanalmente, martes.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NPS Digital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Canal online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Target &gt;= 49%. Rojo &lt; 44%.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3E2"/>
                </a:solidFill>
                <a:latin typeface="Calibri"/>
              </a:defRPr>
            </a:pPr>
            <a:r>
              <a:t>CSAT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Satisfaccion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Por atributo (1-7). Explica el NPS.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Ventas y Finanzas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La salud financiera del negocio. Estos numeros definen si cumplimos metas.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8703"/>
                </a:solidFill>
                <a:latin typeface="Calibri"/>
              </a:defRPr>
            </a:pPr>
            <a:r>
              <a:t>Venta Neta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Net Sales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Cuanto vendimos. LA metrica reina.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8703"/>
                </a:solidFill>
                <a:latin typeface="Calibri"/>
              </a:defRPr>
            </a:pPr>
            <a:r>
              <a:t>Comp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Comparable Sales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Crecimiento vs mismo periodo ano anterior.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8703"/>
                </a:solidFill>
                <a:latin typeface="Calibri"/>
              </a:defRPr>
            </a:pPr>
            <a:r>
              <a:t>Ticket Promedio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Avg Ticket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Cuanto gasta cada cliente por visita.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8F7E0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8703"/>
                </a:solidFill>
                <a:latin typeface="Calibri"/>
              </a:defRPr>
            </a:pPr>
            <a:r>
              <a:t>GMV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Gross Merch. Value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Venta bruta tiendas + eComm + MKP.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Gondola e Instock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Si no esta en gondola, no se vende. Aseguran que el cliente encuentre lo que busca.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NSG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Nivel Servicio Gondola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Disponible, ordenado, limpio, con fleje. Verde &gt;= 97.5%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Instock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% En Stock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Producto vs demanda. Verde &gt;= 96%.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DOH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Days on Hand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Dias de stock. Verde &gt;= 10, Rojo &lt; 6.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21A8"/>
                </a:solidFill>
                <a:latin typeface="Calibri"/>
              </a:defRPr>
            </a:pPr>
            <a:r>
              <a:t>Quiebre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Stockout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No hay producto en gondola. Enemigo #1.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Merma y Perdidas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Cada producto danado, vencido o hurtado impacta el resultado directo.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FFEBE8"/>
          </a:solidFill>
          <a:ln w="1905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1100"/>
                </a:solidFill>
                <a:latin typeface="Calibri"/>
              </a:defRPr>
            </a:pPr>
            <a:r>
              <a:t>Desecho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Waste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Productos vencidos o mal etiquetados.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FFEBE8"/>
          </a:solidFill>
          <a:ln w="1905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1100"/>
                </a:solidFill>
                <a:latin typeface="Calibri"/>
              </a:defRPr>
            </a:pPr>
            <a:r>
              <a:t>Danado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Damaged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Productos que ya no se pueden vender.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FEBE8"/>
          </a:solidFill>
          <a:ln w="1905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1100"/>
                </a:solidFill>
                <a:latin typeface="Calibri"/>
              </a:defRPr>
            </a:pPr>
            <a:r>
              <a:t>Fresh Loss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Perdida Frescos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(Desecho + Desconocido) / Venta.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FFEBE8"/>
          </a:solidFill>
          <a:ln w="1905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1100"/>
                </a:solidFill>
                <a:latin typeface="Calibri"/>
              </a:defRPr>
            </a:pPr>
            <a:r>
              <a:t>Proy. Inventario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Projected Loss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Perdida estimada desde ultimo conteo.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0" y="585216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704320" y="603504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008"/>
            <a:ext cx="12191695" cy="3200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KPI: Checkout y Pago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868680"/>
            <a:ext cx="11155680" cy="59436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5213"/>
                </a:solidFill>
                <a:latin typeface="Calibri"/>
              </a:defRPr>
            </a:pPr>
            <a:r>
              <a:t>Nadie quiere esperar en la fila. Miden rapidez del proceso de pago.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2880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NTC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Nivel Tiempo Caja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Lider &gt;= 81% | Express &gt;= 80% | SBA &gt;= 82%.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34340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Uso SCO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Self-Checkout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Lider &gt;= 24% | Express &gt;= 35% | SBA &gt;= 25%.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039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NSC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423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Nivel Serv. Checkout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% tiempo sin cola. Verde &gt;= 80%.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160520"/>
            <a:ext cx="5486400" cy="21031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91440" cy="21031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46520" y="4343400"/>
            <a:ext cx="640080" cy="6400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708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4A2"/>
                </a:solidFill>
                <a:latin typeface="Calibri"/>
              </a:defRPr>
            </a:pPr>
            <a:r>
              <a:t>Pedido Perfecto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754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47474"/>
                </a:solidFill>
                <a:latin typeface="Calibri"/>
              </a:defRPr>
            </a:pPr>
            <a:r>
              <a:t>OTIF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On-Time, In-Full. Verde &gt;= 40%.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274320"/>
            <a:ext cx="548640" cy="54864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645920"/>
            <a:ext cx="8503920" cy="1371600"/>
          </a:xfrm>
          <a:prstGeom prst="roundRect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Ahora ya sabes lo basico.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3172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220"/>
                </a:solidFill>
                <a:latin typeface="Calibri"/>
              </a:defRPr>
            </a:pPr>
            <a:r>
              <a:t>El resto lo aprenderas haciendo. Y preguntando.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200400"/>
            <a:ext cx="8503920" cy="2194560"/>
          </a:xfrm>
          <a:prstGeom prst="roundRect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2461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220"/>
                </a:solidFill>
                <a:latin typeface="Calibri"/>
              </a:defRPr>
            </a:pPr>
            <a:r>
              <a:t>Recursos utiles: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65760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MyWalmart - Portal interno</a:t>
            </a:r>
          </a:p>
          <a:p>
            <a:pPr algn="ctr">
              <a:spcBef>
                <a:spcPts val="50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Confluence - Glosarios y documentacion</a:t>
            </a:r>
          </a:p>
          <a:p>
            <a:pPr algn="ctr">
              <a:spcBef>
                <a:spcPts val="50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Slack: #glosario_wt</a:t>
            </a:r>
          </a:p>
          <a:p>
            <a:pPr algn="ctr">
              <a:spcBef>
                <a:spcPts val="50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Workday - RRHH</a:t>
            </a:r>
          </a:p>
          <a:p>
            <a:pPr algn="ctr">
              <a:spcBef>
                <a:spcPts val="50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WIC+ - Dashboard KPIs</a:t>
            </a:r>
          </a:p>
          <a:p>
            <a:pPr algn="ctr">
              <a:spcBef>
                <a:spcPts val="500"/>
              </a:spcBef>
              <a:defRPr sz="1400">
                <a:solidFill>
                  <a:srgbClr val="CCDDFF"/>
                </a:solidFill>
                <a:latin typeface="Calibri"/>
              </a:defRPr>
            </a:pPr>
            <a:r>
              <a:t>Medallia - NPS y CSAT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5669280"/>
            <a:ext cx="6675120" cy="594360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569671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3399"/>
                </a:solidFill>
                <a:latin typeface="Calibri"/>
              </a:defRPr>
            </a:pPr>
            <a:r>
              <a:t>"Solo hay un jefe... el cliente." - Sam Walton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